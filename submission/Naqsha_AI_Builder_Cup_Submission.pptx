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9"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GoogleSansFlexMedium-regular.fntdata"/><Relationship Id="rId21" Type="http://schemas.openxmlformats.org/officeDocument/2006/relationships/slide" Target="slides/slide16.xml"/><Relationship Id="rId24" Type="http://schemas.openxmlformats.org/officeDocument/2006/relationships/font" Target="fonts/GoogleSansFlex-regular.fntdata"/><Relationship Id="rId23" Type="http://schemas.openxmlformats.org/officeDocument/2006/relationships/font" Target="fonts/GoogleSansFlex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GoogleSansFlexSemiBold-regular.fntdata"/><Relationship Id="rId25" Type="http://schemas.openxmlformats.org/officeDocument/2006/relationships/font" Target="fonts/GoogleSansFlex-bold.fntdata"/><Relationship Id="rId27" Type="http://schemas.openxmlformats.org/officeDocument/2006/relationships/font" Target="fonts/GoogleSansFlexSemiBold-bold.fntdata"/><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nq03_01.png"/><Relationship Id="rId5" Type="http://schemas.openxmlformats.org/officeDocument/2006/relationships/image" Target="../media/nq03_02.jpg"/><Relationship Id="rId6" Type="http://schemas.openxmlformats.org/officeDocument/2006/relationships/hyperlink" Target="https://naqsha-242926648187.us-central1.run.app" TargetMode="External"/><Relationship Id="rId7" Type="http://schemas.openxmlformats.org/officeDocument/2006/relationships/image" Target="../media/nq03_0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nq05_01.png"/><Relationship Id="rId6" Type="http://schemas.openxmlformats.org/officeDocument/2006/relationships/image" Target="../media/nq05_02.png"/><Relationship Id="rId7" Type="http://schemas.openxmlformats.org/officeDocument/2006/relationships/image" Target="../media/nq05_03.png"/><Relationship Id="rId8" Type="http://schemas.openxmlformats.org/officeDocument/2006/relationships/image" Target="../media/nq05_04.png"/><Relationship Id="rId9" Type="http://schemas.openxmlformats.org/officeDocument/2006/relationships/image" Target="../media/nq05_05.png"/><Relationship Id="rId10" Type="http://schemas.openxmlformats.org/officeDocument/2006/relationships/image" Target="../media/nq05_06.png"/><Relationship Id="rId11" Type="http://schemas.openxmlformats.org/officeDocument/2006/relationships/image" Target="../media/nq05_07.png"/><Relationship Id="rId12" Type="http://schemas.openxmlformats.org/officeDocument/2006/relationships/image" Target="../media/nq05_08.png"/><Relationship Id="rId13" Type="http://schemas.openxmlformats.org/officeDocument/2006/relationships/image" Target="../media/nq05_09.png"/><Relationship Id="rId14" Type="http://schemas.openxmlformats.org/officeDocument/2006/relationships/image" Target="../media/nq05_10.png"/><Relationship Id="rId15" Type="http://schemas.openxmlformats.org/officeDocument/2006/relationships/image" Target="../media/nq05_11.png"/><Relationship Id="rId16" Type="http://schemas.openxmlformats.org/officeDocument/2006/relationships/image" Target="../media/nq05_12.png"/><Relationship Id="rId17" Type="http://schemas.openxmlformats.org/officeDocument/2006/relationships/image" Target="../media/nq05_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nq06_0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nq07_01.jpg"/><Relationship Id="rId6" Type="http://schemas.openxmlformats.org/officeDocument/2006/relationships/image" Target="../media/nq07_02.jpg"/><Relationship Id="rId7" Type="http://schemas.openxmlformats.org/officeDocument/2006/relationships/image" Target="../media/nq07_03.jpg"/><Relationship Id="rId8" Type="http://schemas.openxmlformats.org/officeDocument/2006/relationships/image" Target="../media/nq07_04.jpg"/><Relationship Id="rId9" Type="http://schemas.openxmlformats.org/officeDocument/2006/relationships/image" Target="../media/nq07_05.jpg"/><Relationship Id="rId10" Type="http://schemas.openxmlformats.org/officeDocument/2006/relationships/image" Target="../media/nq07_0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nq08_0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nq09_01.png"/><Relationship Id="rId6" Type="http://schemas.openxmlformats.org/officeDocument/2006/relationships/image" Target="../media/nq09_02.png"/><Relationship Id="rId7" Type="http://schemas.openxmlformats.org/officeDocument/2006/relationships/image" Target="../media/nq09_03.png"/><Relationship Id="rId8" Type="http://schemas.openxmlformats.org/officeDocument/2006/relationships/image" Target="../media/nq09_04.png"/><Relationship Id="rId9" Type="http://schemas.openxmlformats.org/officeDocument/2006/relationships/image" Target="../media/nq09_05.png"/><Relationship Id="rId10" Type="http://schemas.openxmlformats.org/officeDocument/2006/relationships/image" Target="../media/nq09_06.png"/><Relationship Id="rId11" Type="http://schemas.openxmlformats.org/officeDocument/2006/relationships/image" Target="../media/nq09_07.png"/><Relationship Id="rId12" Type="http://schemas.openxmlformats.org/officeDocument/2006/relationships/image" Target="../media/nq09_08.png"/><Relationship Id="rId13" Type="http://schemas.openxmlformats.org/officeDocument/2006/relationships/image" Target="../media/nq09_09.png"/><Relationship Id="rId14" Type="http://schemas.openxmlformats.org/officeDocument/2006/relationships/image" Target="../media/nq09_10.png"/><Relationship Id="rId15" Type="http://schemas.openxmlformats.org/officeDocument/2006/relationships/image" Target="../media/nq09_11.png"/><Relationship Id="rId16" Type="http://schemas.openxmlformats.org/officeDocument/2006/relationships/image" Target="../media/nq09_12.png"/><Relationship Id="rId17" Type="http://schemas.openxmlformats.org/officeDocument/2006/relationships/image" Target="../media/nq09_13.png"/><Relationship Id="rId18" Type="http://schemas.openxmlformats.org/officeDocument/2006/relationships/image" Target="../media/nq09_14.png"/><Relationship Id="rId19" Type="http://schemas.openxmlformats.org/officeDocument/2006/relationships/image" Target="../media/nq09_15.png"/><Relationship Id="rId20" Type="http://schemas.openxmlformats.org/officeDocument/2006/relationships/image" Target="../media/nq09_16.png"/><Relationship Id="rId21" Type="http://schemas.openxmlformats.org/officeDocument/2006/relationships/image" Target="../media/nq09_17.png"/><Relationship Id="rId22" Type="http://schemas.openxmlformats.org/officeDocument/2006/relationships/image" Target="../media/nq09_18.png"/><Relationship Id="rId23" Type="http://schemas.openxmlformats.org/officeDocument/2006/relationships/image" Target="../media/nq09_19.png"/><Relationship Id="rId24" Type="http://schemas.openxmlformats.org/officeDocument/2006/relationships/image" Target="../media/nq09_20.png"/><Relationship Id="rId25" Type="http://schemas.openxmlformats.org/officeDocument/2006/relationships/image" Target="../media/nq09_21.png"/><Relationship Id="rId26" Type="http://schemas.openxmlformats.org/officeDocument/2006/relationships/image" Target="../media/nq09_22.png"/><Relationship Id="rId27" Type="http://schemas.openxmlformats.org/officeDocument/2006/relationships/image" Target="../media/nq09_23.png"/><Relationship Id="rId28" Type="http://schemas.openxmlformats.org/officeDocument/2006/relationships/image" Target="../media/nq09_24.png"/><Relationship Id="rId29" Type="http://schemas.openxmlformats.org/officeDocument/2006/relationships/image" Target="../media/nq09_25.png"/><Relationship Id="rId30" Type="http://schemas.openxmlformats.org/officeDocument/2006/relationships/image" Target="../media/nq09_26.png"/><Relationship Id="rId31" Type="http://schemas.openxmlformats.org/officeDocument/2006/relationships/image" Target="../media/nq09_27.png"/><Relationship Id="rId32" Type="http://schemas.openxmlformats.org/officeDocument/2006/relationships/image" Target="../media/nq09_28.png"/><Relationship Id="rId33" Type="http://schemas.openxmlformats.org/officeDocument/2006/relationships/image" Target="../media/nq09_29.png"/><Relationship Id="rId34" Type="http://schemas.openxmlformats.org/officeDocument/2006/relationships/image" Target="../media/nq09_30.png"/><Relationship Id="rId35" Type="http://schemas.openxmlformats.org/officeDocument/2006/relationships/image" Target="../media/nq09_31.png"/><Relationship Id="rId36" Type="http://schemas.openxmlformats.org/officeDocument/2006/relationships/image" Target="../media/nq09_32.png"/><Relationship Id="rId37" Type="http://schemas.openxmlformats.org/officeDocument/2006/relationships/image" Target="../media/nq09_33.png"/><Relationship Id="rId38" Type="http://schemas.openxmlformats.org/officeDocument/2006/relationships/image" Target="../media/nq09_34.png"/><Relationship Id="rId39" Type="http://schemas.openxmlformats.org/officeDocument/2006/relationships/image" Target="../media/nq09_35.png"/><Relationship Id="rId40" Type="http://schemas.openxmlformats.org/officeDocument/2006/relationships/image" Target="../media/nq09_36.png"/><Relationship Id="rId41" Type="http://schemas.openxmlformats.org/officeDocument/2006/relationships/image" Target="../media/nq09_37.png"/><Relationship Id="rId42" Type="http://schemas.openxmlformats.org/officeDocument/2006/relationships/image" Target="../media/nq09_3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nq11_01.jpg"/><Relationship Id="rId6" Type="http://schemas.openxmlformats.org/officeDocument/2006/relationships/image" Target="../media/nq11_02.jpg"/><Relationship Id="rId7" Type="http://schemas.openxmlformats.org/officeDocument/2006/relationships/image" Target="../media/nq11_03.jpg"/><Relationship Id="rId8" Type="http://schemas.openxmlformats.org/officeDocument/2006/relationships/image" Target="../media/nq11_0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nq12_0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nq13_01.png"/><Relationship Id="rId6" Type="http://schemas.openxmlformats.org/officeDocument/2006/relationships/image" Target="../media/nq13_02.png"/><Relationship Id="rId7" Type="http://schemas.openxmlformats.org/officeDocument/2006/relationships/image" Target="../media/nq13_03.png"/><Relationship Id="rId8" Type="http://schemas.openxmlformats.org/officeDocument/2006/relationships/image" Target="../media/nq13_0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hyperlink" Target="https://github.com/abdm693/hack2skill-hackathon" TargetMode="External"/><Relationship Id="rId6" Type="http://schemas.openxmlformats.org/officeDocument/2006/relationships/hyperlink" Target="https://naqsha-242926648187.us-central1.run.app" TargetMode="External"/><Relationship Id="rId7" Type="http://schemas.openxmlformats.org/officeDocument/2006/relationships/hyperlink" Target="https://naqsha-242926648187.us-central1.run.app" TargetMode="External"/><Relationship Id="rId8" Type="http://schemas.openxmlformats.org/officeDocument/2006/relationships/image" Target="../media/nq14_01.jpg"/><Relationship Id="rId9" Type="http://schemas.openxmlformats.org/officeDocument/2006/relationships/image" Target="../media/nq14_02.png"/><Relationship Id="rId10" Type="http://schemas.openxmlformats.org/officeDocument/2006/relationships/hyperlink" Target="https://naqsha-242926648187.us-central1.run.app" TargetMode="External"/><Relationship Id="rId11" Type="http://schemas.openxmlformats.org/officeDocument/2006/relationships/hyperlink" Target="https://drive.google.com/file/d/1xmdn7qxZRsblvwNLezveUji1tdc8WjBB/view?usp=sharin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nq15_0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hyperlink" Target="https://naqsha-242926648187.us-central1.run.app" TargetMode="External"/><Relationship Id="rId6" Type="http://schemas.openxmlformats.org/officeDocument/2006/relationships/hyperlink" Target="https://github.com/abdm693/hack2skill-hackath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734056"/>
            <a:ext cx="8760000" cy="2359152"/>
          </a:xfrm>
          <a:prstGeom prst="rect">
            <a:avLst/>
          </a:prstGeom>
          <a:noFill/>
          <a:ln>
            <a:noFill/>
          </a:ln>
        </p:spPr>
        <p:txBody>
          <a:bodyPr anchorCtr="0" anchor="t" bIns="45720" lIns="91425" spcFirstLastPara="1" rIns="91425" wrap="square" tIns="45720">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 xml:space="preserve">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endParaRPr sz="300">
              <a:latin typeface="Google Sans Flex Medium"/>
              <a:ea typeface="Google Sans Flex Medium"/>
              <a:cs typeface="Google Sans Flex Medium"/>
              <a:sym typeface="Google Sans Flex Medium"/>
            </a:endParaRPr>
          </a:p>
          <a:p>
            <a:pPr indent="-342900" lvl="1" marL="914400" rtl="0" algn="l">
              <a:lnSpc>
                <a:spcPct val="90000"/>
              </a:lnSpc>
              <a:spcBef>
                <a:spcPts val="0"/>
              </a:spcBef>
              <a:spcAft>
                <a:spcPts val="0"/>
              </a:spcAft>
              <a:buSzPts val="1600"/>
              <a:buFont typeface="Google Sans Flex"/>
              <a:buAutoNum type="alphaLcPeriod"/>
            </a:pPr>
            <a:r>
              <a:rPr lang="en-GB" sz="1600">
                <a:latin typeface="Google Sans Flex"/>
                <a:ea typeface="Google Sans Flex"/>
                <a:cs typeface="Google Sans Flex"/>
                <a:sym typeface="Google Sans Flex"/>
              </a:rPr>
              <a:t xml:space="preserve">Team name: </a:t>
            </a:r>
            <a:r>
              <a:rPr lang="en-GB" sz="1600">
                <a:latin typeface="Google Sans Flex SemiBold"/>
                <a:ea typeface="Google Sans Flex SemiBold"/>
                <a:cs typeface="Google Sans Flex SemiBold"/>
                <a:sym typeface="Google Sans Flex SemiBold"/>
              </a:rPr>
              <a:t xml:space="preserve">Pivot Analytix</a:t>
            </a:r>
            <a:endParaRPr sz="1600">
              <a:latin typeface="Google Sans Flex"/>
              <a:ea typeface="Google Sans Flex"/>
              <a:cs typeface="Google Sans Flex"/>
              <a:sym typeface="Google Sans Flex"/>
            </a:endParaRPr>
          </a:p>
          <a:p>
            <a:pPr indent="-342900" lvl="1" marL="914400" rtl="0" algn="l">
              <a:lnSpc>
                <a:spcPct val="90000"/>
              </a:lnSpc>
              <a:spcBef>
                <a:spcPts val="0"/>
              </a:spcBef>
              <a:spcAft>
                <a:spcPts val="0"/>
              </a:spcAft>
              <a:buSzPts val="1600"/>
              <a:buFont typeface="Google Sans Flex"/>
              <a:buAutoNum type="alphaLcPeriod"/>
            </a:pPr>
            <a:r>
              <a:rPr lang="en-GB" sz="1600">
                <a:latin typeface="Google Sans Flex"/>
                <a:ea typeface="Google Sans Flex"/>
                <a:cs typeface="Google Sans Flex"/>
                <a:sym typeface="Google Sans Flex"/>
              </a:rPr>
              <a:t xml:space="preserve">Team leader name: </a:t>
            </a:r>
            <a:r>
              <a:rPr lang="en-GB" sz="1600">
                <a:latin typeface="Google Sans Flex SemiBold"/>
                <a:ea typeface="Google Sans Flex SemiBold"/>
                <a:cs typeface="Google Sans Flex SemiBold"/>
                <a:sym typeface="Google Sans Flex SemiBold"/>
              </a:rPr>
              <a:t xml:space="preserve">Abdullah Moazzam</a:t>
            </a:r>
            <a:endParaRPr sz="1600">
              <a:latin typeface="Google Sans Flex"/>
              <a:ea typeface="Google Sans Flex"/>
              <a:cs typeface="Google Sans Flex"/>
              <a:sym typeface="Google Sans Flex"/>
            </a:endParaRPr>
          </a:p>
          <a:p>
            <a:pPr indent="-342900" lvl="1" marL="914400" rtl="0" algn="l">
              <a:lnSpc>
                <a:spcPct val="90000"/>
              </a:lnSpc>
              <a:spcBef>
                <a:spcPts val="0"/>
              </a:spcBef>
              <a:spcAft>
                <a:spcPts val="0"/>
              </a:spcAft>
              <a:buSzPts val="1600"/>
              <a:buFont typeface="Google Sans Flex"/>
              <a:buAutoNum type="alphaLcPeriod"/>
            </a:pPr>
            <a:r>
              <a:rPr lang="en-GB" sz="1600">
                <a:latin typeface="Google Sans Flex"/>
                <a:ea typeface="Google Sans Flex"/>
                <a:cs typeface="Google Sans Flex"/>
                <a:sym typeface="Google Sans Flex"/>
              </a:rPr>
              <a:t xml:space="preserve">Team members: </a:t>
            </a:r>
            <a:r>
              <a:rPr lang="en-GB" sz="1600">
                <a:latin typeface="Google Sans Flex SemiBold"/>
                <a:ea typeface="Google Sans Flex SemiBold"/>
                <a:cs typeface="Google Sans Flex SemiBold"/>
                <a:sym typeface="Google Sans Flex SemiBold"/>
              </a:rPr>
              <a:t xml:space="preserve">Saad Wali Muhammad Joiya, Usama Bin Maalik</a:t>
            </a:r>
            <a:endParaRPr sz="1600">
              <a:latin typeface="Google Sans Flex"/>
              <a:ea typeface="Google Sans Flex"/>
              <a:cs typeface="Google Sans Flex"/>
              <a:sym typeface="Google Sans Flex"/>
            </a:endParaRPr>
          </a:p>
          <a:p>
            <a:pPr indent="-342900" lvl="1" marL="914400" rtl="0" algn="l">
              <a:lnSpc>
                <a:spcPct val="96000"/>
              </a:lnSpc>
              <a:spcBef>
                <a:spcPts val="0"/>
              </a:spcBef>
              <a:spcAft>
                <a:spcPts val="0"/>
              </a:spcAft>
              <a:buSzPts val="1600"/>
              <a:buFont typeface="Google Sans Flex"/>
              <a:buAutoNum type="alphaLcPeriod"/>
            </a:pPr>
            <a:r>
              <a:rPr lang="en-GB" sz="1600">
                <a:latin typeface="Google Sans Flex"/>
                <a:ea typeface="Google Sans Flex"/>
                <a:cs typeface="Google Sans Flex"/>
                <a:sym typeface="Google Sans Flex"/>
              </a:rPr>
              <a:t xml:space="preserve">Problem Statement: </a:t>
            </a:r>
            <a:r>
              <a:rPr lang="en-GB" sz="1250">
                <a:solidFill>
                  <a:srgbClr val="2747F5"/>
                </a:solidFill>
                <a:latin typeface="Google Sans Flex SemiBold"/>
                <a:ea typeface="Google Sans Flex SemiBold"/>
                <a:cs typeface="Google Sans Flex SemiBold"/>
                <a:sym typeface="Google Sans Flex SemiBold"/>
              </a:rPr>
              <a:t xml:space="preserve">Theme 5 · Future of Work &amp; Enterprise Productivity. </a:t>
            </a:r>
            <a:r>
              <a:rPr lang="en-GB" sz="1250">
                <a:latin typeface="Google Sans Flex"/>
                <a:ea typeface="Google Sans Flex"/>
                <a:cs typeface="Google Sans Flex"/>
                <a:sym typeface="Google Sans Flex"/>
              </a:rPr>
              <a:t xml:space="preserve">Designing a home takes weeks of manual drafting. Checking it against building bylaws is done by hand, by experts in short supply. And most families commit to building from 2D drawings they can’t picture. Naqsha’s AI agents turn a simple conversation into a bylaw-compliant 3D home you can walk through, in minutes. No product does this today. Naqsha is set to transform how architects and residential construction companies work, and how families decide what to build.</a:t>
            </a:r>
            <a:endParaRPr sz="1250">
              <a:latin typeface="Google Sans Flex"/>
              <a:ea typeface="Google Sans Flex"/>
              <a:cs typeface="Google Sans Flex"/>
              <a:sym typeface="Google Sans Flex"/>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Head chip 72"/>
          <p:cNvSpPr/>
          <p:nvPr/>
        </p:nvSpPr>
        <p:spPr>
          <a:xfrm>
            <a:off x="5598350" y="763524"/>
            <a:ext cx="3189034" cy="237744"/>
          </a:xfrm>
          <a:prstGeom prst="roundRect">
            <a:avLst>
              <a:gd name="adj" fmla="val 50000"/>
            </a:avLst>
          </a:prstGeom>
          <a:solidFill>
            <a:srgbClr val="2747F5"/>
          </a:solidFill>
          <a:ln>
            <a:noFill/>
          </a:ln>
        </p:spPr>
      </p:sp>
      <p:sp>
        <p:nvSpPr>
          <p:cNvPr id="73" name="Head chip label 73"/>
          <p:cNvSpPr txBox="1"/>
          <p:nvPr/>
        </p:nvSpPr>
        <p:spPr>
          <a:xfrm>
            <a:off x="5689790" y="763524"/>
            <a:ext cx="3033586" cy="23774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00" b="0" i="0" dirty="0">
                <a:solidFill>
                  <a:srgbClr val="FFFFFF"/>
                </a:solidFill>
                <a:latin typeface="Google Sans Flex Medium"/>
                <a:ea typeface="Google Sans Flex Medium"/>
                <a:cs typeface="Google Sans Flex Medium"/>
                <a:sym typeface="Google Sans Flex Medium"/>
              </a:rPr>
              <a:t xml:space="preserve">Theme 5 · Future of Work &amp; Enterprise Productivity</a:t>
            </a:r>
            <a:endParaRPr lang="en-GB" sz="1000" dirty="0">
              <a:latin typeface="Google Sans Flex Medium"/>
              <a:ea typeface="Google Sans Flex Medium"/>
              <a:cs typeface="Google Sans Flex Medium"/>
              <a:sym typeface="Google Sans Flex Medium"/>
            </a:endParaRPr>
          </a:p>
        </p:txBody>
      </p:sp>
      <p:sp>
        <p:nvSpPr>
          <p:cNvPr id="74" name="Headline 74"/>
          <p:cNvSpPr txBox="1"/>
          <p:nvPr/>
        </p:nvSpPr>
        <p:spPr>
          <a:xfrm>
            <a:off x="356616" y="1051560"/>
            <a:ext cx="8430768" cy="274320"/>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600" b="0" i="0" dirty="0">
                <a:solidFill>
                  <a:srgbClr val="111113"/>
                </a:solidFill>
                <a:latin typeface="Google Sans Flex SemiBold"/>
                <a:ea typeface="Google Sans Flex SemiBold"/>
                <a:cs typeface="Google Sans Flex SemiBold"/>
                <a:sym typeface="Google Sans Flex SemiBold"/>
              </a:rPr>
              <a:t xml:space="preserve">From a conversation to a bylaw-compliant 3D home you can walk through, </a:t>
            </a:r>
            <a:r>
              <a:rPr lang="en-GB" sz="1600" b="0" i="0" dirty="0">
                <a:solidFill>
                  <a:srgbClr val="2747F5"/>
                </a:solidFill>
                <a:latin typeface="Google Sans Flex SemiBold"/>
                <a:ea typeface="Google Sans Flex SemiBold"/>
                <a:cs typeface="Google Sans Flex SemiBold"/>
                <a:sym typeface="Google Sans Flex SemiBold"/>
              </a:rPr>
              <a:t xml:space="preserve">in minutes.</a:t>
            </a:r>
            <a:endParaRPr lang="en-GB" sz="1600" dirty="0">
              <a:latin typeface="Google Sans Flex SemiBold"/>
              <a:ea typeface="Google Sans Flex SemiBold"/>
              <a:cs typeface="Google Sans Flex SemiBold"/>
              <a:sym typeface="Google Sans Flex SemiBold"/>
            </a:endParaRPr>
          </a:p>
        </p:txBody>
      </p:sp>
      <p:sp>
        <p:nvSpPr>
          <p:cNvPr id="75" name="Sub-line 75"/>
          <p:cNvSpPr txBox="1"/>
          <p:nvPr/>
        </p:nvSpPr>
        <p:spPr>
          <a:xfrm>
            <a:off x="356616" y="1344168"/>
            <a:ext cx="8430768" cy="201168"/>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50" b="0" i="0" dirty="0">
                <a:solidFill>
                  <a:srgbClr val="46464B"/>
                </a:solidFill>
                <a:latin typeface="Google Sans Flex Medium"/>
                <a:ea typeface="Google Sans Flex Medium"/>
                <a:cs typeface="Google Sans Flex Medium"/>
                <a:sym typeface="Google Sans Flex Medium"/>
              </a:rPr>
              <a:t xml:space="preserve">No product offers this today: we are redefining how families and architects design a home. </a:t>
            </a:r>
            <a:r>
              <a:rPr lang="en-GB" sz="1000" b="0" i="0" dirty="0">
                <a:solidFill>
                  <a:srgbClr val="6E6E73"/>
                </a:solidFill>
                <a:latin typeface="Google Sans Flex"/>
                <a:ea typeface="Google Sans Flex"/>
                <a:cs typeface="Google Sans Flex"/>
                <a:sym typeface="Google Sans Flex"/>
              </a:rPr>
              <a:t xml:space="preserve">Naqsha </a:t>
            </a:r>
            <a:r>
              <a:rPr lang="en-GB" sz="1200" b="0" i="0" dirty="0">
                <a:solidFill>
                  <a:srgbClr val="6E6E73"/>
                </a:solidFill>
                <a:latin typeface="Google Sans Flex"/>
                <a:ea typeface="Google Sans Flex"/>
                <a:cs typeface="Google Sans Flex"/>
                <a:sym typeface="Google Sans Flex"/>
              </a:rPr>
              <a:t xml:space="preserve">(</a:t>
            </a:r>
            <a:r>
              <a:rPr lang="ur-PK" sz="1200" b="0" i="0" dirty="0">
                <a:solidFill>
                  <a:srgbClr val="6E6E73"/>
                </a:solidFill>
                <a:latin typeface="Noto Nastaliq Urdu"/>
                <a:ea typeface="Noto Nastaliq Urdu"/>
                <a:cs typeface="Noto Nastaliq Urdu"/>
                <a:sym typeface="Noto Nastaliq Urdu"/>
              </a:rPr>
              <a:t xml:space="preserve">نقشہ</a:t>
            </a:r>
            <a:r>
              <a:rPr lang="en-GB" sz="1200" b="0" i="0" dirty="0">
                <a:solidFill>
                  <a:srgbClr val="6E6E73"/>
                </a:solidFill>
                <a:latin typeface="Google Sans Flex"/>
                <a:ea typeface="Google Sans Flex"/>
                <a:cs typeface="Google Sans Flex"/>
                <a:sym typeface="Google Sans Flex"/>
              </a:rPr>
              <a:t xml:space="preserve">)</a:t>
            </a:r>
            <a:r>
              <a:rPr lang="en-GB" sz="1000" b="0" i="0" dirty="0">
                <a:solidFill>
                  <a:srgbClr val="6E6E73"/>
                </a:solidFill>
                <a:latin typeface="Google Sans Flex"/>
                <a:ea typeface="Google Sans Flex"/>
                <a:cs typeface="Google Sans Flex"/>
                <a:sym typeface="Google Sans Flex"/>
              </a:rPr>
              <a:t xml:space="preserve"> is Urdu for “house plan”.</a:t>
            </a:r>
            <a:endParaRPr lang="en-GB" sz="1050" dirty="0">
              <a:latin typeface="Google Sans Flex Medium"/>
              <a:ea typeface="Google Sans Flex Medium"/>
              <a:cs typeface="Google Sans Flex Medium"/>
              <a:sym typeface="Google Sans Flex Medium"/>
            </a:endParaRPr>
          </a:p>
        </p:txBody>
      </p:sp>
      <p:sp>
        <p:nvSpPr>
          <p:cNvPr id="76" name="Problem icon circle 76"/>
          <p:cNvSpPr/>
          <p:nvPr/>
        </p:nvSpPr>
        <p:spPr>
          <a:xfrm>
            <a:off x="356616" y="1618488"/>
            <a:ext cx="219456" cy="219456"/>
          </a:xfrm>
          <a:prstGeom prst="ellipse">
            <a:avLst/>
          </a:prstGeom>
          <a:solidFill>
            <a:srgbClr val="111113"/>
          </a:solidFill>
          <a:ln>
            <a:noFill/>
          </a:ln>
        </p:spPr>
      </p:sp>
      <p:pic>
        <p:nvPicPr>
          <p:cNvPr id="77" name="Problem icon 77" descr=""/>
          <p:cNvPicPr>
            <a:picLocks noChangeAspect="1"/>
          </p:cNvPicPr>
          <p:nvPr/>
        </p:nvPicPr>
        <p:blipFill>
          <a:blip r:embed="rId4"/>
          <a:stretch>
            <a:fillRect/>
          </a:stretch>
        </p:blipFill>
        <p:spPr>
          <a:xfrm>
            <a:off x="404896" y="1666768"/>
            <a:ext cx="122895" cy="122895"/>
          </a:xfrm>
          <a:prstGeom prst="rect">
            <a:avLst/>
          </a:prstGeom>
          <a:noFill/>
          <a:ln>
            <a:noFill/>
          </a:ln>
        </p:spPr>
      </p:pic>
      <p:sp>
        <p:nvSpPr>
          <p:cNvPr id="78" name="Problem title 78"/>
          <p:cNvSpPr txBox="1"/>
          <p:nvPr/>
        </p:nvSpPr>
        <p:spPr>
          <a:xfrm>
            <a:off x="667512" y="1618488"/>
            <a:ext cx="3566160" cy="219456"/>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300" b="0" i="0" dirty="0">
                <a:solidFill>
                  <a:srgbClr val="111113"/>
                </a:solidFill>
                <a:latin typeface="Google Sans Flex SemiBold"/>
                <a:ea typeface="Google Sans Flex SemiBold"/>
                <a:cs typeface="Google Sans Flex SemiBold"/>
                <a:sym typeface="Google Sans Flex SemiBold"/>
              </a:rPr>
              <a:t xml:space="preserve">The problem</a:t>
            </a:r>
            <a:endParaRPr lang="en-GB" sz="1300" dirty="0">
              <a:latin typeface="Google Sans Flex SemiBold"/>
              <a:ea typeface="Google Sans Flex SemiBold"/>
              <a:cs typeface="Google Sans Flex SemiBold"/>
              <a:sym typeface="Google Sans Flex SemiBold"/>
            </a:endParaRPr>
          </a:p>
        </p:txBody>
      </p:sp>
      <p:sp>
        <p:nvSpPr>
          <p:cNvPr id="79" name="Problem points 79"/>
          <p:cNvSpPr txBox="1"/>
          <p:nvPr/>
        </p:nvSpPr>
        <p:spPr>
          <a:xfrm>
            <a:off x="356616" y="1929384"/>
            <a:ext cx="3877056" cy="1801368"/>
          </a:xfrm>
          <a:prstGeom prst="rect">
            <a:avLst/>
          </a:prstGeom>
          <a:noFill/>
          <a:ln>
            <a:noFill/>
          </a:ln>
        </p:spPr>
        <p:txBody>
          <a:bodyPr wrap="square" lIns="0" tIns="0" rIns="0" bIns="0" anchor="t" rtlCol="0">
            <a:noAutofit/>
          </a:bodyPr>
          <a:lstStyle/>
          <a:p>
            <a:pPr marL="155448" indent="-155448" algn="l" rtl="0">
              <a:lnSpc>
                <a:spcPct val="94000"/>
              </a:lnSpc>
              <a:spcBef>
                <a:spcPts val="0"/>
              </a:spcBef>
              <a:spcAft>
                <a:spcPts val="40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Design takes weeks.</a:t>
            </a:r>
            <a:r>
              <a:rPr lang="en-GB" sz="1100" b="0" i="0" dirty="0">
                <a:solidFill>
                  <a:srgbClr val="46464B"/>
                </a:solidFill>
                <a:latin typeface="Google Sans Flex"/>
                <a:ea typeface="Google Sans Flex"/>
                <a:cs typeface="Google Sans Flex"/>
                <a:sym typeface="Google Sans Flex"/>
              </a:rPr>
              <a:t xml:space="preserve"> Every draft and every change is drawn by hand.</a:t>
            </a:r>
            <a:endParaRPr lang="en-GB" sz="1100" dirty="0">
              <a:latin typeface="Google Sans Flex SemiBold"/>
              <a:ea typeface="Google Sans Flex SemiBold"/>
              <a:cs typeface="Google Sans Flex SemiBold"/>
              <a:sym typeface="Google Sans Flex SemiBold"/>
            </a:endParaRPr>
          </a:p>
          <a:p>
            <a:pPr marL="155448" indent="-155448" algn="l" rtl="0">
              <a:lnSpc>
                <a:spcPct val="94000"/>
              </a:lnSpc>
              <a:spcBef>
                <a:spcPts val="0"/>
              </a:spcBef>
              <a:spcAft>
                <a:spcPts val="40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Most families never see their home in 3D,</a:t>
            </a:r>
            <a:r>
              <a:rPr lang="en-GB" sz="1100" b="0" i="0" dirty="0">
                <a:solidFill>
                  <a:srgbClr val="46464B"/>
                </a:solidFill>
                <a:latin typeface="Google Sans Flex"/>
                <a:ea typeface="Google Sans Flex"/>
                <a:cs typeface="Google Sans Flex"/>
                <a:sym typeface="Google Sans Flex"/>
              </a:rPr>
              <a:t xml:space="preserve"> let alone walk through it. They commit to building from flat drawings.</a:t>
            </a:r>
            <a:endParaRPr lang="en-GB" sz="1100" dirty="0">
              <a:latin typeface="Google Sans Flex SemiBold"/>
              <a:ea typeface="Google Sans Flex SemiBold"/>
              <a:cs typeface="Google Sans Flex SemiBold"/>
              <a:sym typeface="Google Sans Flex SemiBold"/>
            </a:endParaRPr>
          </a:p>
          <a:p>
            <a:pPr marL="155448" indent="-155448" algn="l" rtl="0">
              <a:lnSpc>
                <a:spcPct val="94000"/>
              </a:lnSpc>
              <a:spcBef>
                <a:spcPts val="0"/>
              </a:spcBef>
              <a:spcAft>
                <a:spcPts val="40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Compliance needs scarce experts.</a:t>
            </a:r>
            <a:r>
              <a:rPr lang="en-GB" sz="1100" b="0" i="0" dirty="0">
                <a:solidFill>
                  <a:srgbClr val="46464B"/>
                </a:solidFill>
                <a:latin typeface="Google Sans Flex"/>
                <a:ea typeface="Google Sans Flex"/>
                <a:cs typeface="Google Sans Flex"/>
                <a:sym typeface="Google Sans Flex"/>
              </a:rPr>
              <a:t xml:space="preserve"> They check every bylaw by hand, and mistakes often show up only when the authority refuses the plan.</a:t>
            </a:r>
            <a:endParaRPr lang="en-GB" sz="1100" dirty="0">
              <a:latin typeface="Google Sans Flex SemiBold"/>
              <a:ea typeface="Google Sans Flex SemiBold"/>
              <a:cs typeface="Google Sans Flex SemiBold"/>
              <a:sym typeface="Google Sans Flex SemiBold"/>
            </a:endParaRPr>
          </a:p>
          <a:p>
            <a:pPr marL="155448" indent="-155448" algn="l" rtl="0">
              <a:lnSpc>
                <a:spcPct val="94000"/>
              </a:lnSpc>
              <a:spcBef>
                <a:spcPts val="0"/>
              </a:spcBef>
              <a:spcAft>
                <a:spcPts val="40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Feedback is scattered.</a:t>
            </a:r>
            <a:r>
              <a:rPr lang="en-GB" sz="1100" b="0" i="0" dirty="0">
                <a:solidFill>
                  <a:srgbClr val="46464B"/>
                </a:solidFill>
                <a:latin typeface="Google Sans Flex"/>
                <a:ea typeface="Google Sans Flex"/>
                <a:cs typeface="Google Sans Flex"/>
                <a:sym typeface="Google Sans Flex"/>
              </a:rPr>
              <a:t xml:space="preserve"> Owners, family, architects and builders give it in different places, so every round of changes is slow.</a:t>
            </a:r>
            <a:endParaRPr lang="en-GB" sz="1100" dirty="0">
              <a:latin typeface="Google Sans Flex SemiBold"/>
              <a:ea typeface="Google Sans Flex SemiBold"/>
              <a:cs typeface="Google Sans Flex SemiBold"/>
              <a:sym typeface="Google Sans Flex SemiBold"/>
            </a:endParaRPr>
          </a:p>
        </p:txBody>
      </p:sp>
      <p:pic>
        <p:nvPicPr>
          <p:cNvPr id="80" name="Walkthrough 80" descr="Walking through a design in the live app: walk mode in the furnished TV lounge and dining room of a 10 marla home, with the open door through to the bedroom">
            <a:hlinkClick r:id="rId6"/>
          </p:cNvPr>
          <p:cNvPicPr>
            <a:picLocks noChangeAspect="1"/>
          </p:cNvPicPr>
          <p:nvPr/>
        </p:nvPicPr>
        <p:blipFill>
          <a:blip r:embed="rId5"/>
          <a:stretch>
            <a:fillRect/>
          </a:stretch>
        </p:blipFill>
        <p:spPr>
          <a:xfrm>
            <a:off x="356616" y="3749040"/>
            <a:ext cx="3877056" cy="1170432"/>
          </a:xfrm>
          <a:prstGeom prst="roundRect">
            <a:avLst>
              <a:gd name="adj" fmla="val 5468"/>
            </a:avLst>
          </a:prstGeom>
          <a:noFill/>
          <a:ln w="9525">
            <a:solidFill>
              <a:srgbClr val="DADADF"/>
            </a:solidFill>
          </a:ln>
          <a:effectLst>
            <a:outerShdw blurRad="76200" dist="19050" dir="5400000" algn="t" rotWithShape="0">
              <a:srgbClr val="000000">
                <a:alpha val="14000"/>
              </a:srgbClr>
            </a:outerShdw>
          </a:effectLst>
        </p:spPr>
      </p:pic>
      <p:sp>
        <p:nvSpPr>
          <p:cNvPr id="81" name="Image caption 81"/>
          <p:cNvSpPr/>
          <p:nvPr/>
        </p:nvSpPr>
        <p:spPr>
          <a:xfrm>
            <a:off x="429768" y="3822192"/>
            <a:ext cx="2381498" cy="201168"/>
          </a:xfrm>
          <a:prstGeom prst="roundRect">
            <a:avLst>
              <a:gd name="adj" fmla="val 50000"/>
            </a:avLst>
          </a:prstGeom>
          <a:solidFill>
            <a:srgbClr val="FFFFFF"/>
          </a:solidFill>
          <a:ln w="9525">
            <a:solidFill>
              <a:srgbClr val="E4E4E7"/>
            </a:solidFill>
          </a:ln>
        </p:spPr>
      </p:sp>
      <p:sp>
        <p:nvSpPr>
          <p:cNvPr id="82" name="Image caption dot 82"/>
          <p:cNvSpPr/>
          <p:nvPr/>
        </p:nvSpPr>
        <p:spPr>
          <a:xfrm>
            <a:off x="502920" y="3890772"/>
            <a:ext cx="64008" cy="64008"/>
          </a:xfrm>
          <a:prstGeom prst="ellipse">
            <a:avLst/>
          </a:prstGeom>
          <a:solidFill>
            <a:srgbClr val="0E7A55"/>
          </a:solidFill>
          <a:ln>
            <a:noFill/>
          </a:ln>
        </p:spPr>
      </p:sp>
      <p:sp>
        <p:nvSpPr>
          <p:cNvPr id="83" name="Image caption label 83"/>
          <p:cNvSpPr txBox="1"/>
          <p:nvPr/>
        </p:nvSpPr>
        <p:spPr>
          <a:xfrm>
            <a:off x="603504" y="3822192"/>
            <a:ext cx="2162042" cy="201168"/>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00" b="0" i="0" dirty="0">
                <a:solidFill>
                  <a:srgbClr val="111113"/>
                </a:solidFill>
                <a:latin typeface="Google Sans Flex Medium"/>
                <a:ea typeface="Google Sans Flex Medium"/>
                <a:cs typeface="Google Sans Flex Medium"/>
                <a:sym typeface="Google Sans Flex Medium"/>
              </a:rPr>
              <a:t xml:space="preserve">Walking through a design in the live app</a:t>
            </a:r>
            <a:endParaRPr lang="en-GB" sz="900" dirty="0">
              <a:latin typeface="Google Sans Flex Medium"/>
              <a:ea typeface="Google Sans Flex Medium"/>
              <a:cs typeface="Google Sans Flex Medium"/>
              <a:sym typeface="Google Sans Flex Medium"/>
            </a:endParaRPr>
          </a:p>
        </p:txBody>
      </p:sp>
      <p:sp>
        <p:nvSpPr>
          <p:cNvPr id="84" name="Solution icon circle 84"/>
          <p:cNvSpPr/>
          <p:nvPr/>
        </p:nvSpPr>
        <p:spPr>
          <a:xfrm>
            <a:off x="4599432" y="1618488"/>
            <a:ext cx="219456" cy="219456"/>
          </a:xfrm>
          <a:prstGeom prst="ellipse">
            <a:avLst/>
          </a:prstGeom>
          <a:solidFill>
            <a:srgbClr val="2747F5"/>
          </a:solidFill>
          <a:ln>
            <a:noFill/>
          </a:ln>
        </p:spPr>
      </p:sp>
      <p:pic>
        <p:nvPicPr>
          <p:cNvPr id="85" name="Solution icon 85" descr=""/>
          <p:cNvPicPr>
            <a:picLocks noChangeAspect="1"/>
          </p:cNvPicPr>
          <p:nvPr/>
        </p:nvPicPr>
        <p:blipFill>
          <a:blip r:embed="rId7"/>
          <a:stretch>
            <a:fillRect/>
          </a:stretch>
        </p:blipFill>
        <p:spPr>
          <a:xfrm>
            <a:off x="4647712" y="1666768"/>
            <a:ext cx="122895" cy="122895"/>
          </a:xfrm>
          <a:prstGeom prst="rect">
            <a:avLst/>
          </a:prstGeom>
          <a:noFill/>
          <a:ln>
            <a:noFill/>
          </a:ln>
        </p:spPr>
      </p:pic>
      <p:sp>
        <p:nvSpPr>
          <p:cNvPr id="86" name="Solution title 86"/>
          <p:cNvSpPr txBox="1"/>
          <p:nvPr/>
        </p:nvSpPr>
        <p:spPr>
          <a:xfrm>
            <a:off x="4910328" y="1618488"/>
            <a:ext cx="3877056" cy="219456"/>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300" b="0" i="0" dirty="0">
                <a:solidFill>
                  <a:srgbClr val="111113"/>
                </a:solidFill>
                <a:latin typeface="Google Sans Flex SemiBold"/>
                <a:ea typeface="Google Sans Flex SemiBold"/>
                <a:cs typeface="Google Sans Flex SemiBold"/>
                <a:sym typeface="Google Sans Flex SemiBold"/>
              </a:rPr>
              <a:t xml:space="preserve">The solution</a:t>
            </a:r>
            <a:endParaRPr lang="en-GB" sz="1300" dirty="0">
              <a:latin typeface="Google Sans Flex SemiBold"/>
              <a:ea typeface="Google Sans Flex SemiBold"/>
              <a:cs typeface="Google Sans Flex SemiBold"/>
              <a:sym typeface="Google Sans Flex SemiBold"/>
            </a:endParaRPr>
          </a:p>
        </p:txBody>
      </p:sp>
      <p:sp>
        <p:nvSpPr>
          <p:cNvPr id="87" name="Solution lead 87"/>
          <p:cNvSpPr txBox="1"/>
          <p:nvPr/>
        </p:nvSpPr>
        <p:spPr>
          <a:xfrm>
            <a:off x="4599432" y="1929384"/>
            <a:ext cx="4187952" cy="193192"/>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100" b="0" i="0" dirty="0">
                <a:solidFill>
                  <a:srgbClr val="2747F5"/>
                </a:solidFill>
                <a:latin typeface="Google Sans Flex SemiBold"/>
                <a:ea typeface="Google Sans Flex SemiBold"/>
                <a:cs typeface="Google Sans Flex SemiBold"/>
                <a:sym typeface="Google Sans Flex SemiBold"/>
              </a:rPr>
              <a:t xml:space="preserve">Naqsha’s AI agents: an experienced architect you can talk to.</a:t>
            </a:r>
            <a:endParaRPr lang="en-GB" sz="1100" dirty="0">
              <a:latin typeface="Google Sans Flex SemiBold"/>
              <a:ea typeface="Google Sans Flex SemiBold"/>
              <a:cs typeface="Google Sans Flex SemiBold"/>
              <a:sym typeface="Google Sans Flex SemiBold"/>
            </a:endParaRPr>
          </a:p>
        </p:txBody>
      </p:sp>
      <p:sp>
        <p:nvSpPr>
          <p:cNvPr id="88" name="Solution points 88"/>
          <p:cNvSpPr txBox="1"/>
          <p:nvPr/>
        </p:nvSpPr>
        <p:spPr>
          <a:xfrm>
            <a:off x="4599432" y="2177440"/>
            <a:ext cx="4187952" cy="2460420"/>
          </a:xfrm>
          <a:prstGeom prst="rect">
            <a:avLst/>
          </a:prstGeom>
          <a:noFill/>
          <a:ln>
            <a:noFill/>
          </a:ln>
        </p:spPr>
        <p:txBody>
          <a:bodyPr wrap="square" lIns="0" tIns="0" rIns="0" bIns="0" anchor="t" rtlCol="0">
            <a:noAutofit/>
          </a:bodyPr>
          <a:lstStyle/>
          <a:p>
            <a:pPr marL="155448" indent="-155448" algn="l" rtl="0">
              <a:lnSpc>
                <a:spcPct val="94000"/>
              </a:lnSpc>
              <a:spcBef>
                <a:spcPts val="0"/>
              </a:spcBef>
              <a:spcAft>
                <a:spcPts val="40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Designs in minutes, by conversation.</a:t>
            </a:r>
            <a:r>
              <a:rPr lang="en-GB" sz="1100" b="0" i="0" dirty="0">
                <a:solidFill>
                  <a:srgbClr val="46464B"/>
                </a:solidFill>
                <a:latin typeface="Google Sans Flex"/>
                <a:ea typeface="Google Sans Flex"/>
                <a:cs typeface="Google Sans Flex"/>
                <a:sym typeface="Google Sans Flex"/>
              </a:rPr>
              <a:t xml:space="preserve"> Describe the plot and the family in plain words. Naqsha drafts the concepts, the floor plans and the full 3D home.</a:t>
            </a:r>
            <a:endParaRPr lang="en-GB" sz="1100" dirty="0">
              <a:latin typeface="Google Sans Flex SemiBold"/>
              <a:ea typeface="Google Sans Flex SemiBold"/>
              <a:cs typeface="Google Sans Flex SemiBold"/>
              <a:sym typeface="Google Sans Flex SemiBold"/>
            </a:endParaRPr>
          </a:p>
          <a:p>
            <a:pPr marL="155448" indent="-155448" algn="l" rtl="0">
              <a:lnSpc>
                <a:spcPct val="94000"/>
              </a:lnSpc>
              <a:spcBef>
                <a:spcPts val="0"/>
              </a:spcBef>
              <a:spcAft>
                <a:spcPts val="40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Compliant from the start.</a:t>
            </a:r>
            <a:r>
              <a:rPr lang="en-GB" sz="1100" b="0" i="0" dirty="0">
                <a:solidFill>
                  <a:srgbClr val="46464B"/>
                </a:solidFill>
                <a:latin typeface="Google Sans Flex"/>
                <a:ea typeface="Google Sans Flex"/>
                <a:cs typeface="Google Sans Flex"/>
                <a:sym typeface="Google Sans Flex"/>
              </a:rPr>
              <a:t xml:space="preserve"> Every plan is checked against the local authority’s bylaws, and Naqsha fixes what fails.</a:t>
            </a:r>
            <a:endParaRPr lang="en-GB" sz="1100" dirty="0">
              <a:latin typeface="Google Sans Flex SemiBold"/>
              <a:ea typeface="Google Sans Flex SemiBold"/>
              <a:cs typeface="Google Sans Flex SemiBold"/>
              <a:sym typeface="Google Sans Flex SemiBold"/>
            </a:endParaRPr>
          </a:p>
          <a:p>
            <a:pPr marL="155448" indent="-155448" algn="l" rtl="0">
              <a:lnSpc>
                <a:spcPct val="94000"/>
              </a:lnSpc>
              <a:spcBef>
                <a:spcPts val="0"/>
              </a:spcBef>
              <a:spcAft>
                <a:spcPts val="40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Immersive, high-fidelity 3D.</a:t>
            </a:r>
            <a:r>
              <a:rPr lang="en-GB" sz="1100" b="0" i="0" dirty="0">
                <a:solidFill>
                  <a:srgbClr val="46464B"/>
                </a:solidFill>
                <a:latin typeface="Google Sans Flex"/>
                <a:ea typeface="Google Sans Flex"/>
                <a:cs typeface="Google Sans Flex"/>
                <a:sym typeface="Google Sans Flex"/>
              </a:rPr>
              <a:t xml:space="preserve"> Walk through the furnished, finished home, or view it from any angle, by day or night.</a:t>
            </a:r>
            <a:endParaRPr lang="en-GB" sz="1100" dirty="0">
              <a:latin typeface="Google Sans Flex SemiBold"/>
              <a:ea typeface="Google Sans Flex SemiBold"/>
              <a:cs typeface="Google Sans Flex SemiBold"/>
              <a:sym typeface="Google Sans Flex SemiBold"/>
            </a:endParaRPr>
          </a:p>
          <a:p>
            <a:pPr marL="155448" indent="-155448" algn="l" rtl="0">
              <a:lnSpc>
                <a:spcPct val="94000"/>
              </a:lnSpc>
              <a:spcBef>
                <a:spcPts val="0"/>
              </a:spcBef>
              <a:spcAft>
                <a:spcPts val="40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Comments that get addressed.</a:t>
            </a:r>
            <a:r>
              <a:rPr lang="en-GB" sz="1100" b="0" i="0" dirty="0">
                <a:solidFill>
                  <a:srgbClr val="46464B"/>
                </a:solidFill>
                <a:latin typeface="Google Sans Flex"/>
                <a:ea typeface="Google Sans Flex"/>
                <a:cs typeface="Google Sans Flex"/>
                <a:sym typeface="Google Sans Flex"/>
              </a:rPr>
              <a:t xml:space="preserve"> Pin a note anywhere as you walk. Naqsha makes the change, or names the rule that stops it.</a:t>
            </a:r>
            <a:endParaRPr lang="en-GB" sz="1100" dirty="0">
              <a:latin typeface="Google Sans Flex SemiBold"/>
              <a:ea typeface="Google Sans Flex SemiBold"/>
              <a:cs typeface="Google Sans Flex SemiBold"/>
              <a:sym typeface="Google Sans Flex SemiBold"/>
            </a:endParaRPr>
          </a:p>
          <a:p>
            <a:pPr marL="155448" indent="-155448" algn="l" rtl="0">
              <a:lnSpc>
                <a:spcPct val="94000"/>
              </a:lnSpc>
              <a:spcBef>
                <a:spcPts val="0"/>
              </a:spcBef>
              <a:spcAft>
                <a:spcPts val="40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One project for everyone.</a:t>
            </a:r>
            <a:r>
              <a:rPr lang="en-GB" sz="1100" b="0" i="0" dirty="0">
                <a:solidFill>
                  <a:srgbClr val="46464B"/>
                </a:solidFill>
                <a:latin typeface="Google Sans Flex"/>
                <a:ea typeface="Google Sans Flex"/>
                <a:cs typeface="Google Sans Flex"/>
                <a:sym typeface="Google Sans Flex"/>
              </a:rPr>
              <a:t xml:space="preserve"> Owners, family, architects and builders review and comment together.</a:t>
            </a:r>
            <a:endParaRPr lang="en-GB" sz="1100" dirty="0">
              <a:latin typeface="Google Sans Flex SemiBold"/>
              <a:ea typeface="Google Sans Flex SemiBold"/>
              <a:cs typeface="Google Sans Flex SemiBold"/>
              <a:sym typeface="Google Sans Flex SemiBold"/>
            </a:endParaRPr>
          </a:p>
          <a:p>
            <a:pPr marL="155448" indent="-155448" algn="l" rtl="0">
              <a:lnSpc>
                <a:spcPct val="94000"/>
              </a:lnSpc>
              <a:spcBef>
                <a:spcPts val="0"/>
              </a:spcBef>
              <a:spcAft>
                <a:spcPts val="40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Change it by asking.</a:t>
            </a:r>
            <a:r>
              <a:rPr lang="en-GB" sz="1100" b="0" i="0" dirty="0">
                <a:solidFill>
                  <a:srgbClr val="46464B"/>
                </a:solidFill>
                <a:latin typeface="Google Sans Flex"/>
                <a:ea typeface="Google Sans Flex"/>
                <a:cs typeface="Google Sans Flex"/>
                <a:sym typeface="Google Sans Flex"/>
              </a:rPr>
              <a:t xml:space="preserve"> “Make the kitchen bigger” gives you a new, checked version.</a:t>
            </a:r>
            <a:endParaRPr lang="en-GB" sz="1100" dirty="0">
              <a:latin typeface="Google Sans Flex SemiBold"/>
              <a:ea typeface="Google Sans Flex SemiBold"/>
              <a:cs typeface="Google Sans Flex SemiBold"/>
              <a:sym typeface="Google Sans Flex SemiBold"/>
            </a:endParaRPr>
          </a:p>
        </p:txBody>
      </p:sp>
      <p:sp>
        <p:nvSpPr>
          <p:cNvPr id="89" name="Footer line 89"/>
          <p:cNvSpPr txBox="1"/>
          <p:nvPr/>
        </p:nvSpPr>
        <p:spPr>
          <a:xfrm>
            <a:off x="4599432" y="4754880"/>
            <a:ext cx="4187952" cy="164592"/>
          </a:xfrm>
          <a:prstGeom prst="rect">
            <a:avLst/>
          </a:prstGeom>
          <a:noFill/>
          <a:ln>
            <a:noFill/>
          </a:ln>
        </p:spPr>
        <p:txBody>
          <a:bodyPr wrap="square" lIns="0" tIns="0" rIns="0" bIns="0" anchor="b" rtlCol="0">
            <a:noAutofit/>
          </a:bodyPr>
          <a:lstStyle/>
          <a:p>
            <a:pPr marL="0" indent="0" algn="l" rtl="0">
              <a:lnSpc>
                <a:spcPct val="100000"/>
              </a:lnSpc>
              <a:spcBef>
                <a:spcPts val="0"/>
              </a:spcBef>
              <a:spcAft>
                <a:spcPts val="0"/>
              </a:spcAft>
              <a:buNone/>
            </a:pPr>
            <a:r>
              <a:rPr lang="en-GB" sz="900" b="0" i="0" dirty="0">
                <a:solidFill>
                  <a:srgbClr val="6E6E73"/>
                </a:solidFill>
                <a:latin typeface="Google Sans Flex"/>
                <a:ea typeface="Google Sans Flex"/>
                <a:cs typeface="Google Sans Flex"/>
                <a:sym typeface="Google Sans Flex"/>
              </a:rPr>
              <a:t xml:space="preserve">Prototype: Lahore (LDA) bylaws. Other authorities’ rules load the same way.</a:t>
            </a:r>
            <a:endParaRPr lang="en-GB" sz="900" dirty="0">
              <a:latin typeface="Google Sans Flex"/>
              <a:ea typeface="Google Sans Flex"/>
              <a:cs typeface="Google Sans Flex"/>
              <a:sym typeface="Google Sans Flex"/>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561899"/>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Opportunities</a:t>
            </a:r>
            <a:endParaRPr sz="1600">
              <a:latin typeface="Google Sans Flex Medium"/>
              <a:ea typeface="Google Sans Flex Medium"/>
              <a:cs typeface="Google Sans Flex Medium"/>
              <a:sym typeface="Google Sans Flex Medium"/>
            </a:endParaRPr>
          </a:p>
        </p:txBody>
      </p:sp>
      <p:sp>
        <p:nvSpPr>
          <p:cNvPr id="80" name="Head chip 80"/>
          <p:cNvSpPr/>
          <p:nvPr/>
        </p:nvSpPr>
        <p:spPr>
          <a:xfrm>
            <a:off x="5787834" y="763524"/>
            <a:ext cx="2999550" cy="237744"/>
          </a:xfrm>
          <a:prstGeom prst="roundRect">
            <a:avLst>
              <a:gd name="adj" fmla="val 50000"/>
            </a:avLst>
          </a:prstGeom>
          <a:solidFill>
            <a:srgbClr val="EEEEF0"/>
          </a:solidFill>
          <a:ln>
            <a:noFill/>
          </a:ln>
        </p:spPr>
      </p:sp>
      <p:sp>
        <p:nvSpPr>
          <p:cNvPr id="81" name="Head chip label 81"/>
          <p:cNvSpPr txBox="1"/>
          <p:nvPr/>
        </p:nvSpPr>
        <p:spPr>
          <a:xfrm>
            <a:off x="5879274" y="763524"/>
            <a:ext cx="2844102" cy="23774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00" b="0" i="0" dirty="0">
                <a:solidFill>
                  <a:srgbClr val="46464B"/>
                </a:solidFill>
                <a:latin typeface="Google Sans Flex Medium"/>
                <a:ea typeface="Google Sans Flex Medium"/>
                <a:cs typeface="Google Sans Flex Medium"/>
                <a:sym typeface="Google Sans Flex Medium"/>
              </a:rPr>
              <a:t xml:space="preserve">Compared with how homes are designed today</a:t>
            </a:r>
            <a:endParaRPr lang="en-GB" sz="1000" dirty="0">
              <a:latin typeface="Google Sans Flex Medium"/>
              <a:ea typeface="Google Sans Flex Medium"/>
              <a:cs typeface="Google Sans Flex Medium"/>
              <a:sym typeface="Google Sans Flex Medium"/>
            </a:endParaRPr>
          </a:p>
        </p:txBody>
      </p:sp>
      <p:sp>
        <p:nvSpPr>
          <p:cNvPr id="82" name="Column card 82"/>
          <p:cNvSpPr/>
          <p:nvPr/>
        </p:nvSpPr>
        <p:spPr>
          <a:xfrm>
            <a:off x="356616" y="1097280"/>
            <a:ext cx="2724912" cy="3822192"/>
          </a:xfrm>
          <a:prstGeom prst="roundRect">
            <a:avLst>
              <a:gd name="adj" fmla="val 3355"/>
            </a:avLst>
          </a:prstGeom>
          <a:solidFill>
            <a:srgbClr val="F5F5F7"/>
          </a:solidFill>
          <a:ln>
            <a:noFill/>
          </a:ln>
        </p:spPr>
      </p:sp>
      <p:sp>
        <p:nvSpPr>
          <p:cNvPr id="83" name="Question 83"/>
          <p:cNvSpPr txBox="1"/>
          <p:nvPr/>
        </p:nvSpPr>
        <p:spPr>
          <a:xfrm>
            <a:off x="502920" y="1243584"/>
            <a:ext cx="2432304" cy="420624"/>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300" b="0" i="0" dirty="0">
                <a:solidFill>
                  <a:srgbClr val="111113"/>
                </a:solidFill>
                <a:latin typeface="Google Sans Flex SemiBold"/>
                <a:ea typeface="Google Sans Flex SemiBold"/>
                <a:cs typeface="Google Sans Flex SemiBold"/>
                <a:sym typeface="Google Sans Flex SemiBold"/>
              </a:rPr>
              <a:t xml:space="preserve">How different is it from any of the other existing ideas?</a:t>
            </a:r>
            <a:endParaRPr lang="en-GB" sz="1300" dirty="0">
              <a:latin typeface="Google Sans Flex SemiBold"/>
              <a:ea typeface="Google Sans Flex SemiBold"/>
              <a:cs typeface="Google Sans Flex SemiBold"/>
              <a:sym typeface="Google Sans Flex SemiBold"/>
            </a:endParaRPr>
          </a:p>
        </p:txBody>
      </p:sp>
      <p:cxnSp>
        <p:nvCxnSpPr>
          <p:cNvPr id="84" name="Question rule 84"/>
          <p:cNvCxnSpPr/>
          <p:nvPr/>
        </p:nvCxnSpPr>
        <p:spPr>
          <a:xfrm>
            <a:off x="502920" y="1728216"/>
            <a:ext cx="2432304" cy="0"/>
          </a:xfrm>
          <a:prstGeom prst="line">
            <a:avLst/>
          </a:prstGeom>
          <a:ln w="9525">
            <a:solidFill>
              <a:srgbClr val="D4D4D8"/>
            </a:solidFill>
          </a:ln>
        </p:spPr>
      </p:cxnSp>
      <p:sp>
        <p:nvSpPr>
          <p:cNvPr id="85" name="Column card 85"/>
          <p:cNvSpPr/>
          <p:nvPr/>
        </p:nvSpPr>
        <p:spPr>
          <a:xfrm>
            <a:off x="3209544" y="1097280"/>
            <a:ext cx="2724912" cy="3822192"/>
          </a:xfrm>
          <a:prstGeom prst="roundRect">
            <a:avLst>
              <a:gd name="adj" fmla="val 3355"/>
            </a:avLst>
          </a:prstGeom>
          <a:solidFill>
            <a:srgbClr val="F5F5F7"/>
          </a:solidFill>
          <a:ln>
            <a:noFill/>
          </a:ln>
        </p:spPr>
      </p:sp>
      <p:sp>
        <p:nvSpPr>
          <p:cNvPr id="86" name="Question 86"/>
          <p:cNvSpPr txBox="1"/>
          <p:nvPr/>
        </p:nvSpPr>
        <p:spPr>
          <a:xfrm>
            <a:off x="3355848" y="1243584"/>
            <a:ext cx="2432304" cy="420624"/>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300" b="0" i="0" dirty="0">
                <a:solidFill>
                  <a:srgbClr val="111113"/>
                </a:solidFill>
                <a:latin typeface="Google Sans Flex SemiBold"/>
                <a:ea typeface="Google Sans Flex SemiBold"/>
                <a:cs typeface="Google Sans Flex SemiBold"/>
                <a:sym typeface="Google Sans Flex SemiBold"/>
              </a:rPr>
              <a:t xml:space="preserve">How will it be able to solve the problem?</a:t>
            </a:r>
            <a:endParaRPr lang="en-GB" sz="1300" dirty="0">
              <a:latin typeface="Google Sans Flex SemiBold"/>
              <a:ea typeface="Google Sans Flex SemiBold"/>
              <a:cs typeface="Google Sans Flex SemiBold"/>
              <a:sym typeface="Google Sans Flex SemiBold"/>
            </a:endParaRPr>
          </a:p>
        </p:txBody>
      </p:sp>
      <p:cxnSp>
        <p:nvCxnSpPr>
          <p:cNvPr id="87" name="Question rule 87"/>
          <p:cNvCxnSpPr/>
          <p:nvPr/>
        </p:nvCxnSpPr>
        <p:spPr>
          <a:xfrm>
            <a:off x="3355848" y="1728216"/>
            <a:ext cx="2432304" cy="0"/>
          </a:xfrm>
          <a:prstGeom prst="line">
            <a:avLst/>
          </a:prstGeom>
          <a:ln w="9525">
            <a:solidFill>
              <a:srgbClr val="D4D4D8"/>
            </a:solidFill>
          </a:ln>
        </p:spPr>
      </p:cxnSp>
      <p:sp>
        <p:nvSpPr>
          <p:cNvPr id="88" name="Column card 88"/>
          <p:cNvSpPr/>
          <p:nvPr/>
        </p:nvSpPr>
        <p:spPr>
          <a:xfrm>
            <a:off x="6062472" y="1097280"/>
            <a:ext cx="2724912" cy="3822192"/>
          </a:xfrm>
          <a:prstGeom prst="roundRect">
            <a:avLst>
              <a:gd name="adj" fmla="val 3355"/>
            </a:avLst>
          </a:prstGeom>
          <a:solidFill>
            <a:srgbClr val="EDF0FF"/>
          </a:solidFill>
          <a:ln>
            <a:noFill/>
          </a:ln>
        </p:spPr>
      </p:sp>
      <p:sp>
        <p:nvSpPr>
          <p:cNvPr id="89" name="Question 89"/>
          <p:cNvSpPr txBox="1"/>
          <p:nvPr/>
        </p:nvSpPr>
        <p:spPr>
          <a:xfrm>
            <a:off x="6208776" y="1243584"/>
            <a:ext cx="2432304" cy="420624"/>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300" b="0" i="0" dirty="0">
                <a:solidFill>
                  <a:srgbClr val="111113"/>
                </a:solidFill>
                <a:latin typeface="Google Sans Flex SemiBold"/>
                <a:ea typeface="Google Sans Flex SemiBold"/>
                <a:cs typeface="Google Sans Flex SemiBold"/>
                <a:sym typeface="Google Sans Flex SemiBold"/>
              </a:rPr>
              <a:t xml:space="preserve">USP of the proposed solution</a:t>
            </a:r>
            <a:endParaRPr lang="en-GB" sz="1300" dirty="0">
              <a:latin typeface="Google Sans Flex SemiBold"/>
              <a:ea typeface="Google Sans Flex SemiBold"/>
              <a:cs typeface="Google Sans Flex SemiBold"/>
              <a:sym typeface="Google Sans Flex SemiBold"/>
            </a:endParaRPr>
          </a:p>
        </p:txBody>
      </p:sp>
      <p:cxnSp>
        <p:nvCxnSpPr>
          <p:cNvPr id="90" name="Question rule 90"/>
          <p:cNvCxnSpPr/>
          <p:nvPr/>
        </p:nvCxnSpPr>
        <p:spPr>
          <a:xfrm>
            <a:off x="6208776" y="1728216"/>
            <a:ext cx="2432304" cy="0"/>
          </a:xfrm>
          <a:prstGeom prst="line">
            <a:avLst/>
          </a:prstGeom>
          <a:ln w="9525">
            <a:solidFill>
              <a:srgbClr val="C7D0FB"/>
            </a:solidFill>
          </a:ln>
        </p:spPr>
      </p:cxnSp>
      <p:sp>
        <p:nvSpPr>
          <p:cNvPr id="91" name="col1 91"/>
          <p:cNvSpPr txBox="1"/>
          <p:nvPr/>
        </p:nvSpPr>
        <p:spPr>
          <a:xfrm>
            <a:off x="502920" y="1837944"/>
            <a:ext cx="2432304" cy="2935224"/>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800"/>
              </a:spcAft>
              <a:buNone/>
            </a:pPr>
            <a:r>
              <a:rPr lang="en-GB" sz="1100" b="0" i="0" dirty="0">
                <a:solidFill>
                  <a:srgbClr val="111113"/>
                </a:solidFill>
                <a:latin typeface="Google Sans Flex SemiBold"/>
                <a:ea typeface="Google Sans Flex SemiBold"/>
                <a:cs typeface="Google Sans Flex SemiBold"/>
                <a:sym typeface="Google Sans Flex SemiBold"/>
              </a:rPr>
              <a:t xml:space="preserve">No product today takes families and their architects from a conversation to a compliant 3D home they can walk through, comment on and change.</a:t>
            </a:r>
            <a:endParaRPr lang="en-GB" sz="1100" dirty="0">
              <a:latin typeface="Google Sans Flex SemiBold"/>
              <a:ea typeface="Google Sans Flex SemiBold"/>
              <a:cs typeface="Google Sans Flex SemiBold"/>
              <a:sym typeface="Google Sans Flex SemiBold"/>
            </a:endParaRPr>
          </a:p>
          <a:p>
            <a:pPr marL="155448" indent="-155448" algn="l" rtl="0">
              <a:lnSpc>
                <a:spcPct val="100000"/>
              </a:lnSpc>
              <a:spcBef>
                <a:spcPts val="0"/>
              </a:spcBef>
              <a:spcAft>
                <a:spcPts val="40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Architect or draftsman:</a:t>
            </a:r>
            <a:r>
              <a:rPr lang="en-GB" sz="1100" b="0" i="0" dirty="0">
                <a:solidFill>
                  <a:srgbClr val="46464B"/>
                </a:solidFill>
                <a:latin typeface="Google Sans Flex"/>
                <a:ea typeface="Google Sans Flex"/>
                <a:cs typeface="Google Sans Flex"/>
                <a:sym typeface="Google Sans Flex"/>
              </a:rPr>
              <a:t xml:space="preserve"> weeks per design, in 2D, with every change redrawn by hand.</a:t>
            </a:r>
            <a:endParaRPr lang="en-GB" sz="1100" dirty="0">
              <a:latin typeface="Google Sans Flex SemiBold"/>
              <a:ea typeface="Google Sans Flex SemiBold"/>
              <a:cs typeface="Google Sans Flex SemiBold"/>
              <a:sym typeface="Google Sans Flex SemiBold"/>
            </a:endParaRPr>
          </a:p>
          <a:p>
            <a:pPr marL="155448" indent="-155448" algn="l" rtl="0">
              <a:lnSpc>
                <a:spcPct val="100000"/>
              </a:lnSpc>
              <a:spcBef>
                <a:spcPts val="0"/>
              </a:spcBef>
              <a:spcAft>
                <a:spcPts val="40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3D renders:</a:t>
            </a:r>
            <a:r>
              <a:rPr lang="en-GB" sz="1100" b="0" i="0" dirty="0">
                <a:solidFill>
                  <a:srgbClr val="46464B"/>
                </a:solidFill>
                <a:latin typeface="Google Sans Flex"/>
                <a:ea typeface="Google Sans Flex"/>
                <a:cs typeface="Google Sans Flex"/>
                <a:sym typeface="Google Sans Flex"/>
              </a:rPr>
              <a:t xml:space="preserve"> ordered separately, they take days and are still pictures you can’t walk through.</a:t>
            </a:r>
            <a:endParaRPr lang="en-GB" sz="1100" dirty="0">
              <a:latin typeface="Google Sans Flex SemiBold"/>
              <a:ea typeface="Google Sans Flex SemiBold"/>
              <a:cs typeface="Google Sans Flex SemiBold"/>
              <a:sym typeface="Google Sans Flex SemiBold"/>
            </a:endParaRPr>
          </a:p>
          <a:p>
            <a:pPr marL="155448" indent="-155448" algn="l" rtl="0">
              <a:lnSpc>
                <a:spcPct val="100000"/>
              </a:lnSpc>
              <a:spcBef>
                <a:spcPts val="0"/>
              </a:spcBef>
              <a:spcAft>
                <a:spcPts val="40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AI image and floor-plan tools:</a:t>
            </a:r>
            <a:r>
              <a:rPr lang="en-GB" sz="1100" b="0" i="0" dirty="0">
                <a:solidFill>
                  <a:srgbClr val="46464B"/>
                </a:solidFill>
                <a:latin typeface="Google Sans Flex"/>
                <a:ea typeface="Google Sans Flex"/>
                <a:cs typeface="Google Sans Flex"/>
                <a:sym typeface="Google Sans Flex"/>
              </a:rPr>
              <a:t xml:space="preserve"> a picture or a 2D layout, with no bylaw checks, no walkthrough and no shared project.</a:t>
            </a:r>
            <a:endParaRPr lang="en-GB" sz="1100" dirty="0">
              <a:latin typeface="Google Sans Flex SemiBold"/>
              <a:ea typeface="Google Sans Flex SemiBold"/>
              <a:cs typeface="Google Sans Flex SemiBold"/>
              <a:sym typeface="Google Sans Flex SemiBold"/>
            </a:endParaRPr>
          </a:p>
        </p:txBody>
      </p:sp>
      <p:sp>
        <p:nvSpPr>
          <p:cNvPr id="92" name="col2 92"/>
          <p:cNvSpPr txBox="1"/>
          <p:nvPr/>
        </p:nvSpPr>
        <p:spPr>
          <a:xfrm>
            <a:off x="3355848" y="1837944"/>
            <a:ext cx="2432304" cy="2935224"/>
          </a:xfrm>
          <a:prstGeom prst="rect">
            <a:avLst/>
          </a:prstGeom>
          <a:noFill/>
          <a:ln>
            <a:noFill/>
          </a:ln>
        </p:spPr>
        <p:txBody>
          <a:bodyPr wrap="square" lIns="0" tIns="0" rIns="0" bIns="0" anchor="t" rtlCol="0">
            <a:noAutofit/>
          </a:bodyPr>
          <a:lstStyle/>
          <a:p>
            <a:pPr marL="155448" indent="-155448" algn="l" rtl="0">
              <a:lnSpc>
                <a:spcPct val="100000"/>
              </a:lnSpc>
              <a:spcBef>
                <a:spcPts val="0"/>
              </a:spcBef>
              <a:spcAft>
                <a:spcPts val="40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Weeks of drafting:</a:t>
            </a:r>
            <a:r>
              <a:rPr lang="en-GB" sz="1100" b="0" i="0" dirty="0">
                <a:solidFill>
                  <a:srgbClr val="46464B"/>
                </a:solidFill>
                <a:latin typeface="Google Sans Flex"/>
                <a:ea typeface="Google Sans Flex"/>
                <a:cs typeface="Google Sans Flex"/>
                <a:sym typeface="Google Sans Flex"/>
              </a:rPr>
              <a:t xml:space="preserve"> a complete design in minutes, from one conversation.</a:t>
            </a:r>
            <a:endParaRPr lang="en-GB" sz="1100" dirty="0">
              <a:latin typeface="Google Sans Flex SemiBold"/>
              <a:ea typeface="Google Sans Flex SemiBold"/>
              <a:cs typeface="Google Sans Flex SemiBold"/>
              <a:sym typeface="Google Sans Flex SemiBold"/>
            </a:endParaRPr>
          </a:p>
          <a:p>
            <a:pPr marL="155448" indent="-155448" algn="l" rtl="0">
              <a:lnSpc>
                <a:spcPct val="100000"/>
              </a:lnSpc>
              <a:spcBef>
                <a:spcPts val="0"/>
              </a:spcBef>
              <a:spcAft>
                <a:spcPts val="40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Never seen in 3D:</a:t>
            </a:r>
            <a:r>
              <a:rPr lang="en-GB" sz="1100" b="0" i="0" dirty="0">
                <a:solidFill>
                  <a:srgbClr val="46464B"/>
                </a:solidFill>
                <a:latin typeface="Google Sans Flex"/>
                <a:ea typeface="Google Sans Flex"/>
                <a:cs typeface="Google Sans Flex"/>
                <a:sym typeface="Google Sans Flex"/>
              </a:rPr>
              <a:t xml:space="preserve"> every design is a high-fidelity 3D home you can walk through.</a:t>
            </a:r>
            <a:endParaRPr lang="en-GB" sz="1100" dirty="0">
              <a:latin typeface="Google Sans Flex SemiBold"/>
              <a:ea typeface="Google Sans Flex SemiBold"/>
              <a:cs typeface="Google Sans Flex SemiBold"/>
              <a:sym typeface="Google Sans Flex SemiBold"/>
            </a:endParaRPr>
          </a:p>
          <a:p>
            <a:pPr marL="155448" indent="-155448" algn="l" rtl="0">
              <a:lnSpc>
                <a:spcPct val="100000"/>
              </a:lnSpc>
              <a:spcBef>
                <a:spcPts val="0"/>
              </a:spcBef>
              <a:spcAft>
                <a:spcPts val="40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Scarce compliance experts:</a:t>
            </a:r>
            <a:r>
              <a:rPr lang="en-GB" sz="1100" b="0" i="0" dirty="0">
                <a:solidFill>
                  <a:srgbClr val="46464B"/>
                </a:solidFill>
                <a:latin typeface="Google Sans Flex"/>
                <a:ea typeface="Google Sans Flex"/>
                <a:cs typeface="Google Sans Flex"/>
                <a:sym typeface="Google Sans Flex"/>
              </a:rPr>
              <a:t xml:space="preserve"> bylaw checks are built in, so the architect stamps a set that is already checked.</a:t>
            </a:r>
            <a:endParaRPr lang="en-GB" sz="1100" dirty="0">
              <a:latin typeface="Google Sans Flex SemiBold"/>
              <a:ea typeface="Google Sans Flex SemiBold"/>
              <a:cs typeface="Google Sans Flex SemiBold"/>
              <a:sym typeface="Google Sans Flex SemiBold"/>
            </a:endParaRPr>
          </a:p>
          <a:p>
            <a:pPr marL="155448" indent="-155448" algn="l" rtl="0">
              <a:lnSpc>
                <a:spcPct val="100000"/>
              </a:lnSpc>
              <a:spcBef>
                <a:spcPts val="0"/>
              </a:spcBef>
              <a:spcAft>
                <a:spcPts val="40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Scattered feedback:</a:t>
            </a:r>
            <a:r>
              <a:rPr lang="en-GB" sz="1100" b="0" i="0" dirty="0">
                <a:solidFill>
                  <a:srgbClr val="46464B"/>
                </a:solidFill>
                <a:latin typeface="Google Sans Flex"/>
                <a:ea typeface="Google Sans Flex"/>
                <a:cs typeface="Google Sans Flex"/>
                <a:sym typeface="Google Sans Flex"/>
              </a:rPr>
              <a:t xml:space="preserve"> comments pinned in the model and addressed by the AI architect, one shared project, and changes made by asking.</a:t>
            </a:r>
            <a:endParaRPr lang="en-GB" sz="1100" dirty="0">
              <a:latin typeface="Google Sans Flex SemiBold"/>
              <a:ea typeface="Google Sans Flex SemiBold"/>
              <a:cs typeface="Google Sans Flex SemiBold"/>
              <a:sym typeface="Google Sans Flex SemiBold"/>
            </a:endParaRPr>
          </a:p>
        </p:txBody>
      </p:sp>
      <p:sp>
        <p:nvSpPr>
          <p:cNvPr id="93" name="USP statement 93"/>
          <p:cNvSpPr txBox="1"/>
          <p:nvPr/>
        </p:nvSpPr>
        <p:spPr>
          <a:xfrm>
            <a:off x="6208776" y="1810512"/>
            <a:ext cx="2432304" cy="495300"/>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500" b="0" i="0" dirty="0">
                <a:solidFill>
                  <a:srgbClr val="2747F5"/>
                </a:solidFill>
                <a:latin typeface="Google Sans Flex SemiBold"/>
                <a:ea typeface="Google Sans Flex SemiBold"/>
                <a:cs typeface="Google Sans Flex SemiBold"/>
                <a:sym typeface="Google Sans Flex SemiBold"/>
              </a:rPr>
              <a:t xml:space="preserve">An experienced architect you can talk to.</a:t>
            </a:r>
            <a:endParaRPr lang="en-GB" sz="1500" dirty="0">
              <a:latin typeface="Google Sans Flex SemiBold"/>
              <a:ea typeface="Google Sans Flex SemiBold"/>
              <a:cs typeface="Google Sans Flex SemiBold"/>
              <a:sym typeface="Google Sans Flex SemiBold"/>
            </a:endParaRPr>
          </a:p>
        </p:txBody>
      </p:sp>
      <p:sp>
        <p:nvSpPr>
          <p:cNvPr id="94" name="col3 94"/>
          <p:cNvSpPr txBox="1"/>
          <p:nvPr/>
        </p:nvSpPr>
        <p:spPr>
          <a:xfrm>
            <a:off x="6208776" y="2397252"/>
            <a:ext cx="2432304" cy="2375916"/>
          </a:xfrm>
          <a:prstGeom prst="rect">
            <a:avLst/>
          </a:prstGeom>
          <a:noFill/>
          <a:ln>
            <a:noFill/>
          </a:ln>
        </p:spPr>
        <p:txBody>
          <a:bodyPr wrap="square" lIns="0" tIns="0" rIns="0" bIns="0" anchor="t" rtlCol="0">
            <a:noAutofit/>
          </a:bodyPr>
          <a:lstStyle/>
          <a:p>
            <a:pPr marL="155448" indent="-155448" algn="l" rtl="0">
              <a:lnSpc>
                <a:spcPct val="100000"/>
              </a:lnSpc>
              <a:spcBef>
                <a:spcPts val="0"/>
              </a:spcBef>
              <a:spcAft>
                <a:spcPts val="400"/>
              </a:spcAft>
              <a:buClr>
                <a:srgbClr val="2747F5"/>
              </a:buClr>
              <a:buSzPct val="100000"/>
              <a:buFont typeface="Google Sans Flex"/>
              <a:buChar char="•"/>
            </a:pPr>
            <a:r>
              <a:rPr lang="en-GB" sz="1100" b="0" i="0" dirty="0">
                <a:solidFill>
                  <a:srgbClr val="46464B"/>
                </a:solidFill>
                <a:latin typeface="Google Sans Flex"/>
                <a:ea typeface="Google Sans Flex"/>
                <a:cs typeface="Google Sans Flex"/>
                <a:sym typeface="Google Sans Flex"/>
              </a:rPr>
              <a:t xml:space="preserve">AI agents that design the whole home in minutes, check their own work against the bylaws and fix it.</a:t>
            </a:r>
            <a:endParaRPr lang="en-GB" sz="1100" dirty="0">
              <a:latin typeface="Google Sans Flex"/>
              <a:ea typeface="Google Sans Flex"/>
              <a:cs typeface="Google Sans Flex"/>
              <a:sym typeface="Google Sans Flex"/>
            </a:endParaRPr>
          </a:p>
          <a:p>
            <a:pPr marL="155448" indent="-155448" algn="l" rtl="0">
              <a:lnSpc>
                <a:spcPct val="100000"/>
              </a:lnSpc>
              <a:spcBef>
                <a:spcPts val="0"/>
              </a:spcBef>
              <a:spcAft>
                <a:spcPts val="400"/>
              </a:spcAft>
              <a:buClr>
                <a:srgbClr val="2747F5"/>
              </a:buClr>
              <a:buSzPct val="100000"/>
              <a:buFont typeface="Google Sans Flex"/>
              <a:buChar char="•"/>
            </a:pPr>
            <a:r>
              <a:rPr lang="en-GB" sz="1100" b="0" i="0" dirty="0">
                <a:solidFill>
                  <a:srgbClr val="46464B"/>
                </a:solidFill>
                <a:latin typeface="Google Sans Flex"/>
                <a:ea typeface="Google Sans Flex"/>
                <a:cs typeface="Google Sans Flex"/>
                <a:sym typeface="Google Sans Flex"/>
              </a:rPr>
              <a:t xml:space="preserve">Immersive, high-fidelity 3D, inside and out, in the browser.</a:t>
            </a:r>
            <a:endParaRPr lang="en-GB" sz="1100" dirty="0">
              <a:latin typeface="Google Sans Flex"/>
              <a:ea typeface="Google Sans Flex"/>
              <a:cs typeface="Google Sans Flex"/>
              <a:sym typeface="Google Sans Flex"/>
            </a:endParaRPr>
          </a:p>
          <a:p>
            <a:pPr marL="155448" indent="-155448" algn="l" rtl="0">
              <a:lnSpc>
                <a:spcPct val="100000"/>
              </a:lnSpc>
              <a:spcBef>
                <a:spcPts val="0"/>
              </a:spcBef>
              <a:spcAft>
                <a:spcPts val="400"/>
              </a:spcAft>
              <a:buClr>
                <a:srgbClr val="2747F5"/>
              </a:buClr>
              <a:buSzPct val="100000"/>
              <a:buFont typeface="Google Sans Flex"/>
              <a:buChar char="•"/>
            </a:pPr>
            <a:r>
              <a:rPr lang="en-GB" sz="1100" b="0" i="0" dirty="0">
                <a:solidFill>
                  <a:srgbClr val="46464B"/>
                </a:solidFill>
                <a:latin typeface="Google Sans Flex"/>
                <a:ea typeface="Google Sans Flex"/>
                <a:cs typeface="Google Sans Flex"/>
                <a:sym typeface="Google Sans Flex"/>
              </a:rPr>
              <a:t xml:space="preserve">Comments pinned where you stand, and addressed for you.</a:t>
            </a:r>
            <a:endParaRPr lang="en-GB" sz="1100" dirty="0">
              <a:latin typeface="Google Sans Flex"/>
              <a:ea typeface="Google Sans Flex"/>
              <a:cs typeface="Google Sans Flex"/>
              <a:sym typeface="Google Sans Flex"/>
            </a:endParaRPr>
          </a:p>
          <a:p>
            <a:pPr marL="155448" indent="-155448" algn="l" rtl="0">
              <a:lnSpc>
                <a:spcPct val="100000"/>
              </a:lnSpc>
              <a:spcBef>
                <a:spcPts val="0"/>
              </a:spcBef>
              <a:spcAft>
                <a:spcPts val="400"/>
              </a:spcAft>
              <a:buClr>
                <a:srgbClr val="2747F5"/>
              </a:buClr>
              <a:buSzPct val="100000"/>
              <a:buFont typeface="Google Sans Flex"/>
              <a:buChar char="•"/>
            </a:pPr>
            <a:r>
              <a:rPr lang="en-GB" sz="1100" b="0" i="0" dirty="0">
                <a:solidFill>
                  <a:srgbClr val="46464B"/>
                </a:solidFill>
                <a:latin typeface="Google Sans Flex"/>
                <a:ea typeface="Google Sans Flex"/>
                <a:cs typeface="Google Sans Flex"/>
                <a:sym typeface="Google Sans Flex"/>
              </a:rPr>
              <a:t xml:space="preserve">Collaboration and changes in plain language, all in one place.</a:t>
            </a:r>
            <a:endParaRPr lang="en-GB" sz="1100" dirty="0">
              <a:latin typeface="Google Sans Flex"/>
              <a:ea typeface="Google Sans Flex"/>
              <a:cs typeface="Google Sans Flex"/>
              <a:sym typeface="Google Sans Flex"/>
            </a:endParaRPr>
          </a:p>
          <a:p>
            <a:pPr marL="155448" indent="-155448" algn="l" rtl="0">
              <a:lnSpc>
                <a:spcPct val="100000"/>
              </a:lnSpc>
              <a:spcBef>
                <a:spcPts val="0"/>
              </a:spcBef>
              <a:spcAft>
                <a:spcPts val="400"/>
              </a:spcAft>
              <a:buClr>
                <a:srgbClr val="2747F5"/>
              </a:buClr>
              <a:buSzPct val="100000"/>
              <a:buFont typeface="Google Sans Flex"/>
              <a:buChar char="•"/>
            </a:pPr>
            <a:r>
              <a:rPr lang="en-GB" sz="1100" b="0" i="0" dirty="0">
                <a:solidFill>
                  <a:srgbClr val="46464B"/>
                </a:solidFill>
                <a:latin typeface="Google Sans Flex"/>
                <a:ea typeface="Google Sans Flex"/>
                <a:cs typeface="Google Sans Flex"/>
                <a:sym typeface="Google Sans Flex"/>
              </a:rPr>
              <a:t xml:space="preserve">Rules as data: LDA in the prototype, and any authority’s bylaws can be added.</a:t>
            </a:r>
            <a:endParaRPr lang="en-GB" sz="1100" dirty="0">
              <a:latin typeface="Google Sans Flex"/>
              <a:ea typeface="Google Sans Flex"/>
              <a:cs typeface="Google Sans Flex"/>
              <a:sym typeface="Google Sans Flex"/>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Hero banner 88"/>
          <p:cNvSpPr/>
          <p:nvPr/>
        </p:nvSpPr>
        <p:spPr>
          <a:xfrm>
            <a:off x="356616" y="1078992"/>
            <a:ext cx="8430768" cy="523138"/>
          </a:xfrm>
          <a:prstGeom prst="roundRect">
            <a:avLst>
              <a:gd name="adj" fmla="val 17479"/>
            </a:avLst>
          </a:prstGeom>
          <a:solidFill>
            <a:srgbClr val="2747F5"/>
          </a:solidFill>
          <a:ln>
            <a:noFill/>
          </a:ln>
        </p:spPr>
      </p:sp>
      <p:pic>
        <p:nvPicPr>
          <p:cNvPr id="89" name="Hero icon 89" descr=""/>
          <p:cNvPicPr>
            <a:picLocks noChangeAspect="1"/>
          </p:cNvPicPr>
          <p:nvPr/>
        </p:nvPicPr>
        <p:blipFill>
          <a:blip r:embed="rId5"/>
          <a:stretch>
            <a:fillRect/>
          </a:stretch>
        </p:blipFill>
        <p:spPr>
          <a:xfrm>
            <a:off x="539496" y="1221689"/>
            <a:ext cx="237744" cy="237744"/>
          </a:xfrm>
          <a:prstGeom prst="rect">
            <a:avLst/>
          </a:prstGeom>
          <a:noFill/>
          <a:ln>
            <a:noFill/>
          </a:ln>
        </p:spPr>
      </p:pic>
      <p:sp>
        <p:nvSpPr>
          <p:cNvPr id="90" name="Hero feature 90"/>
          <p:cNvSpPr txBox="1"/>
          <p:nvPr/>
        </p:nvSpPr>
        <p:spPr>
          <a:xfrm>
            <a:off x="923544" y="1078992"/>
            <a:ext cx="7772400" cy="523138"/>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300" b="0" i="0" dirty="0">
                <a:solidFill>
                  <a:srgbClr val="FFFFFF"/>
                </a:solidFill>
                <a:latin typeface="Google Sans Flex SemiBold"/>
                <a:ea typeface="Google Sans Flex SemiBold"/>
                <a:cs typeface="Google Sans Flex SemiBold"/>
                <a:sym typeface="Google Sans Flex SemiBold"/>
              </a:rPr>
              <a:t xml:space="preserve">From your requirements to a complete, high-fidelity, bylaw-compliant</a:t>
            </a:r>
            <a:endParaRPr lang="en-GB" sz="1300" dirty="0">
              <a:latin typeface="Google Sans Flex SemiBold"/>
              <a:ea typeface="Google Sans Flex SemiBold"/>
              <a:cs typeface="Google Sans Flex SemiBold"/>
              <a:sym typeface="Google Sans Flex SemiBold"/>
            </a:endParaRPr>
          </a:p>
          <a:p>
            <a:pPr marL="0" indent="0" algn="l" rtl="0">
              <a:lnSpc>
                <a:spcPct val="100000"/>
              </a:lnSpc>
              <a:spcBef>
                <a:spcPts val="0"/>
              </a:spcBef>
              <a:spcAft>
                <a:spcPts val="0"/>
              </a:spcAft>
              <a:buNone/>
            </a:pPr>
            <a:r>
              <a:rPr lang="en-GB" sz="1300" b="0" i="0" dirty="0">
                <a:solidFill>
                  <a:srgbClr val="FFFFFF"/>
                </a:solidFill>
                <a:latin typeface="Google Sans Flex SemiBold"/>
                <a:ea typeface="Google Sans Flex SemiBold"/>
                <a:cs typeface="Google Sans Flex SemiBold"/>
                <a:sym typeface="Google Sans Flex SemiBold"/>
              </a:rPr>
              <a:t xml:space="preserve">3D walkthrough of your home, in minutes.</a:t>
            </a:r>
            <a:endParaRPr lang="en-GB" sz="1300" dirty="0">
              <a:latin typeface="Google Sans Flex SemiBold"/>
              <a:ea typeface="Google Sans Flex SemiBold"/>
              <a:cs typeface="Google Sans Flex SemiBold"/>
              <a:sym typeface="Google Sans Flex SemiBold"/>
            </a:endParaRPr>
          </a:p>
        </p:txBody>
      </p:sp>
      <p:sp>
        <p:nvSpPr>
          <p:cNvPr id="91" name="Feature card 91"/>
          <p:cNvSpPr/>
          <p:nvPr/>
        </p:nvSpPr>
        <p:spPr>
          <a:xfrm>
            <a:off x="356616" y="1675282"/>
            <a:ext cx="2761488" cy="748293"/>
          </a:xfrm>
          <a:prstGeom prst="roundRect">
            <a:avLst>
              <a:gd name="adj" fmla="val 9775"/>
            </a:avLst>
          </a:prstGeom>
          <a:solidFill>
            <a:srgbClr val="F5F5F7"/>
          </a:solidFill>
          <a:ln>
            <a:noFill/>
          </a:ln>
        </p:spPr>
      </p:sp>
      <p:pic>
        <p:nvPicPr>
          <p:cNvPr id="92" name="Feature icon 92" descr=""/>
          <p:cNvPicPr>
            <a:picLocks noChangeAspect="1"/>
          </p:cNvPicPr>
          <p:nvPr/>
        </p:nvPicPr>
        <p:blipFill>
          <a:blip r:embed="rId6"/>
          <a:stretch>
            <a:fillRect/>
          </a:stretch>
        </p:blipFill>
        <p:spPr>
          <a:xfrm>
            <a:off x="457200" y="1735900"/>
            <a:ext cx="155448" cy="155448"/>
          </a:xfrm>
          <a:prstGeom prst="rect">
            <a:avLst/>
          </a:prstGeom>
          <a:noFill/>
          <a:ln>
            <a:noFill/>
          </a:ln>
        </p:spPr>
      </p:pic>
      <p:sp>
        <p:nvSpPr>
          <p:cNvPr id="93" name="Feature title 93"/>
          <p:cNvSpPr txBox="1"/>
          <p:nvPr/>
        </p:nvSpPr>
        <p:spPr>
          <a:xfrm>
            <a:off x="676656" y="1730146"/>
            <a:ext cx="2340864" cy="16695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50" b="0" i="0" dirty="0">
                <a:solidFill>
                  <a:srgbClr val="111113"/>
                </a:solidFill>
                <a:latin typeface="Google Sans Flex SemiBold"/>
                <a:ea typeface="Google Sans Flex SemiBold"/>
                <a:cs typeface="Google Sans Flex SemiBold"/>
                <a:sym typeface="Google Sans Flex SemiBold"/>
              </a:rPr>
              <a:t xml:space="preserve">Design with an AI architect</a:t>
            </a:r>
            <a:endParaRPr lang="en-GB" sz="1050" dirty="0">
              <a:latin typeface="Google Sans Flex SemiBold"/>
              <a:ea typeface="Google Sans Flex SemiBold"/>
              <a:cs typeface="Google Sans Flex SemiBold"/>
              <a:sym typeface="Google Sans Flex SemiBold"/>
            </a:endParaRPr>
          </a:p>
        </p:txBody>
      </p:sp>
      <p:sp>
        <p:nvSpPr>
          <p:cNvPr id="94" name="Feature line 94"/>
          <p:cNvSpPr txBox="1"/>
          <p:nvPr/>
        </p:nvSpPr>
        <p:spPr>
          <a:xfrm>
            <a:off x="457200" y="1933677"/>
            <a:ext cx="2560320" cy="435035"/>
          </a:xfrm>
          <a:prstGeom prst="rect">
            <a:avLst/>
          </a:prstGeom>
          <a:noFill/>
          <a:ln>
            <a:noFill/>
          </a:ln>
        </p:spPr>
        <p:txBody>
          <a:bodyPr wrap="square" lIns="0" tIns="0" rIns="0" bIns="0" anchor="t" rtlCol="0">
            <a:noAutofit/>
          </a:bodyPr>
          <a:lstStyle/>
          <a:p>
            <a:pPr marL="0" indent="0" algn="l" rtl="0">
              <a:lnSpc>
                <a:spcPct val="96000"/>
              </a:lnSpc>
              <a:spcBef>
                <a:spcPts val="0"/>
              </a:spcBef>
              <a:spcAft>
                <a:spcPts val="0"/>
              </a:spcAft>
              <a:buNone/>
            </a:pPr>
            <a:r>
              <a:rPr lang="en-GB" sz="950" b="0" i="0" dirty="0">
                <a:solidFill>
                  <a:srgbClr val="46464B"/>
                </a:solidFill>
                <a:latin typeface="Google Sans Flex"/>
                <a:ea typeface="Google Sans Flex"/>
                <a:cs typeface="Google Sans Flex"/>
                <a:sym typeface="Google Sans Flex"/>
              </a:rPr>
              <a:t xml:space="preserve">Describe your plot, family and wishes in plain words; Naqsha asks only for what’s missing.</a:t>
            </a:r>
            <a:endParaRPr lang="en-GB" sz="950" dirty="0">
              <a:latin typeface="Google Sans Flex"/>
              <a:ea typeface="Google Sans Flex"/>
              <a:cs typeface="Google Sans Flex"/>
              <a:sym typeface="Google Sans Flex"/>
            </a:endParaRPr>
          </a:p>
        </p:txBody>
      </p:sp>
      <p:sp>
        <p:nvSpPr>
          <p:cNvPr id="95" name="Feature card 95"/>
          <p:cNvSpPr/>
          <p:nvPr/>
        </p:nvSpPr>
        <p:spPr>
          <a:xfrm>
            <a:off x="3191256" y="1675282"/>
            <a:ext cx="2761488" cy="748293"/>
          </a:xfrm>
          <a:prstGeom prst="roundRect">
            <a:avLst>
              <a:gd name="adj" fmla="val 9775"/>
            </a:avLst>
          </a:prstGeom>
          <a:solidFill>
            <a:srgbClr val="F5F5F7"/>
          </a:solidFill>
          <a:ln>
            <a:noFill/>
          </a:ln>
        </p:spPr>
      </p:sp>
      <p:pic>
        <p:nvPicPr>
          <p:cNvPr id="96" name="Feature icon 96" descr=""/>
          <p:cNvPicPr>
            <a:picLocks noChangeAspect="1"/>
          </p:cNvPicPr>
          <p:nvPr/>
        </p:nvPicPr>
        <p:blipFill>
          <a:blip r:embed="rId7"/>
          <a:stretch>
            <a:fillRect/>
          </a:stretch>
        </p:blipFill>
        <p:spPr>
          <a:xfrm>
            <a:off x="3291840" y="1735900"/>
            <a:ext cx="155448" cy="155448"/>
          </a:xfrm>
          <a:prstGeom prst="rect">
            <a:avLst/>
          </a:prstGeom>
          <a:noFill/>
          <a:ln>
            <a:noFill/>
          </a:ln>
        </p:spPr>
      </p:pic>
      <p:sp>
        <p:nvSpPr>
          <p:cNvPr id="97" name="Feature title 97"/>
          <p:cNvSpPr txBox="1"/>
          <p:nvPr/>
        </p:nvSpPr>
        <p:spPr>
          <a:xfrm>
            <a:off x="3511296" y="1730146"/>
            <a:ext cx="2340864" cy="16695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50" b="0" i="0" dirty="0">
                <a:solidFill>
                  <a:srgbClr val="111113"/>
                </a:solidFill>
                <a:latin typeface="Google Sans Flex SemiBold"/>
                <a:ea typeface="Google Sans Flex SemiBold"/>
                <a:cs typeface="Google Sans Flex SemiBold"/>
                <a:sym typeface="Google Sans Flex SemiBold"/>
              </a:rPr>
              <a:t xml:space="preserve">Concepts by day and night</a:t>
            </a:r>
            <a:endParaRPr lang="en-GB" sz="1050" dirty="0">
              <a:latin typeface="Google Sans Flex SemiBold"/>
              <a:ea typeface="Google Sans Flex SemiBold"/>
              <a:cs typeface="Google Sans Flex SemiBold"/>
              <a:sym typeface="Google Sans Flex SemiBold"/>
            </a:endParaRPr>
          </a:p>
        </p:txBody>
      </p:sp>
      <p:sp>
        <p:nvSpPr>
          <p:cNvPr id="98" name="Feature line 98"/>
          <p:cNvSpPr txBox="1"/>
          <p:nvPr/>
        </p:nvSpPr>
        <p:spPr>
          <a:xfrm>
            <a:off x="3291840" y="1933677"/>
            <a:ext cx="2560320" cy="435035"/>
          </a:xfrm>
          <a:prstGeom prst="rect">
            <a:avLst/>
          </a:prstGeom>
          <a:noFill/>
          <a:ln>
            <a:noFill/>
          </a:ln>
        </p:spPr>
        <p:txBody>
          <a:bodyPr wrap="square" lIns="0" tIns="0" rIns="0" bIns="0" anchor="t" rtlCol="0">
            <a:noAutofit/>
          </a:bodyPr>
          <a:lstStyle/>
          <a:p>
            <a:pPr marL="0" indent="0" algn="l" rtl="0">
              <a:lnSpc>
                <a:spcPct val="96000"/>
              </a:lnSpc>
              <a:spcBef>
                <a:spcPts val="0"/>
              </a:spcBef>
              <a:spcAft>
                <a:spcPts val="0"/>
              </a:spcAft>
              <a:buNone/>
            </a:pPr>
            <a:r>
              <a:rPr lang="en-GB" sz="950" b="0" i="0" dirty="0">
                <a:solidFill>
                  <a:srgbClr val="46464B"/>
                </a:solidFill>
                <a:latin typeface="Google Sans Flex"/>
                <a:ea typeface="Google Sans Flex"/>
                <a:cs typeface="Google Sans Flex"/>
                <a:sym typeface="Google Sans Flex"/>
              </a:rPr>
              <a:t xml:space="preserve">Four photoreal exterior options for your plot, each also shown at night.</a:t>
            </a:r>
            <a:endParaRPr lang="en-GB" sz="950" dirty="0">
              <a:latin typeface="Google Sans Flex"/>
              <a:ea typeface="Google Sans Flex"/>
              <a:cs typeface="Google Sans Flex"/>
              <a:sym typeface="Google Sans Flex"/>
            </a:endParaRPr>
          </a:p>
        </p:txBody>
      </p:sp>
      <p:sp>
        <p:nvSpPr>
          <p:cNvPr id="99" name="Feature card 99"/>
          <p:cNvSpPr/>
          <p:nvPr/>
        </p:nvSpPr>
        <p:spPr>
          <a:xfrm>
            <a:off x="6025896" y="1675282"/>
            <a:ext cx="2761488" cy="748293"/>
          </a:xfrm>
          <a:prstGeom prst="roundRect">
            <a:avLst>
              <a:gd name="adj" fmla="val 9775"/>
            </a:avLst>
          </a:prstGeom>
          <a:solidFill>
            <a:srgbClr val="F5F5F7"/>
          </a:solidFill>
          <a:ln>
            <a:noFill/>
          </a:ln>
        </p:spPr>
      </p:sp>
      <p:pic>
        <p:nvPicPr>
          <p:cNvPr id="100" name="Feature icon 100" descr=""/>
          <p:cNvPicPr>
            <a:picLocks noChangeAspect="1"/>
          </p:cNvPicPr>
          <p:nvPr/>
        </p:nvPicPr>
        <p:blipFill>
          <a:blip r:embed="rId8"/>
          <a:stretch>
            <a:fillRect/>
          </a:stretch>
        </p:blipFill>
        <p:spPr>
          <a:xfrm>
            <a:off x="6126480" y="1735900"/>
            <a:ext cx="155448" cy="155448"/>
          </a:xfrm>
          <a:prstGeom prst="rect">
            <a:avLst/>
          </a:prstGeom>
          <a:noFill/>
          <a:ln>
            <a:noFill/>
          </a:ln>
        </p:spPr>
      </p:pic>
      <p:sp>
        <p:nvSpPr>
          <p:cNvPr id="101" name="Feature title 101"/>
          <p:cNvSpPr txBox="1"/>
          <p:nvPr/>
        </p:nvSpPr>
        <p:spPr>
          <a:xfrm>
            <a:off x="6345936" y="1730146"/>
            <a:ext cx="2340864" cy="16695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50" b="0" i="0" dirty="0">
                <a:solidFill>
                  <a:srgbClr val="111113"/>
                </a:solidFill>
                <a:latin typeface="Google Sans Flex SemiBold"/>
                <a:ea typeface="Google Sans Flex SemiBold"/>
                <a:cs typeface="Google Sans Flex SemiBold"/>
                <a:sym typeface="Google Sans Flex SemiBold"/>
              </a:rPr>
              <a:t xml:space="preserve">Compliant floor plans</a:t>
            </a:r>
            <a:endParaRPr lang="en-GB" sz="1050" dirty="0">
              <a:latin typeface="Google Sans Flex SemiBold"/>
              <a:ea typeface="Google Sans Flex SemiBold"/>
              <a:cs typeface="Google Sans Flex SemiBold"/>
              <a:sym typeface="Google Sans Flex SemiBold"/>
            </a:endParaRPr>
          </a:p>
        </p:txBody>
      </p:sp>
      <p:sp>
        <p:nvSpPr>
          <p:cNvPr id="102" name="Feature line 102"/>
          <p:cNvSpPr txBox="1"/>
          <p:nvPr/>
        </p:nvSpPr>
        <p:spPr>
          <a:xfrm>
            <a:off x="6126480" y="1933677"/>
            <a:ext cx="2560320" cy="435035"/>
          </a:xfrm>
          <a:prstGeom prst="rect">
            <a:avLst/>
          </a:prstGeom>
          <a:noFill/>
          <a:ln>
            <a:noFill/>
          </a:ln>
        </p:spPr>
        <p:txBody>
          <a:bodyPr wrap="square" lIns="0" tIns="0" rIns="0" bIns="0" anchor="t" rtlCol="0">
            <a:noAutofit/>
          </a:bodyPr>
          <a:lstStyle/>
          <a:p>
            <a:pPr marL="0" indent="0" algn="l" rtl="0">
              <a:lnSpc>
                <a:spcPct val="96000"/>
              </a:lnSpc>
              <a:spcBef>
                <a:spcPts val="0"/>
              </a:spcBef>
              <a:spcAft>
                <a:spcPts val="0"/>
              </a:spcAft>
              <a:buNone/>
            </a:pPr>
            <a:r>
              <a:rPr lang="en-GB" sz="950" b="0" i="0" dirty="0">
                <a:solidFill>
                  <a:srgbClr val="46464B"/>
                </a:solidFill>
                <a:latin typeface="Google Sans Flex"/>
                <a:ea typeface="Google Sans Flex"/>
                <a:cs typeface="Google Sans Flex"/>
                <a:sym typeface="Google Sans Flex"/>
              </a:rPr>
              <a:t xml:space="preserve">Every floor is checked against the authority’s bylaws and livable-home rules; Naqsha fixes what fails and reviews its own drawing.</a:t>
            </a:r>
            <a:endParaRPr lang="en-GB" sz="950" dirty="0">
              <a:latin typeface="Google Sans Flex"/>
              <a:ea typeface="Google Sans Flex"/>
              <a:cs typeface="Google Sans Flex"/>
              <a:sym typeface="Google Sans Flex"/>
            </a:endParaRPr>
          </a:p>
        </p:txBody>
      </p:sp>
      <p:sp>
        <p:nvSpPr>
          <p:cNvPr id="103" name="Feature card 103"/>
          <p:cNvSpPr/>
          <p:nvPr/>
        </p:nvSpPr>
        <p:spPr>
          <a:xfrm>
            <a:off x="356616" y="2496728"/>
            <a:ext cx="2761488" cy="603281"/>
          </a:xfrm>
          <a:prstGeom prst="roundRect">
            <a:avLst>
              <a:gd name="adj" fmla="val 12125"/>
            </a:avLst>
          </a:prstGeom>
          <a:solidFill>
            <a:srgbClr val="F5F5F7"/>
          </a:solidFill>
          <a:ln>
            <a:noFill/>
          </a:ln>
        </p:spPr>
      </p:sp>
      <p:pic>
        <p:nvPicPr>
          <p:cNvPr id="104" name="Feature icon 104" descr=""/>
          <p:cNvPicPr>
            <a:picLocks noChangeAspect="1"/>
          </p:cNvPicPr>
          <p:nvPr/>
        </p:nvPicPr>
        <p:blipFill>
          <a:blip r:embed="rId9"/>
          <a:stretch>
            <a:fillRect/>
          </a:stretch>
        </p:blipFill>
        <p:spPr>
          <a:xfrm>
            <a:off x="457200" y="2557345"/>
            <a:ext cx="155448" cy="155448"/>
          </a:xfrm>
          <a:prstGeom prst="rect">
            <a:avLst/>
          </a:prstGeom>
          <a:noFill/>
          <a:ln>
            <a:noFill/>
          </a:ln>
        </p:spPr>
      </p:pic>
      <p:sp>
        <p:nvSpPr>
          <p:cNvPr id="105" name="Feature title 105"/>
          <p:cNvSpPr txBox="1"/>
          <p:nvPr/>
        </p:nvSpPr>
        <p:spPr>
          <a:xfrm>
            <a:off x="676656" y="2551592"/>
            <a:ext cx="2340864" cy="16695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50" b="0" i="0" dirty="0">
                <a:solidFill>
                  <a:srgbClr val="111113"/>
                </a:solidFill>
                <a:latin typeface="Google Sans Flex SemiBold"/>
                <a:ea typeface="Google Sans Flex SemiBold"/>
                <a:cs typeface="Google Sans Flex SemiBold"/>
                <a:sym typeface="Google Sans Flex SemiBold"/>
              </a:rPr>
              <a:t xml:space="preserve">High-fidelity 3D, inside and out</a:t>
            </a:r>
            <a:endParaRPr lang="en-GB" sz="1050" dirty="0">
              <a:latin typeface="Google Sans Flex SemiBold"/>
              <a:ea typeface="Google Sans Flex SemiBold"/>
              <a:cs typeface="Google Sans Flex SemiBold"/>
              <a:sym typeface="Google Sans Flex SemiBold"/>
            </a:endParaRPr>
          </a:p>
        </p:txBody>
      </p:sp>
      <p:sp>
        <p:nvSpPr>
          <p:cNvPr id="106" name="Feature line 106"/>
          <p:cNvSpPr txBox="1"/>
          <p:nvPr/>
        </p:nvSpPr>
        <p:spPr>
          <a:xfrm>
            <a:off x="457200" y="2755122"/>
            <a:ext cx="2560320" cy="290023"/>
          </a:xfrm>
          <a:prstGeom prst="rect">
            <a:avLst/>
          </a:prstGeom>
          <a:noFill/>
          <a:ln>
            <a:noFill/>
          </a:ln>
        </p:spPr>
        <p:txBody>
          <a:bodyPr wrap="square" lIns="0" tIns="0" rIns="0" bIns="0" anchor="t" rtlCol="0">
            <a:noAutofit/>
          </a:bodyPr>
          <a:lstStyle/>
          <a:p>
            <a:pPr marL="0" indent="0" algn="l" rtl="0">
              <a:lnSpc>
                <a:spcPct val="96000"/>
              </a:lnSpc>
              <a:spcBef>
                <a:spcPts val="0"/>
              </a:spcBef>
              <a:spcAft>
                <a:spcPts val="0"/>
              </a:spcAft>
              <a:buNone/>
            </a:pPr>
            <a:r>
              <a:rPr lang="en-GB" sz="950" b="0" i="0" dirty="0">
                <a:solidFill>
                  <a:srgbClr val="46464B"/>
                </a:solidFill>
                <a:latin typeface="Google Sans Flex"/>
                <a:ea typeface="Google Sans Flex"/>
                <a:cs typeface="Google Sans Flex"/>
                <a:sym typeface="Google Sans Flex"/>
              </a:rPr>
              <a:t xml:space="preserve">Furnished rooms, finished facades, any angle, and cut-away floors.</a:t>
            </a:r>
            <a:endParaRPr lang="en-GB" sz="950" dirty="0">
              <a:latin typeface="Google Sans Flex"/>
              <a:ea typeface="Google Sans Flex"/>
              <a:cs typeface="Google Sans Flex"/>
              <a:sym typeface="Google Sans Flex"/>
            </a:endParaRPr>
          </a:p>
        </p:txBody>
      </p:sp>
      <p:sp>
        <p:nvSpPr>
          <p:cNvPr id="107" name="Feature card 107"/>
          <p:cNvSpPr/>
          <p:nvPr/>
        </p:nvSpPr>
        <p:spPr>
          <a:xfrm>
            <a:off x="3191256" y="2496728"/>
            <a:ext cx="2761488" cy="603281"/>
          </a:xfrm>
          <a:prstGeom prst="roundRect">
            <a:avLst>
              <a:gd name="adj" fmla="val 12125"/>
            </a:avLst>
          </a:prstGeom>
          <a:solidFill>
            <a:srgbClr val="F5F5F7"/>
          </a:solidFill>
          <a:ln>
            <a:noFill/>
          </a:ln>
        </p:spPr>
      </p:sp>
      <p:pic>
        <p:nvPicPr>
          <p:cNvPr id="108" name="Feature icon 108" descr=""/>
          <p:cNvPicPr>
            <a:picLocks noChangeAspect="1"/>
          </p:cNvPicPr>
          <p:nvPr/>
        </p:nvPicPr>
        <p:blipFill>
          <a:blip r:embed="rId10"/>
          <a:stretch>
            <a:fillRect/>
          </a:stretch>
        </p:blipFill>
        <p:spPr>
          <a:xfrm>
            <a:off x="3291840" y="2557345"/>
            <a:ext cx="155448" cy="155448"/>
          </a:xfrm>
          <a:prstGeom prst="rect">
            <a:avLst/>
          </a:prstGeom>
          <a:noFill/>
          <a:ln>
            <a:noFill/>
          </a:ln>
        </p:spPr>
      </p:pic>
      <p:sp>
        <p:nvSpPr>
          <p:cNvPr id="109" name="Feature title 109"/>
          <p:cNvSpPr txBox="1"/>
          <p:nvPr/>
        </p:nvSpPr>
        <p:spPr>
          <a:xfrm>
            <a:off x="3511296" y="2551592"/>
            <a:ext cx="2340864" cy="16695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50" b="0" i="0" dirty="0">
                <a:solidFill>
                  <a:srgbClr val="111113"/>
                </a:solidFill>
                <a:latin typeface="Google Sans Flex SemiBold"/>
                <a:ea typeface="Google Sans Flex SemiBold"/>
                <a:cs typeface="Google Sans Flex SemiBold"/>
                <a:sym typeface="Google Sans Flex SemiBold"/>
              </a:rPr>
              <a:t xml:space="preserve">Immersive walkthrough</a:t>
            </a:r>
            <a:endParaRPr lang="en-GB" sz="1050" dirty="0">
              <a:latin typeface="Google Sans Flex SemiBold"/>
              <a:ea typeface="Google Sans Flex SemiBold"/>
              <a:cs typeface="Google Sans Flex SemiBold"/>
              <a:sym typeface="Google Sans Flex SemiBold"/>
            </a:endParaRPr>
          </a:p>
        </p:txBody>
      </p:sp>
      <p:sp>
        <p:nvSpPr>
          <p:cNvPr id="110" name="Feature line 110"/>
          <p:cNvSpPr txBox="1"/>
          <p:nvPr/>
        </p:nvSpPr>
        <p:spPr>
          <a:xfrm>
            <a:off x="3291840" y="2755122"/>
            <a:ext cx="2560320" cy="290023"/>
          </a:xfrm>
          <a:prstGeom prst="rect">
            <a:avLst/>
          </a:prstGeom>
          <a:noFill/>
          <a:ln>
            <a:noFill/>
          </a:ln>
        </p:spPr>
        <p:txBody>
          <a:bodyPr wrap="square" lIns="0" tIns="0" rIns="0" bIns="0" anchor="t" rtlCol="0">
            <a:noAutofit/>
          </a:bodyPr>
          <a:lstStyle/>
          <a:p>
            <a:pPr marL="0" indent="0" algn="l" rtl="0">
              <a:lnSpc>
                <a:spcPct val="96000"/>
              </a:lnSpc>
              <a:spcBef>
                <a:spcPts val="0"/>
              </a:spcBef>
              <a:spcAft>
                <a:spcPts val="0"/>
              </a:spcAft>
              <a:buNone/>
            </a:pPr>
            <a:r>
              <a:rPr lang="en-GB" sz="950" b="0" i="0" dirty="0">
                <a:solidFill>
                  <a:srgbClr val="46464B"/>
                </a:solidFill>
                <a:latin typeface="Google Sans Flex"/>
                <a:ea typeface="Google Sans Flex"/>
                <a:cs typeface="Google Sans Flex"/>
                <a:sym typeface="Google Sans Flex"/>
              </a:rPr>
              <a:t xml:space="preserve">Walk room to room, jump to any room, and take the stairs up to the roof.</a:t>
            </a:r>
            <a:endParaRPr lang="en-GB" sz="950" dirty="0">
              <a:latin typeface="Google Sans Flex"/>
              <a:ea typeface="Google Sans Flex"/>
              <a:cs typeface="Google Sans Flex"/>
              <a:sym typeface="Google Sans Flex"/>
            </a:endParaRPr>
          </a:p>
        </p:txBody>
      </p:sp>
      <p:sp>
        <p:nvSpPr>
          <p:cNvPr id="111" name="Feature card 111"/>
          <p:cNvSpPr/>
          <p:nvPr/>
        </p:nvSpPr>
        <p:spPr>
          <a:xfrm>
            <a:off x="6025896" y="2496728"/>
            <a:ext cx="2761488" cy="603281"/>
          </a:xfrm>
          <a:prstGeom prst="roundRect">
            <a:avLst>
              <a:gd name="adj" fmla="val 12125"/>
            </a:avLst>
          </a:prstGeom>
          <a:solidFill>
            <a:srgbClr val="F5F5F7"/>
          </a:solidFill>
          <a:ln>
            <a:noFill/>
          </a:ln>
        </p:spPr>
      </p:sp>
      <p:pic>
        <p:nvPicPr>
          <p:cNvPr id="112" name="Feature icon 112" descr=""/>
          <p:cNvPicPr>
            <a:picLocks noChangeAspect="1"/>
          </p:cNvPicPr>
          <p:nvPr/>
        </p:nvPicPr>
        <p:blipFill>
          <a:blip r:embed="rId11"/>
          <a:stretch>
            <a:fillRect/>
          </a:stretch>
        </p:blipFill>
        <p:spPr>
          <a:xfrm>
            <a:off x="6126480" y="2557345"/>
            <a:ext cx="155448" cy="155448"/>
          </a:xfrm>
          <a:prstGeom prst="rect">
            <a:avLst/>
          </a:prstGeom>
          <a:noFill/>
          <a:ln>
            <a:noFill/>
          </a:ln>
        </p:spPr>
      </p:pic>
      <p:sp>
        <p:nvSpPr>
          <p:cNvPr id="113" name="Feature title 113"/>
          <p:cNvSpPr txBox="1"/>
          <p:nvPr/>
        </p:nvSpPr>
        <p:spPr>
          <a:xfrm>
            <a:off x="6345936" y="2551592"/>
            <a:ext cx="2340864" cy="16695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50" b="0" i="0" dirty="0">
                <a:solidFill>
                  <a:srgbClr val="111113"/>
                </a:solidFill>
                <a:latin typeface="Google Sans Flex SemiBold"/>
                <a:ea typeface="Google Sans Flex SemiBold"/>
                <a:cs typeface="Google Sans Flex SemiBold"/>
                <a:sym typeface="Google Sans Flex SemiBold"/>
              </a:rPr>
              <a:t xml:space="preserve">Night lighting and photoreal renders</a:t>
            </a:r>
            <a:endParaRPr lang="en-GB" sz="1050" dirty="0">
              <a:latin typeface="Google Sans Flex SemiBold"/>
              <a:ea typeface="Google Sans Flex SemiBold"/>
              <a:cs typeface="Google Sans Flex SemiBold"/>
              <a:sym typeface="Google Sans Flex SemiBold"/>
            </a:endParaRPr>
          </a:p>
        </p:txBody>
      </p:sp>
      <p:sp>
        <p:nvSpPr>
          <p:cNvPr id="114" name="Feature line 114"/>
          <p:cNvSpPr txBox="1"/>
          <p:nvPr/>
        </p:nvSpPr>
        <p:spPr>
          <a:xfrm>
            <a:off x="6126480" y="2755122"/>
            <a:ext cx="2560320" cy="290023"/>
          </a:xfrm>
          <a:prstGeom prst="rect">
            <a:avLst/>
          </a:prstGeom>
          <a:noFill/>
          <a:ln>
            <a:noFill/>
          </a:ln>
        </p:spPr>
        <p:txBody>
          <a:bodyPr wrap="square" lIns="0" tIns="0" rIns="0" bIns="0" anchor="t" rtlCol="0">
            <a:noAutofit/>
          </a:bodyPr>
          <a:lstStyle/>
          <a:p>
            <a:pPr marL="0" indent="0" algn="l" rtl="0">
              <a:lnSpc>
                <a:spcPct val="96000"/>
              </a:lnSpc>
              <a:spcBef>
                <a:spcPts val="0"/>
              </a:spcBef>
              <a:spcAft>
                <a:spcPts val="0"/>
              </a:spcAft>
              <a:buNone/>
            </a:pPr>
            <a:r>
              <a:rPr lang="en-GB" sz="950" b="0" i="0" dirty="0">
                <a:solidFill>
                  <a:srgbClr val="46464B"/>
                </a:solidFill>
                <a:latin typeface="Google Sans Flex"/>
                <a:ea typeface="Google Sans Flex"/>
                <a:cs typeface="Google Sans Flex"/>
                <a:sym typeface="Google Sans Flex"/>
              </a:rPr>
              <a:t xml:space="preserve">Light the house at night, or turn any view into a photoreal image in seconds.</a:t>
            </a:r>
            <a:endParaRPr lang="en-GB" sz="950" dirty="0">
              <a:latin typeface="Google Sans Flex"/>
              <a:ea typeface="Google Sans Flex"/>
              <a:cs typeface="Google Sans Flex"/>
              <a:sym typeface="Google Sans Flex"/>
            </a:endParaRPr>
          </a:p>
        </p:txBody>
      </p:sp>
      <p:sp>
        <p:nvSpPr>
          <p:cNvPr id="115" name="Feature card 115"/>
          <p:cNvSpPr/>
          <p:nvPr/>
        </p:nvSpPr>
        <p:spPr>
          <a:xfrm>
            <a:off x="356616" y="3173161"/>
            <a:ext cx="2761488" cy="603281"/>
          </a:xfrm>
          <a:prstGeom prst="roundRect">
            <a:avLst>
              <a:gd name="adj" fmla="val 12125"/>
            </a:avLst>
          </a:prstGeom>
          <a:solidFill>
            <a:srgbClr val="F5F5F7"/>
          </a:solidFill>
          <a:ln>
            <a:noFill/>
          </a:ln>
        </p:spPr>
      </p:sp>
      <p:pic>
        <p:nvPicPr>
          <p:cNvPr id="116" name="Feature icon 116" descr=""/>
          <p:cNvPicPr>
            <a:picLocks noChangeAspect="1"/>
          </p:cNvPicPr>
          <p:nvPr/>
        </p:nvPicPr>
        <p:blipFill>
          <a:blip r:embed="rId12"/>
          <a:stretch>
            <a:fillRect/>
          </a:stretch>
        </p:blipFill>
        <p:spPr>
          <a:xfrm>
            <a:off x="457200" y="3233778"/>
            <a:ext cx="155448" cy="155448"/>
          </a:xfrm>
          <a:prstGeom prst="rect">
            <a:avLst/>
          </a:prstGeom>
          <a:noFill/>
          <a:ln>
            <a:noFill/>
          </a:ln>
        </p:spPr>
      </p:pic>
      <p:sp>
        <p:nvSpPr>
          <p:cNvPr id="117" name="Feature title 117"/>
          <p:cNvSpPr txBox="1"/>
          <p:nvPr/>
        </p:nvSpPr>
        <p:spPr>
          <a:xfrm>
            <a:off x="676656" y="3228025"/>
            <a:ext cx="2340864" cy="16695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50" b="0" i="0" dirty="0">
                <a:solidFill>
                  <a:srgbClr val="111113"/>
                </a:solidFill>
                <a:latin typeface="Google Sans Flex SemiBold"/>
                <a:ea typeface="Google Sans Flex SemiBold"/>
                <a:cs typeface="Google Sans Flex SemiBold"/>
                <a:sym typeface="Google Sans Flex SemiBold"/>
              </a:rPr>
              <a:t xml:space="preserve">Comments where you stand</a:t>
            </a:r>
            <a:endParaRPr lang="en-GB" sz="1050" dirty="0">
              <a:latin typeface="Google Sans Flex SemiBold"/>
              <a:ea typeface="Google Sans Flex SemiBold"/>
              <a:cs typeface="Google Sans Flex SemiBold"/>
              <a:sym typeface="Google Sans Flex SemiBold"/>
            </a:endParaRPr>
          </a:p>
        </p:txBody>
      </p:sp>
      <p:sp>
        <p:nvSpPr>
          <p:cNvPr id="118" name="Feature line 118"/>
          <p:cNvSpPr txBox="1"/>
          <p:nvPr/>
        </p:nvSpPr>
        <p:spPr>
          <a:xfrm>
            <a:off x="457200" y="3431555"/>
            <a:ext cx="2560320" cy="290023"/>
          </a:xfrm>
          <a:prstGeom prst="rect">
            <a:avLst/>
          </a:prstGeom>
          <a:noFill/>
          <a:ln>
            <a:noFill/>
          </a:ln>
        </p:spPr>
        <p:txBody>
          <a:bodyPr wrap="square" lIns="0" tIns="0" rIns="0" bIns="0" anchor="t" rtlCol="0">
            <a:noAutofit/>
          </a:bodyPr>
          <a:lstStyle/>
          <a:p>
            <a:pPr marL="0" indent="0" algn="l" rtl="0">
              <a:lnSpc>
                <a:spcPct val="96000"/>
              </a:lnSpc>
              <a:spcBef>
                <a:spcPts val="0"/>
              </a:spcBef>
              <a:spcAft>
                <a:spcPts val="0"/>
              </a:spcAft>
              <a:buNone/>
            </a:pPr>
            <a:r>
              <a:rPr lang="en-GB" sz="950" b="0" i="0" dirty="0">
                <a:solidFill>
                  <a:srgbClr val="46464B"/>
                </a:solidFill>
                <a:latin typeface="Google Sans Flex"/>
                <a:ea typeface="Google Sans Flex"/>
                <a:cs typeface="Google Sans Flex"/>
                <a:sym typeface="Google Sans Flex"/>
              </a:rPr>
              <a:t xml:space="preserve">Pin a note on any wall, window or room as you walk; everyone on the project sees it.</a:t>
            </a:r>
            <a:endParaRPr lang="en-GB" sz="950" dirty="0">
              <a:latin typeface="Google Sans Flex"/>
              <a:ea typeface="Google Sans Flex"/>
              <a:cs typeface="Google Sans Flex"/>
              <a:sym typeface="Google Sans Flex"/>
            </a:endParaRPr>
          </a:p>
        </p:txBody>
      </p:sp>
      <p:sp>
        <p:nvSpPr>
          <p:cNvPr id="119" name="Feature card 119"/>
          <p:cNvSpPr/>
          <p:nvPr/>
        </p:nvSpPr>
        <p:spPr>
          <a:xfrm>
            <a:off x="3191256" y="3173161"/>
            <a:ext cx="2761488" cy="603281"/>
          </a:xfrm>
          <a:prstGeom prst="roundRect">
            <a:avLst>
              <a:gd name="adj" fmla="val 12125"/>
            </a:avLst>
          </a:prstGeom>
          <a:solidFill>
            <a:srgbClr val="F5F5F7"/>
          </a:solidFill>
          <a:ln>
            <a:noFill/>
          </a:ln>
        </p:spPr>
      </p:sp>
      <p:pic>
        <p:nvPicPr>
          <p:cNvPr id="120" name="Feature icon 120" descr=""/>
          <p:cNvPicPr>
            <a:picLocks noChangeAspect="1"/>
          </p:cNvPicPr>
          <p:nvPr/>
        </p:nvPicPr>
        <p:blipFill>
          <a:blip r:embed="rId13"/>
          <a:stretch>
            <a:fillRect/>
          </a:stretch>
        </p:blipFill>
        <p:spPr>
          <a:xfrm>
            <a:off x="3291840" y="3233778"/>
            <a:ext cx="155448" cy="155448"/>
          </a:xfrm>
          <a:prstGeom prst="rect">
            <a:avLst/>
          </a:prstGeom>
          <a:noFill/>
          <a:ln>
            <a:noFill/>
          </a:ln>
        </p:spPr>
      </p:pic>
      <p:sp>
        <p:nvSpPr>
          <p:cNvPr id="121" name="Feature title 121"/>
          <p:cNvSpPr txBox="1"/>
          <p:nvPr/>
        </p:nvSpPr>
        <p:spPr>
          <a:xfrm>
            <a:off x="3511296" y="3228025"/>
            <a:ext cx="2340864" cy="16695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50" b="0" i="0" dirty="0">
                <a:solidFill>
                  <a:srgbClr val="111113"/>
                </a:solidFill>
                <a:latin typeface="Google Sans Flex SemiBold"/>
                <a:ea typeface="Google Sans Flex SemiBold"/>
                <a:cs typeface="Google Sans Flex SemiBold"/>
                <a:sym typeface="Google Sans Flex SemiBold"/>
              </a:rPr>
              <a:t xml:space="preserve">Comments addressed for you</a:t>
            </a:r>
            <a:endParaRPr lang="en-GB" sz="1050" dirty="0">
              <a:latin typeface="Google Sans Flex SemiBold"/>
              <a:ea typeface="Google Sans Flex SemiBold"/>
              <a:cs typeface="Google Sans Flex SemiBold"/>
              <a:sym typeface="Google Sans Flex SemiBold"/>
            </a:endParaRPr>
          </a:p>
        </p:txBody>
      </p:sp>
      <p:sp>
        <p:nvSpPr>
          <p:cNvPr id="122" name="Feature line 122"/>
          <p:cNvSpPr txBox="1"/>
          <p:nvPr/>
        </p:nvSpPr>
        <p:spPr>
          <a:xfrm>
            <a:off x="3291840" y="3431555"/>
            <a:ext cx="2560320" cy="290023"/>
          </a:xfrm>
          <a:prstGeom prst="rect">
            <a:avLst/>
          </a:prstGeom>
          <a:noFill/>
          <a:ln>
            <a:noFill/>
          </a:ln>
        </p:spPr>
        <p:txBody>
          <a:bodyPr wrap="square" lIns="0" tIns="0" rIns="0" bIns="0" anchor="t" rtlCol="0">
            <a:noAutofit/>
          </a:bodyPr>
          <a:lstStyle/>
          <a:p>
            <a:pPr marL="0" indent="0" algn="l" rtl="0">
              <a:lnSpc>
                <a:spcPct val="96000"/>
              </a:lnSpc>
              <a:spcBef>
                <a:spcPts val="0"/>
              </a:spcBef>
              <a:spcAft>
                <a:spcPts val="0"/>
              </a:spcAft>
              <a:buNone/>
            </a:pPr>
            <a:r>
              <a:rPr lang="en-GB" sz="950" b="0" i="0" dirty="0">
                <a:solidFill>
                  <a:srgbClr val="46464B"/>
                </a:solidFill>
                <a:latin typeface="Google Sans Flex"/>
                <a:ea typeface="Google Sans Flex"/>
                <a:cs typeface="Google Sans Flex"/>
                <a:sym typeface="Google Sans Flex"/>
              </a:rPr>
              <a:t xml:space="preserve">The AI architect makes each change, or names the rule that stops it and offers another way.</a:t>
            </a:r>
            <a:endParaRPr lang="en-GB" sz="950" dirty="0">
              <a:latin typeface="Google Sans Flex"/>
              <a:ea typeface="Google Sans Flex"/>
              <a:cs typeface="Google Sans Flex"/>
              <a:sym typeface="Google Sans Flex"/>
            </a:endParaRPr>
          </a:p>
        </p:txBody>
      </p:sp>
      <p:sp>
        <p:nvSpPr>
          <p:cNvPr id="123" name="Feature card 123"/>
          <p:cNvSpPr/>
          <p:nvPr/>
        </p:nvSpPr>
        <p:spPr>
          <a:xfrm>
            <a:off x="6025896" y="3173161"/>
            <a:ext cx="2761488" cy="603281"/>
          </a:xfrm>
          <a:prstGeom prst="roundRect">
            <a:avLst>
              <a:gd name="adj" fmla="val 12125"/>
            </a:avLst>
          </a:prstGeom>
          <a:solidFill>
            <a:srgbClr val="F5F5F7"/>
          </a:solidFill>
          <a:ln>
            <a:noFill/>
          </a:ln>
        </p:spPr>
      </p:sp>
      <p:pic>
        <p:nvPicPr>
          <p:cNvPr id="124" name="Feature icon 124" descr=""/>
          <p:cNvPicPr>
            <a:picLocks noChangeAspect="1"/>
          </p:cNvPicPr>
          <p:nvPr/>
        </p:nvPicPr>
        <p:blipFill>
          <a:blip r:embed="rId14"/>
          <a:stretch>
            <a:fillRect/>
          </a:stretch>
        </p:blipFill>
        <p:spPr>
          <a:xfrm>
            <a:off x="6126480" y="3233778"/>
            <a:ext cx="155448" cy="155448"/>
          </a:xfrm>
          <a:prstGeom prst="rect">
            <a:avLst/>
          </a:prstGeom>
          <a:noFill/>
          <a:ln>
            <a:noFill/>
          </a:ln>
        </p:spPr>
      </p:pic>
      <p:sp>
        <p:nvSpPr>
          <p:cNvPr id="125" name="Feature title 125"/>
          <p:cNvSpPr txBox="1"/>
          <p:nvPr/>
        </p:nvSpPr>
        <p:spPr>
          <a:xfrm>
            <a:off x="6345936" y="3228025"/>
            <a:ext cx="2340864" cy="16695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50" b="0" i="0" dirty="0">
                <a:solidFill>
                  <a:srgbClr val="111113"/>
                </a:solidFill>
                <a:latin typeface="Google Sans Flex SemiBold"/>
                <a:ea typeface="Google Sans Flex SemiBold"/>
                <a:cs typeface="Google Sans Flex SemiBold"/>
                <a:sym typeface="Google Sans Flex SemiBold"/>
              </a:rPr>
              <a:t xml:space="preserve">Change it by asking</a:t>
            </a:r>
            <a:endParaRPr lang="en-GB" sz="1050" dirty="0">
              <a:latin typeface="Google Sans Flex SemiBold"/>
              <a:ea typeface="Google Sans Flex SemiBold"/>
              <a:cs typeface="Google Sans Flex SemiBold"/>
              <a:sym typeface="Google Sans Flex SemiBold"/>
            </a:endParaRPr>
          </a:p>
        </p:txBody>
      </p:sp>
      <p:sp>
        <p:nvSpPr>
          <p:cNvPr id="126" name="Feature line 126"/>
          <p:cNvSpPr txBox="1"/>
          <p:nvPr/>
        </p:nvSpPr>
        <p:spPr>
          <a:xfrm>
            <a:off x="6126480" y="3431555"/>
            <a:ext cx="2560320" cy="290023"/>
          </a:xfrm>
          <a:prstGeom prst="rect">
            <a:avLst/>
          </a:prstGeom>
          <a:noFill/>
          <a:ln>
            <a:noFill/>
          </a:ln>
        </p:spPr>
        <p:txBody>
          <a:bodyPr wrap="square" lIns="0" tIns="0" rIns="0" bIns="0" anchor="t" rtlCol="0">
            <a:noAutofit/>
          </a:bodyPr>
          <a:lstStyle/>
          <a:p>
            <a:pPr marL="0" indent="0" algn="l" rtl="0">
              <a:lnSpc>
                <a:spcPct val="96000"/>
              </a:lnSpc>
              <a:spcBef>
                <a:spcPts val="0"/>
              </a:spcBef>
              <a:spcAft>
                <a:spcPts val="0"/>
              </a:spcAft>
              <a:buNone/>
            </a:pPr>
            <a:r>
              <a:rPr lang="en-GB" sz="950" b="0" i="0" dirty="0">
                <a:solidFill>
                  <a:srgbClr val="46464B"/>
                </a:solidFill>
                <a:latin typeface="Google Sans Flex"/>
                <a:ea typeface="Google Sans Flex"/>
                <a:cs typeface="Google Sans Flex"/>
                <a:sym typeface="Google Sans Flex"/>
              </a:rPr>
              <a:t xml:space="preserve">Type a request in plain language and get a new, checked version.</a:t>
            </a:r>
            <a:endParaRPr lang="en-GB" sz="950" dirty="0">
              <a:latin typeface="Google Sans Flex"/>
              <a:ea typeface="Google Sans Flex"/>
              <a:cs typeface="Google Sans Flex"/>
              <a:sym typeface="Google Sans Flex"/>
            </a:endParaRPr>
          </a:p>
        </p:txBody>
      </p:sp>
      <p:sp>
        <p:nvSpPr>
          <p:cNvPr id="127" name="Feature card 127"/>
          <p:cNvSpPr/>
          <p:nvPr/>
        </p:nvSpPr>
        <p:spPr>
          <a:xfrm>
            <a:off x="356616" y="3849595"/>
            <a:ext cx="2761488" cy="603281"/>
          </a:xfrm>
          <a:prstGeom prst="roundRect">
            <a:avLst>
              <a:gd name="adj" fmla="val 12125"/>
            </a:avLst>
          </a:prstGeom>
          <a:solidFill>
            <a:srgbClr val="F5F5F7"/>
          </a:solidFill>
          <a:ln>
            <a:noFill/>
          </a:ln>
        </p:spPr>
      </p:sp>
      <p:pic>
        <p:nvPicPr>
          <p:cNvPr id="128" name="Feature icon 128" descr=""/>
          <p:cNvPicPr>
            <a:picLocks noChangeAspect="1"/>
          </p:cNvPicPr>
          <p:nvPr/>
        </p:nvPicPr>
        <p:blipFill>
          <a:blip r:embed="rId15"/>
          <a:stretch>
            <a:fillRect/>
          </a:stretch>
        </p:blipFill>
        <p:spPr>
          <a:xfrm>
            <a:off x="457200" y="3910212"/>
            <a:ext cx="155448" cy="155448"/>
          </a:xfrm>
          <a:prstGeom prst="rect">
            <a:avLst/>
          </a:prstGeom>
          <a:noFill/>
          <a:ln>
            <a:noFill/>
          </a:ln>
        </p:spPr>
      </p:pic>
      <p:sp>
        <p:nvSpPr>
          <p:cNvPr id="129" name="Feature title 129"/>
          <p:cNvSpPr txBox="1"/>
          <p:nvPr/>
        </p:nvSpPr>
        <p:spPr>
          <a:xfrm>
            <a:off x="676656" y="3904459"/>
            <a:ext cx="2340864" cy="16695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50" b="0" i="0" dirty="0">
                <a:solidFill>
                  <a:srgbClr val="111113"/>
                </a:solidFill>
                <a:latin typeface="Google Sans Flex SemiBold"/>
                <a:ea typeface="Google Sans Flex SemiBold"/>
                <a:cs typeface="Google Sans Flex SemiBold"/>
                <a:sym typeface="Google Sans Flex SemiBold"/>
              </a:rPr>
              <a:t xml:space="preserve">Collaborate on one project</a:t>
            </a:r>
            <a:endParaRPr lang="en-GB" sz="1050" dirty="0">
              <a:latin typeface="Google Sans Flex SemiBold"/>
              <a:ea typeface="Google Sans Flex SemiBold"/>
              <a:cs typeface="Google Sans Flex SemiBold"/>
              <a:sym typeface="Google Sans Flex SemiBold"/>
            </a:endParaRPr>
          </a:p>
        </p:txBody>
      </p:sp>
      <p:sp>
        <p:nvSpPr>
          <p:cNvPr id="130" name="Feature line 130"/>
          <p:cNvSpPr txBox="1"/>
          <p:nvPr/>
        </p:nvSpPr>
        <p:spPr>
          <a:xfrm>
            <a:off x="457200" y="4107989"/>
            <a:ext cx="2560320" cy="290023"/>
          </a:xfrm>
          <a:prstGeom prst="rect">
            <a:avLst/>
          </a:prstGeom>
          <a:noFill/>
          <a:ln>
            <a:noFill/>
          </a:ln>
        </p:spPr>
        <p:txBody>
          <a:bodyPr wrap="square" lIns="0" tIns="0" rIns="0" bIns="0" anchor="t" rtlCol="0">
            <a:noAutofit/>
          </a:bodyPr>
          <a:lstStyle/>
          <a:p>
            <a:pPr marL="0" indent="0" algn="l" rtl="0">
              <a:lnSpc>
                <a:spcPct val="96000"/>
              </a:lnSpc>
              <a:spcBef>
                <a:spcPts val="0"/>
              </a:spcBef>
              <a:spcAft>
                <a:spcPts val="0"/>
              </a:spcAft>
              <a:buNone/>
            </a:pPr>
            <a:r>
              <a:rPr lang="en-GB" sz="950" b="0" i="0" dirty="0">
                <a:solidFill>
                  <a:srgbClr val="46464B"/>
                </a:solidFill>
                <a:latin typeface="Google Sans Flex"/>
                <a:ea typeface="Google Sans Flex"/>
                <a:cs typeface="Google Sans Flex"/>
                <a:sym typeface="Google Sans Flex"/>
              </a:rPr>
              <a:t xml:space="preserve">Owners, family, architects and builders together; client links need no account.</a:t>
            </a:r>
            <a:endParaRPr lang="en-GB" sz="950" dirty="0">
              <a:latin typeface="Google Sans Flex"/>
              <a:ea typeface="Google Sans Flex"/>
              <a:cs typeface="Google Sans Flex"/>
              <a:sym typeface="Google Sans Flex"/>
            </a:endParaRPr>
          </a:p>
        </p:txBody>
      </p:sp>
      <p:sp>
        <p:nvSpPr>
          <p:cNvPr id="131" name="Feature card 131"/>
          <p:cNvSpPr/>
          <p:nvPr/>
        </p:nvSpPr>
        <p:spPr>
          <a:xfrm>
            <a:off x="3191256" y="3849595"/>
            <a:ext cx="2761488" cy="603281"/>
          </a:xfrm>
          <a:prstGeom prst="roundRect">
            <a:avLst>
              <a:gd name="adj" fmla="val 12125"/>
            </a:avLst>
          </a:prstGeom>
          <a:solidFill>
            <a:srgbClr val="F5F5F7"/>
          </a:solidFill>
          <a:ln>
            <a:noFill/>
          </a:ln>
        </p:spPr>
      </p:sp>
      <p:pic>
        <p:nvPicPr>
          <p:cNvPr id="132" name="Feature icon 132" descr=""/>
          <p:cNvPicPr>
            <a:picLocks noChangeAspect="1"/>
          </p:cNvPicPr>
          <p:nvPr/>
        </p:nvPicPr>
        <p:blipFill>
          <a:blip r:embed="rId16"/>
          <a:stretch>
            <a:fillRect/>
          </a:stretch>
        </p:blipFill>
        <p:spPr>
          <a:xfrm>
            <a:off x="3291840" y="3910212"/>
            <a:ext cx="155448" cy="155448"/>
          </a:xfrm>
          <a:prstGeom prst="rect">
            <a:avLst/>
          </a:prstGeom>
          <a:noFill/>
          <a:ln>
            <a:noFill/>
          </a:ln>
        </p:spPr>
      </p:pic>
      <p:sp>
        <p:nvSpPr>
          <p:cNvPr id="133" name="Feature title 133"/>
          <p:cNvSpPr txBox="1"/>
          <p:nvPr/>
        </p:nvSpPr>
        <p:spPr>
          <a:xfrm>
            <a:off x="3511296" y="3904459"/>
            <a:ext cx="2340864" cy="16695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50" b="0" i="0" dirty="0">
                <a:solidFill>
                  <a:srgbClr val="111113"/>
                </a:solidFill>
                <a:latin typeface="Google Sans Flex SemiBold"/>
                <a:ea typeface="Google Sans Flex SemiBold"/>
                <a:cs typeface="Google Sans Flex SemiBold"/>
                <a:sym typeface="Google Sans Flex SemiBold"/>
              </a:rPr>
              <a:t xml:space="preserve">Versions and drawings</a:t>
            </a:r>
            <a:endParaRPr lang="en-GB" sz="1050" dirty="0">
              <a:latin typeface="Google Sans Flex SemiBold"/>
              <a:ea typeface="Google Sans Flex SemiBold"/>
              <a:cs typeface="Google Sans Flex SemiBold"/>
              <a:sym typeface="Google Sans Flex SemiBold"/>
            </a:endParaRPr>
          </a:p>
        </p:txBody>
      </p:sp>
      <p:sp>
        <p:nvSpPr>
          <p:cNvPr id="134" name="Feature line 134"/>
          <p:cNvSpPr txBox="1"/>
          <p:nvPr/>
        </p:nvSpPr>
        <p:spPr>
          <a:xfrm>
            <a:off x="3291840" y="4107989"/>
            <a:ext cx="2560320" cy="290023"/>
          </a:xfrm>
          <a:prstGeom prst="rect">
            <a:avLst/>
          </a:prstGeom>
          <a:noFill/>
          <a:ln>
            <a:noFill/>
          </a:ln>
        </p:spPr>
        <p:txBody>
          <a:bodyPr wrap="square" lIns="0" tIns="0" rIns="0" bIns="0" anchor="t" rtlCol="0">
            <a:noAutofit/>
          </a:bodyPr>
          <a:lstStyle/>
          <a:p>
            <a:pPr marL="0" indent="0" algn="l" rtl="0">
              <a:lnSpc>
                <a:spcPct val="96000"/>
              </a:lnSpc>
              <a:spcBef>
                <a:spcPts val="0"/>
              </a:spcBef>
              <a:spcAft>
                <a:spcPts val="0"/>
              </a:spcAft>
              <a:buNone/>
            </a:pPr>
            <a:r>
              <a:rPr lang="en-GB" sz="950" b="0" i="0" dirty="0">
                <a:solidFill>
                  <a:srgbClr val="46464B"/>
                </a:solidFill>
                <a:latin typeface="Google Sans Flex"/>
                <a:ea typeface="Google Sans Flex"/>
                <a:cs typeface="Google Sans Flex"/>
                <a:sym typeface="Google Sans Flex"/>
              </a:rPr>
              <a:t xml:space="preserve">Every version is kept with its changes in feet, plus a 1:100 print set and a compliance report.</a:t>
            </a:r>
            <a:endParaRPr lang="en-GB" sz="950" dirty="0">
              <a:latin typeface="Google Sans Flex"/>
              <a:ea typeface="Google Sans Flex"/>
              <a:cs typeface="Google Sans Flex"/>
              <a:sym typeface="Google Sans Flex"/>
            </a:endParaRPr>
          </a:p>
        </p:txBody>
      </p:sp>
      <p:sp>
        <p:nvSpPr>
          <p:cNvPr id="135" name="Feature card 135"/>
          <p:cNvSpPr/>
          <p:nvPr/>
        </p:nvSpPr>
        <p:spPr>
          <a:xfrm>
            <a:off x="6025896" y="3849595"/>
            <a:ext cx="2761488" cy="603281"/>
          </a:xfrm>
          <a:prstGeom prst="roundRect">
            <a:avLst>
              <a:gd name="adj" fmla="val 12125"/>
            </a:avLst>
          </a:prstGeom>
          <a:solidFill>
            <a:srgbClr val="F5F5F7"/>
          </a:solidFill>
          <a:ln>
            <a:noFill/>
          </a:ln>
        </p:spPr>
      </p:sp>
      <p:pic>
        <p:nvPicPr>
          <p:cNvPr id="136" name="Feature icon 136" descr=""/>
          <p:cNvPicPr>
            <a:picLocks noChangeAspect="1"/>
          </p:cNvPicPr>
          <p:nvPr/>
        </p:nvPicPr>
        <p:blipFill>
          <a:blip r:embed="rId17"/>
          <a:stretch>
            <a:fillRect/>
          </a:stretch>
        </p:blipFill>
        <p:spPr>
          <a:xfrm>
            <a:off x="6126480" y="3910212"/>
            <a:ext cx="155448" cy="155448"/>
          </a:xfrm>
          <a:prstGeom prst="rect">
            <a:avLst/>
          </a:prstGeom>
          <a:noFill/>
          <a:ln>
            <a:noFill/>
          </a:ln>
        </p:spPr>
      </p:pic>
      <p:sp>
        <p:nvSpPr>
          <p:cNvPr id="137" name="Feature title 137"/>
          <p:cNvSpPr txBox="1"/>
          <p:nvPr/>
        </p:nvSpPr>
        <p:spPr>
          <a:xfrm>
            <a:off x="6345936" y="3904459"/>
            <a:ext cx="2340864" cy="16695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50" b="0" i="0" dirty="0">
                <a:solidFill>
                  <a:srgbClr val="111113"/>
                </a:solidFill>
                <a:latin typeface="Google Sans Flex SemiBold"/>
                <a:ea typeface="Google Sans Flex SemiBold"/>
                <a:cs typeface="Google Sans Flex SemiBold"/>
                <a:sym typeface="Google Sans Flex SemiBold"/>
              </a:rPr>
              <a:t xml:space="preserve">Bylaws for your area</a:t>
            </a:r>
            <a:endParaRPr lang="en-GB" sz="1050" dirty="0">
              <a:latin typeface="Google Sans Flex SemiBold"/>
              <a:ea typeface="Google Sans Flex SemiBold"/>
              <a:cs typeface="Google Sans Flex SemiBold"/>
              <a:sym typeface="Google Sans Flex SemiBold"/>
            </a:endParaRPr>
          </a:p>
        </p:txBody>
      </p:sp>
      <p:sp>
        <p:nvSpPr>
          <p:cNvPr id="138" name="Feature line 138"/>
          <p:cNvSpPr txBox="1"/>
          <p:nvPr/>
        </p:nvSpPr>
        <p:spPr>
          <a:xfrm>
            <a:off x="6126480" y="4107989"/>
            <a:ext cx="2560320" cy="290023"/>
          </a:xfrm>
          <a:prstGeom prst="rect">
            <a:avLst/>
          </a:prstGeom>
          <a:noFill/>
          <a:ln>
            <a:noFill/>
          </a:ln>
        </p:spPr>
        <p:txBody>
          <a:bodyPr wrap="square" lIns="0" tIns="0" rIns="0" bIns="0" anchor="t" rtlCol="0">
            <a:noAutofit/>
          </a:bodyPr>
          <a:lstStyle/>
          <a:p>
            <a:pPr marL="0" indent="0" algn="l" rtl="0">
              <a:lnSpc>
                <a:spcPct val="96000"/>
              </a:lnSpc>
              <a:spcBef>
                <a:spcPts val="0"/>
              </a:spcBef>
              <a:spcAft>
                <a:spcPts val="0"/>
              </a:spcAft>
              <a:buNone/>
            </a:pPr>
            <a:r>
              <a:rPr lang="en-GB" sz="950" b="0" i="0" dirty="0">
                <a:solidFill>
                  <a:srgbClr val="46464B"/>
                </a:solidFill>
                <a:latin typeface="Google Sans Flex"/>
                <a:ea typeface="Google Sans Flex"/>
                <a:cs typeface="Google Sans Flex"/>
                <a:sym typeface="Google Sans Flex"/>
              </a:rPr>
              <a:t xml:space="preserve">LDA in the prototype; other authorities’ rules load as data.</a:t>
            </a:r>
            <a:endParaRPr lang="en-GB" sz="950" dirty="0">
              <a:latin typeface="Google Sans Flex"/>
              <a:ea typeface="Google Sans Flex"/>
              <a:cs typeface="Google Sans Flex"/>
              <a:sym typeface="Google Sans Flex"/>
            </a:endParaRPr>
          </a:p>
        </p:txBody>
      </p:sp>
      <p:sp>
        <p:nvSpPr>
          <p:cNvPr id="139" name="Who band 139"/>
          <p:cNvSpPr/>
          <p:nvPr/>
        </p:nvSpPr>
        <p:spPr>
          <a:xfrm>
            <a:off x="356616" y="4526028"/>
            <a:ext cx="8430768" cy="393444"/>
          </a:xfrm>
          <a:prstGeom prst="roundRect">
            <a:avLst>
              <a:gd name="adj" fmla="val 23240"/>
            </a:avLst>
          </a:prstGeom>
          <a:solidFill>
            <a:srgbClr val="EDF0FF"/>
          </a:solidFill>
          <a:ln>
            <a:noFill/>
          </a:ln>
        </p:spPr>
      </p:sp>
      <p:sp>
        <p:nvSpPr>
          <p:cNvPr id="140" name="Who label 140"/>
          <p:cNvSpPr txBox="1"/>
          <p:nvPr/>
        </p:nvSpPr>
        <p:spPr>
          <a:xfrm>
            <a:off x="502920" y="4526028"/>
            <a:ext cx="932688" cy="39344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50" b="0" i="0" dirty="0">
                <a:solidFill>
                  <a:srgbClr val="2747F5"/>
                </a:solidFill>
                <a:latin typeface="Google Sans Flex SemiBold"/>
                <a:ea typeface="Google Sans Flex SemiBold"/>
                <a:cs typeface="Google Sans Flex SemiBold"/>
                <a:sym typeface="Google Sans Flex SemiBold"/>
              </a:rPr>
              <a:t xml:space="preserve">Who it helps</a:t>
            </a:r>
            <a:endParaRPr lang="en-GB" sz="1050" dirty="0">
              <a:latin typeface="Google Sans Flex SemiBold"/>
              <a:ea typeface="Google Sans Flex SemiBold"/>
              <a:cs typeface="Google Sans Flex SemiBold"/>
              <a:sym typeface="Google Sans Flex SemiBold"/>
            </a:endParaRPr>
          </a:p>
        </p:txBody>
      </p:sp>
      <p:sp>
        <p:nvSpPr>
          <p:cNvPr id="141" name="Who item 141"/>
          <p:cNvSpPr txBox="1"/>
          <p:nvPr/>
        </p:nvSpPr>
        <p:spPr>
          <a:xfrm>
            <a:off x="1435608" y="4526028"/>
            <a:ext cx="2292096" cy="393444"/>
          </a:xfrm>
          <a:prstGeom prst="rect">
            <a:avLst/>
          </a:prstGeom>
          <a:noFill/>
          <a:ln>
            <a:noFill/>
          </a:ln>
        </p:spPr>
        <p:txBody>
          <a:bodyPr wrap="square" lIns="0" tIns="0" rIns="0" bIns="0" anchor="ctr" rtlCol="0">
            <a:noAutofit/>
          </a:bodyPr>
          <a:lstStyle/>
          <a:p>
            <a:pPr marL="0" indent="0" algn="l" rtl="0">
              <a:lnSpc>
                <a:spcPct val="96000"/>
              </a:lnSpc>
              <a:spcBef>
                <a:spcPts val="0"/>
              </a:spcBef>
              <a:spcAft>
                <a:spcPts val="0"/>
              </a:spcAft>
              <a:buNone/>
            </a:pPr>
            <a:r>
              <a:rPr lang="en-GB" sz="1000" b="0" i="0" dirty="0">
                <a:solidFill>
                  <a:srgbClr val="111113"/>
                </a:solidFill>
                <a:latin typeface="Google Sans Flex SemiBold"/>
                <a:ea typeface="Google Sans Flex SemiBold"/>
                <a:cs typeface="Google Sans Flex SemiBold"/>
                <a:sym typeface="Google Sans Flex SemiBold"/>
              </a:rPr>
              <a:t xml:space="preserve">Families</a:t>
            </a:r>
            <a:r>
              <a:rPr lang="en-GB" sz="1000" b="0" i="0" dirty="0">
                <a:solidFill>
                  <a:srgbClr val="46464B"/>
                </a:solidFill>
                <a:latin typeface="Google Sans Flex"/>
                <a:ea typeface="Google Sans Flex"/>
                <a:cs typeface="Google Sans Flex"/>
                <a:sym typeface="Google Sans Flex"/>
              </a:rPr>
              <a:t xml:space="preserve"> see, walk and shape their home before they build.</a:t>
            </a:r>
            <a:endParaRPr lang="en-GB" sz="1000" dirty="0">
              <a:latin typeface="Google Sans Flex SemiBold"/>
              <a:ea typeface="Google Sans Flex SemiBold"/>
              <a:cs typeface="Google Sans Flex SemiBold"/>
              <a:sym typeface="Google Sans Flex SemiBold"/>
            </a:endParaRPr>
          </a:p>
        </p:txBody>
      </p:sp>
      <p:sp>
        <p:nvSpPr>
          <p:cNvPr id="142" name="Who item 142"/>
          <p:cNvSpPr txBox="1"/>
          <p:nvPr/>
        </p:nvSpPr>
        <p:spPr>
          <a:xfrm>
            <a:off x="3892296" y="4526028"/>
            <a:ext cx="2292096" cy="393444"/>
          </a:xfrm>
          <a:prstGeom prst="rect">
            <a:avLst/>
          </a:prstGeom>
          <a:noFill/>
          <a:ln>
            <a:noFill/>
          </a:ln>
        </p:spPr>
        <p:txBody>
          <a:bodyPr wrap="square" lIns="0" tIns="0" rIns="0" bIns="0" anchor="ctr" rtlCol="0">
            <a:noAutofit/>
          </a:bodyPr>
          <a:lstStyle/>
          <a:p>
            <a:pPr marL="0" indent="0" algn="l" rtl="0">
              <a:lnSpc>
                <a:spcPct val="96000"/>
              </a:lnSpc>
              <a:spcBef>
                <a:spcPts val="0"/>
              </a:spcBef>
              <a:spcAft>
                <a:spcPts val="0"/>
              </a:spcAft>
              <a:buNone/>
            </a:pPr>
            <a:r>
              <a:rPr lang="en-GB" sz="1000" b="0" i="0" dirty="0">
                <a:solidFill>
                  <a:srgbClr val="111113"/>
                </a:solidFill>
                <a:latin typeface="Google Sans Flex SemiBold"/>
                <a:ea typeface="Google Sans Flex SemiBold"/>
                <a:cs typeface="Google Sans Flex SemiBold"/>
                <a:sym typeface="Google Sans Flex SemiBold"/>
              </a:rPr>
              <a:t xml:space="preserve">Architects</a:t>
            </a:r>
            <a:r>
              <a:rPr lang="en-GB" sz="1000" b="0" i="0" dirty="0">
                <a:solidFill>
                  <a:srgbClr val="46464B"/>
                </a:solidFill>
                <a:latin typeface="Google Sans Flex"/>
                <a:ea typeface="Google Sans Flex"/>
                <a:cs typeface="Google Sans Flex"/>
                <a:sym typeface="Google Sans Flex"/>
              </a:rPr>
              <a:t xml:space="preserve"> deliver a checked design in the first meeting.</a:t>
            </a:r>
            <a:endParaRPr lang="en-GB" sz="1000" dirty="0">
              <a:latin typeface="Google Sans Flex SemiBold"/>
              <a:ea typeface="Google Sans Flex SemiBold"/>
              <a:cs typeface="Google Sans Flex SemiBold"/>
              <a:sym typeface="Google Sans Flex SemiBold"/>
            </a:endParaRPr>
          </a:p>
        </p:txBody>
      </p:sp>
      <p:sp>
        <p:nvSpPr>
          <p:cNvPr id="143" name="Who item 143"/>
          <p:cNvSpPr txBox="1"/>
          <p:nvPr/>
        </p:nvSpPr>
        <p:spPr>
          <a:xfrm>
            <a:off x="6348984" y="4526028"/>
            <a:ext cx="2292096" cy="393444"/>
          </a:xfrm>
          <a:prstGeom prst="rect">
            <a:avLst/>
          </a:prstGeom>
          <a:noFill/>
          <a:ln>
            <a:noFill/>
          </a:ln>
        </p:spPr>
        <p:txBody>
          <a:bodyPr wrap="square" lIns="0" tIns="0" rIns="0" bIns="0" anchor="ctr" rtlCol="0">
            <a:noAutofit/>
          </a:bodyPr>
          <a:lstStyle/>
          <a:p>
            <a:pPr marL="0" indent="0" algn="l" rtl="0">
              <a:lnSpc>
                <a:spcPct val="96000"/>
              </a:lnSpc>
              <a:spcBef>
                <a:spcPts val="0"/>
              </a:spcBef>
              <a:spcAft>
                <a:spcPts val="0"/>
              </a:spcAft>
              <a:buNone/>
            </a:pPr>
            <a:r>
              <a:rPr lang="en-GB" sz="1000" b="0" i="0" dirty="0">
                <a:solidFill>
                  <a:srgbClr val="111113"/>
                </a:solidFill>
                <a:latin typeface="Google Sans Flex SemiBold"/>
                <a:ea typeface="Google Sans Flex SemiBold"/>
                <a:cs typeface="Google Sans Flex SemiBold"/>
                <a:sym typeface="Google Sans Flex SemiBold"/>
              </a:rPr>
              <a:t xml:space="preserve">Construction companies</a:t>
            </a:r>
            <a:r>
              <a:rPr lang="en-GB" sz="1000" b="0" i="0" dirty="0">
                <a:solidFill>
                  <a:srgbClr val="46464B"/>
                </a:solidFill>
                <a:latin typeface="Google Sans Flex"/>
                <a:ea typeface="Google Sans Flex"/>
                <a:cs typeface="Google Sans Flex"/>
                <a:sym typeface="Google Sans Flex"/>
              </a:rPr>
              <a:t xml:space="preserve"> sell and build from designs buyers can walk through.</a:t>
            </a:r>
            <a:endParaRPr lang="en-GB" sz="1000" dirty="0">
              <a:latin typeface="Google Sans Flex SemiBold"/>
              <a:ea typeface="Google Sans Flex SemiBold"/>
              <a:cs typeface="Google Sans Flex SemiBold"/>
              <a:sym typeface="Google Sans Flex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pic>
        <p:nvPicPr>
          <p:cNvPr id="96" name="Diagram 96" descr="Process flow. Agentic harness: Google ADK runs the setup agent and the revision agent. Six steps: 1 Brief (~3 s a turn, Google ADK agent on Gemini 3.8 Flash), 2 Concepts (~20 s for 4, Gemini 3.1 Flash Image), 3 Plan and 4 3D house (4.6-5.2 min for a 10 marla home, Gemini 4 Argon), 5 Walk and share (three.js, Gemini renders any view), 6 Revise (~70 s, Google ADK agent on Gemini 4 Argon). Loop A, the Architect pipeline (fixed steps on the Gen AI SDK): plan as JSON, rules check as a tool call (36-43 LDA checks + 10 livable-home rules; each authority's bylaws as code, LDA 2026 in the prototype), fix and re-check (15 to 5 to 0 failures on a 1 kanal brief), multimodal self-review of its own drawings, write design.js, as-built check. Loop B, the revision agent on the Google ADK harness with 9 tools: read comments and snapshots, open only the rooms and code it needs, dry-run each edit against the rules, rewrite and answer or refuse with the rule and an alternative, owner approves the next version. Agent behaviours: tool use, self-correction, multimodal self-review, code generation, rules as guardrails, refusal with the rule, human approval."/>
          <p:cNvPicPr>
            <a:picLocks noChangeAspect="1"/>
          </p:cNvPicPr>
          <p:nvPr/>
        </p:nvPicPr>
        <p:blipFill>
          <a:blip r:embed="rId5"/>
          <a:stretch>
            <a:fillRect/>
          </a:stretch>
        </p:blipFill>
        <p:spPr>
          <a:xfrm>
            <a:off x="356616" y="1098280"/>
            <a:ext cx="8430768" cy="382019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sp>
        <p:nvSpPr>
          <p:cNvPr id="104" name="Live dot 104"/>
          <p:cNvSpPr/>
          <p:nvPr/>
        </p:nvSpPr>
        <p:spPr>
          <a:xfrm>
            <a:off x="356616" y="4814316"/>
            <a:ext cx="64008" cy="64008"/>
          </a:xfrm>
          <a:prstGeom prst="ellipse">
            <a:avLst/>
          </a:prstGeom>
          <a:solidFill>
            <a:srgbClr val="0E7A55"/>
          </a:solidFill>
          <a:ln>
            <a:noFill/>
          </a:ln>
        </p:spPr>
      </p:sp>
      <p:sp>
        <p:nvSpPr>
          <p:cNvPr id="105" name="Live note 105"/>
          <p:cNvSpPr txBox="1"/>
          <p:nvPr/>
        </p:nvSpPr>
        <p:spPr>
          <a:xfrm>
            <a:off x="466344" y="4764024"/>
            <a:ext cx="8321040" cy="164592"/>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6E6E73"/>
                </a:solidFill>
                <a:latin typeface="Google Sans Flex"/>
                <a:ea typeface="Google Sans Flex"/>
                <a:cs typeface="Google Sans Flex"/>
                <a:sym typeface="Google Sans Flex"/>
              </a:rPr>
              <a:t xml:space="preserve">All six are live screens captured from the deployed app on Cloud Run; the crops show the panel each step is about.</a:t>
            </a:r>
            <a:endParaRPr lang="en-GB" sz="950" dirty="0">
              <a:latin typeface="Google Sans Flex"/>
              <a:ea typeface="Google Sans Flex"/>
              <a:cs typeface="Google Sans Flex"/>
              <a:sym typeface="Google Sans Flex"/>
            </a:endParaRPr>
          </a:p>
        </p:txBody>
      </p:sp>
      <p:pic>
        <p:nvPicPr>
          <p:cNvPr id="106" name="Screen 106" descr="Brief: agent asks what’s missing (live screen)"/>
          <p:cNvPicPr>
            <a:picLocks noChangeAspect="1"/>
          </p:cNvPicPr>
          <p:nvPr/>
        </p:nvPicPr>
        <p:blipFill>
          <a:blip r:embed="rId5"/>
          <a:stretch>
            <a:fillRect/>
          </a:stretch>
        </p:blipFill>
        <p:spPr>
          <a:xfrm>
            <a:off x="356616" y="1097280"/>
            <a:ext cx="2700528" cy="1490472"/>
          </a:xfrm>
          <a:prstGeom prst="roundRect">
            <a:avLst>
              <a:gd name="adj" fmla="val 4294"/>
            </a:avLst>
          </a:prstGeom>
          <a:noFill/>
          <a:ln w="9525">
            <a:solidFill>
              <a:srgbClr val="DADADF"/>
            </a:solidFill>
          </a:ln>
          <a:effectLst>
            <a:outerShdw blurRad="76200" dist="19050" dir="5400000" algn="t" rotWithShape="0">
              <a:srgbClr val="000000">
                <a:alpha val="14000"/>
              </a:srgbClr>
            </a:outerShdw>
          </a:effectLst>
        </p:spPr>
      </p:pic>
      <p:sp>
        <p:nvSpPr>
          <p:cNvPr id="107" name="Caption number 107"/>
          <p:cNvSpPr/>
          <p:nvPr/>
        </p:nvSpPr>
        <p:spPr>
          <a:xfrm>
            <a:off x="356616" y="2656332"/>
            <a:ext cx="182880" cy="182880"/>
          </a:xfrm>
          <a:prstGeom prst="ellipse">
            <a:avLst/>
          </a:prstGeom>
          <a:solidFill>
            <a:srgbClr val="2747F5"/>
          </a:solidFill>
          <a:ln>
            <a:noFill/>
          </a:ln>
        </p:spPr>
        <p:txBody>
          <a:bodyPr wrap="square" lIns="0" tIns="0" rIns="0" bIns="0" anchor="ctr" rtlCol="0">
            <a:noAutofit/>
          </a:bodyPr>
          <a:lstStyle/>
          <a:p>
            <a:pPr marL="0" indent="0" algn="ctr" rtl="0">
              <a:lnSpc>
                <a:spcPct val="100000"/>
              </a:lnSpc>
              <a:spcBef>
                <a:spcPts val="0"/>
              </a:spcBef>
              <a:spcAft>
                <a:spcPts val="0"/>
              </a:spcAft>
              <a:buNone/>
            </a:pPr>
            <a:r>
              <a:rPr lang="en-GB" sz="900" b="0" i="0" dirty="0">
                <a:solidFill>
                  <a:srgbClr val="FFFFFF"/>
                </a:solidFill>
                <a:latin typeface="Google Sans Flex SemiBold"/>
                <a:ea typeface="Google Sans Flex SemiBold"/>
                <a:cs typeface="Google Sans Flex SemiBold"/>
                <a:sym typeface="Google Sans Flex SemiBold"/>
              </a:rPr>
              <a:t xml:space="preserve">1</a:t>
            </a:r>
            <a:endParaRPr lang="en-GB" sz="900" dirty="0">
              <a:latin typeface="Google Sans Flex SemiBold"/>
              <a:ea typeface="Google Sans Flex SemiBold"/>
              <a:cs typeface="Google Sans Flex SemiBold"/>
              <a:sym typeface="Google Sans Flex SemiBold"/>
            </a:endParaRPr>
          </a:p>
        </p:txBody>
      </p:sp>
      <p:sp>
        <p:nvSpPr>
          <p:cNvPr id="108" name="Caption 108"/>
          <p:cNvSpPr txBox="1"/>
          <p:nvPr/>
        </p:nvSpPr>
        <p:spPr>
          <a:xfrm>
            <a:off x="594360" y="2633472"/>
            <a:ext cx="2462784" cy="22860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150" b="0" i="0" dirty="0">
                <a:solidFill>
                  <a:srgbClr val="111113"/>
                </a:solidFill>
                <a:latin typeface="Google Sans Flex SemiBold"/>
                <a:ea typeface="Google Sans Flex SemiBold"/>
                <a:cs typeface="Google Sans Flex SemiBold"/>
                <a:sym typeface="Google Sans Flex SemiBold"/>
              </a:rPr>
              <a:t xml:space="preserve">Brief: </a:t>
            </a:r>
            <a:r>
              <a:rPr lang="en-GB" sz="1150" b="0" i="0" dirty="0">
                <a:solidFill>
                  <a:srgbClr val="46464B"/>
                </a:solidFill>
                <a:latin typeface="Google Sans Flex"/>
                <a:ea typeface="Google Sans Flex"/>
                <a:cs typeface="Google Sans Flex"/>
                <a:sym typeface="Google Sans Flex"/>
              </a:rPr>
              <a:t xml:space="preserve">agent asks what’s missing</a:t>
            </a:r>
            <a:endParaRPr lang="en-GB" sz="1150" dirty="0">
              <a:latin typeface="Google Sans Flex SemiBold"/>
              <a:ea typeface="Google Sans Flex SemiBold"/>
              <a:cs typeface="Google Sans Flex SemiBold"/>
              <a:sym typeface="Google Sans Flex SemiBold"/>
            </a:endParaRPr>
          </a:p>
        </p:txBody>
      </p:sp>
      <p:pic>
        <p:nvPicPr>
          <p:cNvPr id="109" name="Screen 109" descr="Concepts: 4 looks, day or night (live screen)"/>
          <p:cNvPicPr>
            <a:picLocks noChangeAspect="1"/>
          </p:cNvPicPr>
          <p:nvPr/>
        </p:nvPicPr>
        <p:blipFill>
          <a:blip r:embed="rId6"/>
          <a:stretch>
            <a:fillRect/>
          </a:stretch>
        </p:blipFill>
        <p:spPr>
          <a:xfrm>
            <a:off x="3221736" y="1097280"/>
            <a:ext cx="2700528" cy="1490472"/>
          </a:xfrm>
          <a:prstGeom prst="roundRect">
            <a:avLst>
              <a:gd name="adj" fmla="val 4294"/>
            </a:avLst>
          </a:prstGeom>
          <a:noFill/>
          <a:ln w="9525">
            <a:solidFill>
              <a:srgbClr val="DADADF"/>
            </a:solidFill>
          </a:ln>
          <a:effectLst>
            <a:outerShdw blurRad="76200" dist="19050" dir="5400000" algn="t" rotWithShape="0">
              <a:srgbClr val="000000">
                <a:alpha val="14000"/>
              </a:srgbClr>
            </a:outerShdw>
          </a:effectLst>
        </p:spPr>
      </p:pic>
      <p:sp>
        <p:nvSpPr>
          <p:cNvPr id="110" name="Caption number 110"/>
          <p:cNvSpPr/>
          <p:nvPr/>
        </p:nvSpPr>
        <p:spPr>
          <a:xfrm>
            <a:off x="3221736" y="2656332"/>
            <a:ext cx="182880" cy="182880"/>
          </a:xfrm>
          <a:prstGeom prst="ellipse">
            <a:avLst/>
          </a:prstGeom>
          <a:solidFill>
            <a:srgbClr val="2747F5"/>
          </a:solidFill>
          <a:ln>
            <a:noFill/>
          </a:ln>
        </p:spPr>
        <p:txBody>
          <a:bodyPr wrap="square" lIns="0" tIns="0" rIns="0" bIns="0" anchor="ctr" rtlCol="0">
            <a:noAutofit/>
          </a:bodyPr>
          <a:lstStyle/>
          <a:p>
            <a:pPr marL="0" indent="0" algn="ctr" rtl="0">
              <a:lnSpc>
                <a:spcPct val="100000"/>
              </a:lnSpc>
              <a:spcBef>
                <a:spcPts val="0"/>
              </a:spcBef>
              <a:spcAft>
                <a:spcPts val="0"/>
              </a:spcAft>
              <a:buNone/>
            </a:pPr>
            <a:r>
              <a:rPr lang="en-GB" sz="900" b="0" i="0" dirty="0">
                <a:solidFill>
                  <a:srgbClr val="FFFFFF"/>
                </a:solidFill>
                <a:latin typeface="Google Sans Flex SemiBold"/>
                <a:ea typeface="Google Sans Flex SemiBold"/>
                <a:cs typeface="Google Sans Flex SemiBold"/>
                <a:sym typeface="Google Sans Flex SemiBold"/>
              </a:rPr>
              <a:t xml:space="preserve">2</a:t>
            </a:r>
            <a:endParaRPr lang="en-GB" sz="900" dirty="0">
              <a:latin typeface="Google Sans Flex SemiBold"/>
              <a:ea typeface="Google Sans Flex SemiBold"/>
              <a:cs typeface="Google Sans Flex SemiBold"/>
              <a:sym typeface="Google Sans Flex SemiBold"/>
            </a:endParaRPr>
          </a:p>
        </p:txBody>
      </p:sp>
      <p:sp>
        <p:nvSpPr>
          <p:cNvPr id="111" name="Caption 111"/>
          <p:cNvSpPr txBox="1"/>
          <p:nvPr/>
        </p:nvSpPr>
        <p:spPr>
          <a:xfrm>
            <a:off x="3459480" y="2633472"/>
            <a:ext cx="2462784" cy="22860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150" b="0" i="0" dirty="0">
                <a:solidFill>
                  <a:srgbClr val="111113"/>
                </a:solidFill>
                <a:latin typeface="Google Sans Flex SemiBold"/>
                <a:ea typeface="Google Sans Flex SemiBold"/>
                <a:cs typeface="Google Sans Flex SemiBold"/>
                <a:sym typeface="Google Sans Flex SemiBold"/>
              </a:rPr>
              <a:t xml:space="preserve">Concepts: </a:t>
            </a:r>
            <a:r>
              <a:rPr lang="en-GB" sz="1150" b="0" i="0" dirty="0">
                <a:solidFill>
                  <a:srgbClr val="46464B"/>
                </a:solidFill>
                <a:latin typeface="Google Sans Flex"/>
                <a:ea typeface="Google Sans Flex"/>
                <a:cs typeface="Google Sans Flex"/>
                <a:sym typeface="Google Sans Flex"/>
              </a:rPr>
              <a:t xml:space="preserve">4 looks, day or night</a:t>
            </a:r>
            <a:endParaRPr lang="en-GB" sz="1150" dirty="0">
              <a:latin typeface="Google Sans Flex SemiBold"/>
              <a:ea typeface="Google Sans Flex SemiBold"/>
              <a:cs typeface="Google Sans Flex SemiBold"/>
              <a:sym typeface="Google Sans Flex SemiBold"/>
            </a:endParaRPr>
          </a:p>
        </p:txBody>
      </p:sp>
      <p:pic>
        <p:nvPicPr>
          <p:cNvPr id="112" name="Screen 112" descr="Plan: agent-checked, 37/37 LDA (live screen)"/>
          <p:cNvPicPr>
            <a:picLocks noChangeAspect="1"/>
          </p:cNvPicPr>
          <p:nvPr/>
        </p:nvPicPr>
        <p:blipFill>
          <a:blip r:embed="rId7"/>
          <a:stretch>
            <a:fillRect/>
          </a:stretch>
        </p:blipFill>
        <p:spPr>
          <a:xfrm>
            <a:off x="6086856" y="1097280"/>
            <a:ext cx="2700528" cy="1490472"/>
          </a:xfrm>
          <a:prstGeom prst="roundRect">
            <a:avLst>
              <a:gd name="adj" fmla="val 4294"/>
            </a:avLst>
          </a:prstGeom>
          <a:noFill/>
          <a:ln w="9525">
            <a:solidFill>
              <a:srgbClr val="DADADF"/>
            </a:solidFill>
          </a:ln>
          <a:effectLst>
            <a:outerShdw blurRad="76200" dist="19050" dir="5400000" algn="t" rotWithShape="0">
              <a:srgbClr val="000000">
                <a:alpha val="14000"/>
              </a:srgbClr>
            </a:outerShdw>
          </a:effectLst>
        </p:spPr>
      </p:pic>
      <p:sp>
        <p:nvSpPr>
          <p:cNvPr id="113" name="Caption number 113"/>
          <p:cNvSpPr/>
          <p:nvPr/>
        </p:nvSpPr>
        <p:spPr>
          <a:xfrm>
            <a:off x="6086856" y="2656332"/>
            <a:ext cx="182880" cy="182880"/>
          </a:xfrm>
          <a:prstGeom prst="ellipse">
            <a:avLst/>
          </a:prstGeom>
          <a:solidFill>
            <a:srgbClr val="2747F5"/>
          </a:solidFill>
          <a:ln>
            <a:noFill/>
          </a:ln>
        </p:spPr>
        <p:txBody>
          <a:bodyPr wrap="square" lIns="0" tIns="0" rIns="0" bIns="0" anchor="ctr" rtlCol="0">
            <a:noAutofit/>
          </a:bodyPr>
          <a:lstStyle/>
          <a:p>
            <a:pPr marL="0" indent="0" algn="ctr" rtl="0">
              <a:lnSpc>
                <a:spcPct val="100000"/>
              </a:lnSpc>
              <a:spcBef>
                <a:spcPts val="0"/>
              </a:spcBef>
              <a:spcAft>
                <a:spcPts val="0"/>
              </a:spcAft>
              <a:buNone/>
            </a:pPr>
            <a:r>
              <a:rPr lang="en-GB" sz="900" b="0" i="0" dirty="0">
                <a:solidFill>
                  <a:srgbClr val="FFFFFF"/>
                </a:solidFill>
                <a:latin typeface="Google Sans Flex SemiBold"/>
                <a:ea typeface="Google Sans Flex SemiBold"/>
                <a:cs typeface="Google Sans Flex SemiBold"/>
                <a:sym typeface="Google Sans Flex SemiBold"/>
              </a:rPr>
              <a:t xml:space="preserve">3</a:t>
            </a:r>
            <a:endParaRPr lang="en-GB" sz="900" dirty="0">
              <a:latin typeface="Google Sans Flex SemiBold"/>
              <a:ea typeface="Google Sans Flex SemiBold"/>
              <a:cs typeface="Google Sans Flex SemiBold"/>
              <a:sym typeface="Google Sans Flex SemiBold"/>
            </a:endParaRPr>
          </a:p>
        </p:txBody>
      </p:sp>
      <p:sp>
        <p:nvSpPr>
          <p:cNvPr id="114" name="Caption 114"/>
          <p:cNvSpPr txBox="1"/>
          <p:nvPr/>
        </p:nvSpPr>
        <p:spPr>
          <a:xfrm>
            <a:off x="6324600" y="2633472"/>
            <a:ext cx="2462784" cy="22860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150" b="0" i="0" dirty="0">
                <a:solidFill>
                  <a:srgbClr val="111113"/>
                </a:solidFill>
                <a:latin typeface="Google Sans Flex SemiBold"/>
                <a:ea typeface="Google Sans Flex SemiBold"/>
                <a:cs typeface="Google Sans Flex SemiBold"/>
                <a:sym typeface="Google Sans Flex SemiBold"/>
              </a:rPr>
              <a:t xml:space="preserve">Plan: </a:t>
            </a:r>
            <a:r>
              <a:rPr lang="en-GB" sz="1150" b="0" i="0" dirty="0">
                <a:solidFill>
                  <a:srgbClr val="46464B"/>
                </a:solidFill>
                <a:latin typeface="Google Sans Flex"/>
                <a:ea typeface="Google Sans Flex"/>
                <a:cs typeface="Google Sans Flex"/>
                <a:sym typeface="Google Sans Flex"/>
              </a:rPr>
              <a:t xml:space="preserve">agent-checked, 37/37 LDA</a:t>
            </a:r>
            <a:endParaRPr lang="en-GB" sz="1150" dirty="0">
              <a:latin typeface="Google Sans Flex SemiBold"/>
              <a:ea typeface="Google Sans Flex SemiBold"/>
              <a:cs typeface="Google Sans Flex SemiBold"/>
              <a:sym typeface="Google Sans Flex SemiBold"/>
            </a:endParaRPr>
          </a:p>
        </p:txBody>
      </p:sp>
      <p:pic>
        <p:nvPicPr>
          <p:cNvPr id="115" name="Screen 115" descr="House: coded by Gemini 4 Argon (live screen)"/>
          <p:cNvPicPr>
            <a:picLocks noChangeAspect="1"/>
          </p:cNvPicPr>
          <p:nvPr/>
        </p:nvPicPr>
        <p:blipFill>
          <a:blip r:embed="rId8"/>
          <a:stretch>
            <a:fillRect/>
          </a:stretch>
        </p:blipFill>
        <p:spPr>
          <a:xfrm>
            <a:off x="356616" y="2962656"/>
            <a:ext cx="2700528" cy="1490472"/>
          </a:xfrm>
          <a:prstGeom prst="roundRect">
            <a:avLst>
              <a:gd name="adj" fmla="val 4294"/>
            </a:avLst>
          </a:prstGeom>
          <a:noFill/>
          <a:ln w="9525">
            <a:solidFill>
              <a:srgbClr val="DADADF"/>
            </a:solidFill>
          </a:ln>
          <a:effectLst>
            <a:outerShdw blurRad="76200" dist="19050" dir="5400000" algn="t" rotWithShape="0">
              <a:srgbClr val="000000">
                <a:alpha val="14000"/>
              </a:srgbClr>
            </a:outerShdw>
          </a:effectLst>
        </p:spPr>
      </p:pic>
      <p:sp>
        <p:nvSpPr>
          <p:cNvPr id="116" name="Caption number 116"/>
          <p:cNvSpPr/>
          <p:nvPr/>
        </p:nvSpPr>
        <p:spPr>
          <a:xfrm>
            <a:off x="356616" y="4521708"/>
            <a:ext cx="182880" cy="182880"/>
          </a:xfrm>
          <a:prstGeom prst="ellipse">
            <a:avLst/>
          </a:prstGeom>
          <a:solidFill>
            <a:srgbClr val="2747F5"/>
          </a:solidFill>
          <a:ln>
            <a:noFill/>
          </a:ln>
        </p:spPr>
        <p:txBody>
          <a:bodyPr wrap="square" lIns="0" tIns="0" rIns="0" bIns="0" anchor="ctr" rtlCol="0">
            <a:noAutofit/>
          </a:bodyPr>
          <a:lstStyle/>
          <a:p>
            <a:pPr marL="0" indent="0" algn="ctr" rtl="0">
              <a:lnSpc>
                <a:spcPct val="100000"/>
              </a:lnSpc>
              <a:spcBef>
                <a:spcPts val="0"/>
              </a:spcBef>
              <a:spcAft>
                <a:spcPts val="0"/>
              </a:spcAft>
              <a:buNone/>
            </a:pPr>
            <a:r>
              <a:rPr lang="en-GB" sz="900" b="0" i="0" dirty="0">
                <a:solidFill>
                  <a:srgbClr val="FFFFFF"/>
                </a:solidFill>
                <a:latin typeface="Google Sans Flex SemiBold"/>
                <a:ea typeface="Google Sans Flex SemiBold"/>
                <a:cs typeface="Google Sans Flex SemiBold"/>
                <a:sym typeface="Google Sans Flex SemiBold"/>
              </a:rPr>
              <a:t xml:space="preserve">4</a:t>
            </a:r>
            <a:endParaRPr lang="en-GB" sz="900" dirty="0">
              <a:latin typeface="Google Sans Flex SemiBold"/>
              <a:ea typeface="Google Sans Flex SemiBold"/>
              <a:cs typeface="Google Sans Flex SemiBold"/>
              <a:sym typeface="Google Sans Flex SemiBold"/>
            </a:endParaRPr>
          </a:p>
        </p:txBody>
      </p:sp>
      <p:sp>
        <p:nvSpPr>
          <p:cNvPr id="117" name="Caption 117"/>
          <p:cNvSpPr txBox="1"/>
          <p:nvPr/>
        </p:nvSpPr>
        <p:spPr>
          <a:xfrm>
            <a:off x="594360" y="4498848"/>
            <a:ext cx="2462784" cy="22860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150" b="0" i="0" dirty="0">
                <a:solidFill>
                  <a:srgbClr val="111113"/>
                </a:solidFill>
                <a:latin typeface="Google Sans Flex SemiBold"/>
                <a:ea typeface="Google Sans Flex SemiBold"/>
                <a:cs typeface="Google Sans Flex SemiBold"/>
                <a:sym typeface="Google Sans Flex SemiBold"/>
              </a:rPr>
              <a:t xml:space="preserve">House: </a:t>
            </a:r>
            <a:r>
              <a:rPr lang="en-GB" sz="1150" b="0" i="0" dirty="0">
                <a:solidFill>
                  <a:srgbClr val="46464B"/>
                </a:solidFill>
                <a:latin typeface="Google Sans Flex"/>
                <a:ea typeface="Google Sans Flex"/>
                <a:cs typeface="Google Sans Flex"/>
                <a:sym typeface="Google Sans Flex"/>
              </a:rPr>
              <a:t xml:space="preserve">coded by Gemini 4 Argon</a:t>
            </a:r>
            <a:endParaRPr lang="en-GB" sz="1150" dirty="0">
              <a:latin typeface="Google Sans Flex SemiBold"/>
              <a:ea typeface="Google Sans Flex SemiBold"/>
              <a:cs typeface="Google Sans Flex SemiBold"/>
              <a:sym typeface="Google Sans Flex SemiBold"/>
            </a:endParaRPr>
          </a:p>
        </p:txBody>
      </p:sp>
      <p:pic>
        <p:nvPicPr>
          <p:cNvPr id="118" name="Screen 118" descr="Walk: first person, room finder (live screen)"/>
          <p:cNvPicPr>
            <a:picLocks noChangeAspect="1"/>
          </p:cNvPicPr>
          <p:nvPr/>
        </p:nvPicPr>
        <p:blipFill>
          <a:blip r:embed="rId9"/>
          <a:stretch>
            <a:fillRect/>
          </a:stretch>
        </p:blipFill>
        <p:spPr>
          <a:xfrm>
            <a:off x="3221736" y="2962656"/>
            <a:ext cx="2700528" cy="1490472"/>
          </a:xfrm>
          <a:prstGeom prst="roundRect">
            <a:avLst>
              <a:gd name="adj" fmla="val 4294"/>
            </a:avLst>
          </a:prstGeom>
          <a:noFill/>
          <a:ln w="9525">
            <a:solidFill>
              <a:srgbClr val="DADADF"/>
            </a:solidFill>
          </a:ln>
          <a:effectLst>
            <a:outerShdw blurRad="76200" dist="19050" dir="5400000" algn="t" rotWithShape="0">
              <a:srgbClr val="000000">
                <a:alpha val="14000"/>
              </a:srgbClr>
            </a:outerShdw>
          </a:effectLst>
        </p:spPr>
      </p:pic>
      <p:sp>
        <p:nvSpPr>
          <p:cNvPr id="119" name="Caption number 119"/>
          <p:cNvSpPr/>
          <p:nvPr/>
        </p:nvSpPr>
        <p:spPr>
          <a:xfrm>
            <a:off x="3221736" y="4521708"/>
            <a:ext cx="182880" cy="182880"/>
          </a:xfrm>
          <a:prstGeom prst="ellipse">
            <a:avLst/>
          </a:prstGeom>
          <a:solidFill>
            <a:srgbClr val="2747F5"/>
          </a:solidFill>
          <a:ln>
            <a:noFill/>
          </a:ln>
        </p:spPr>
        <p:txBody>
          <a:bodyPr wrap="square" lIns="0" tIns="0" rIns="0" bIns="0" anchor="ctr" rtlCol="0">
            <a:noAutofit/>
          </a:bodyPr>
          <a:lstStyle/>
          <a:p>
            <a:pPr marL="0" indent="0" algn="ctr" rtl="0">
              <a:lnSpc>
                <a:spcPct val="100000"/>
              </a:lnSpc>
              <a:spcBef>
                <a:spcPts val="0"/>
              </a:spcBef>
              <a:spcAft>
                <a:spcPts val="0"/>
              </a:spcAft>
              <a:buNone/>
            </a:pPr>
            <a:r>
              <a:rPr lang="en-GB" sz="900" b="0" i="0" dirty="0">
                <a:solidFill>
                  <a:srgbClr val="FFFFFF"/>
                </a:solidFill>
                <a:latin typeface="Google Sans Flex SemiBold"/>
                <a:ea typeface="Google Sans Flex SemiBold"/>
                <a:cs typeface="Google Sans Flex SemiBold"/>
                <a:sym typeface="Google Sans Flex SemiBold"/>
              </a:rPr>
              <a:t xml:space="preserve">5</a:t>
            </a:r>
            <a:endParaRPr lang="en-GB" sz="900" dirty="0">
              <a:latin typeface="Google Sans Flex SemiBold"/>
              <a:ea typeface="Google Sans Flex SemiBold"/>
              <a:cs typeface="Google Sans Flex SemiBold"/>
              <a:sym typeface="Google Sans Flex SemiBold"/>
            </a:endParaRPr>
          </a:p>
        </p:txBody>
      </p:sp>
      <p:sp>
        <p:nvSpPr>
          <p:cNvPr id="120" name="Caption 120"/>
          <p:cNvSpPr txBox="1"/>
          <p:nvPr/>
        </p:nvSpPr>
        <p:spPr>
          <a:xfrm>
            <a:off x="3459480" y="4498848"/>
            <a:ext cx="2462784" cy="22860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150" b="0" i="0" dirty="0">
                <a:solidFill>
                  <a:srgbClr val="111113"/>
                </a:solidFill>
                <a:latin typeface="Google Sans Flex SemiBold"/>
                <a:ea typeface="Google Sans Flex SemiBold"/>
                <a:cs typeface="Google Sans Flex SemiBold"/>
                <a:sym typeface="Google Sans Flex SemiBold"/>
              </a:rPr>
              <a:t xml:space="preserve">Walk: </a:t>
            </a:r>
            <a:r>
              <a:rPr lang="en-GB" sz="1150" b="0" i="0" dirty="0">
                <a:solidFill>
                  <a:srgbClr val="46464B"/>
                </a:solidFill>
                <a:latin typeface="Google Sans Flex"/>
                <a:ea typeface="Google Sans Flex"/>
                <a:cs typeface="Google Sans Flex"/>
                <a:sym typeface="Google Sans Flex"/>
              </a:rPr>
              <a:t xml:space="preserve">first person, room finder</a:t>
            </a:r>
            <a:endParaRPr lang="en-GB" sz="1150" dirty="0">
              <a:latin typeface="Google Sans Flex SemiBold"/>
              <a:ea typeface="Google Sans Flex SemiBold"/>
              <a:cs typeface="Google Sans Flex SemiBold"/>
              <a:sym typeface="Google Sans Flex SemiBold"/>
            </a:endParaRPr>
          </a:p>
        </p:txBody>
      </p:sp>
      <p:pic>
        <p:nvPicPr>
          <p:cNvPr id="121" name="Screen 121" descr="Revise: agent lists changes in feet (live screen)"/>
          <p:cNvPicPr>
            <a:picLocks noChangeAspect="1"/>
          </p:cNvPicPr>
          <p:nvPr/>
        </p:nvPicPr>
        <p:blipFill>
          <a:blip r:embed="rId10"/>
          <a:stretch>
            <a:fillRect/>
          </a:stretch>
        </p:blipFill>
        <p:spPr>
          <a:xfrm>
            <a:off x="6086856" y="2962656"/>
            <a:ext cx="2700528" cy="1490472"/>
          </a:xfrm>
          <a:prstGeom prst="roundRect">
            <a:avLst>
              <a:gd name="adj" fmla="val 4294"/>
            </a:avLst>
          </a:prstGeom>
          <a:noFill/>
          <a:ln w="9525">
            <a:solidFill>
              <a:srgbClr val="DADADF"/>
            </a:solidFill>
          </a:ln>
          <a:effectLst>
            <a:outerShdw blurRad="76200" dist="19050" dir="5400000" algn="t" rotWithShape="0">
              <a:srgbClr val="000000">
                <a:alpha val="14000"/>
              </a:srgbClr>
            </a:outerShdw>
          </a:effectLst>
        </p:spPr>
      </p:pic>
      <p:sp>
        <p:nvSpPr>
          <p:cNvPr id="122" name="Caption number 122"/>
          <p:cNvSpPr/>
          <p:nvPr/>
        </p:nvSpPr>
        <p:spPr>
          <a:xfrm>
            <a:off x="6086856" y="4521708"/>
            <a:ext cx="182880" cy="182880"/>
          </a:xfrm>
          <a:prstGeom prst="ellipse">
            <a:avLst/>
          </a:prstGeom>
          <a:solidFill>
            <a:srgbClr val="2747F5"/>
          </a:solidFill>
          <a:ln>
            <a:noFill/>
          </a:ln>
        </p:spPr>
        <p:txBody>
          <a:bodyPr wrap="square" lIns="0" tIns="0" rIns="0" bIns="0" anchor="ctr" rtlCol="0">
            <a:noAutofit/>
          </a:bodyPr>
          <a:lstStyle/>
          <a:p>
            <a:pPr marL="0" indent="0" algn="ctr" rtl="0">
              <a:lnSpc>
                <a:spcPct val="100000"/>
              </a:lnSpc>
              <a:spcBef>
                <a:spcPts val="0"/>
              </a:spcBef>
              <a:spcAft>
                <a:spcPts val="0"/>
              </a:spcAft>
              <a:buNone/>
            </a:pPr>
            <a:r>
              <a:rPr lang="en-GB" sz="900" b="0" i="0" dirty="0">
                <a:solidFill>
                  <a:srgbClr val="FFFFFF"/>
                </a:solidFill>
                <a:latin typeface="Google Sans Flex SemiBold"/>
                <a:ea typeface="Google Sans Flex SemiBold"/>
                <a:cs typeface="Google Sans Flex SemiBold"/>
                <a:sym typeface="Google Sans Flex SemiBold"/>
              </a:rPr>
              <a:t xml:space="preserve">6</a:t>
            </a:r>
            <a:endParaRPr lang="en-GB" sz="900" dirty="0">
              <a:latin typeface="Google Sans Flex SemiBold"/>
              <a:ea typeface="Google Sans Flex SemiBold"/>
              <a:cs typeface="Google Sans Flex SemiBold"/>
              <a:sym typeface="Google Sans Flex SemiBold"/>
            </a:endParaRPr>
          </a:p>
        </p:txBody>
      </p:sp>
      <p:sp>
        <p:nvSpPr>
          <p:cNvPr id="123" name="Caption 123"/>
          <p:cNvSpPr txBox="1"/>
          <p:nvPr/>
        </p:nvSpPr>
        <p:spPr>
          <a:xfrm>
            <a:off x="6324600" y="4498848"/>
            <a:ext cx="2462784" cy="22860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150" b="0" i="0" dirty="0">
                <a:solidFill>
                  <a:srgbClr val="111113"/>
                </a:solidFill>
                <a:latin typeface="Google Sans Flex SemiBold"/>
                <a:ea typeface="Google Sans Flex SemiBold"/>
                <a:cs typeface="Google Sans Flex SemiBold"/>
                <a:sym typeface="Google Sans Flex SemiBold"/>
              </a:rPr>
              <a:t xml:space="preserve">Revise: </a:t>
            </a:r>
            <a:r>
              <a:rPr lang="en-GB" sz="1150" b="0" i="0" dirty="0">
                <a:solidFill>
                  <a:srgbClr val="46464B"/>
                </a:solidFill>
                <a:latin typeface="Google Sans Flex"/>
                <a:ea typeface="Google Sans Flex"/>
                <a:cs typeface="Google Sans Flex"/>
                <a:sym typeface="Google Sans Flex"/>
              </a:rPr>
              <a:t xml:space="preserve">agent lists changes in feet</a:t>
            </a:r>
            <a:endParaRPr lang="en-GB" sz="1150" dirty="0">
              <a:latin typeface="Google Sans Flex SemiBold"/>
              <a:ea typeface="Google Sans Flex SemiBold"/>
              <a:cs typeface="Google Sans Flex SemiBold"/>
              <a:sym typeface="Google Sans Flex SemiBo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Head chip 112"/>
          <p:cNvSpPr/>
          <p:nvPr/>
        </p:nvSpPr>
        <p:spPr>
          <a:xfrm>
            <a:off x="6695122" y="763524"/>
            <a:ext cx="2092262" cy="237744"/>
          </a:xfrm>
          <a:prstGeom prst="roundRect">
            <a:avLst>
              <a:gd name="adj" fmla="val 50000"/>
            </a:avLst>
          </a:prstGeom>
          <a:solidFill>
            <a:srgbClr val="E3F3EC"/>
          </a:solidFill>
          <a:ln>
            <a:noFill/>
          </a:ln>
        </p:spPr>
      </p:sp>
      <p:sp>
        <p:nvSpPr>
          <p:cNvPr id="113" name="Head chip dot 113"/>
          <p:cNvSpPr/>
          <p:nvPr/>
        </p:nvSpPr>
        <p:spPr>
          <a:xfrm>
            <a:off x="6786562" y="850392"/>
            <a:ext cx="64008" cy="64008"/>
          </a:xfrm>
          <a:prstGeom prst="ellipse">
            <a:avLst/>
          </a:prstGeom>
          <a:solidFill>
            <a:srgbClr val="0E7A55"/>
          </a:solidFill>
          <a:ln>
            <a:noFill/>
          </a:ln>
        </p:spPr>
      </p:sp>
      <p:sp>
        <p:nvSpPr>
          <p:cNvPr id="114" name="Head chip label 114"/>
          <p:cNvSpPr txBox="1"/>
          <p:nvPr/>
        </p:nvSpPr>
        <p:spPr>
          <a:xfrm>
            <a:off x="6887146" y="763524"/>
            <a:ext cx="1836229" cy="23774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00" b="0" i="0" dirty="0">
                <a:solidFill>
                  <a:srgbClr val="0E7A55"/>
                </a:solidFill>
                <a:latin typeface="Google Sans Flex Medium"/>
                <a:ea typeface="Google Sans Flex Medium"/>
                <a:cs typeface="Google Sans Flex Medium"/>
                <a:sym typeface="Google Sans Flex Medium"/>
              </a:rPr>
              <a:t xml:space="preserve">Live on Cloud Run · us-central1</a:t>
            </a:r>
            <a:endParaRPr lang="en-GB" sz="1000" dirty="0">
              <a:latin typeface="Google Sans Flex Medium"/>
              <a:ea typeface="Google Sans Flex Medium"/>
              <a:cs typeface="Google Sans Flex Medium"/>
              <a:sym typeface="Google Sans Flex Medium"/>
            </a:endParaRPr>
          </a:p>
        </p:txBody>
      </p:sp>
      <p:pic>
        <p:nvPicPr>
          <p:cNvPr id="115" name="Diagram 115" descr="Architecture on Google Cloud, in the style of Google Cloud reference architectures. Users (owner: the family; team: architect, builder; client: via share link) use the browser (React 19, three.js), which runs Gemini's design.js after screening it. The Google Cloud project Hack2skill-global-hackathon has a us-central1 region holding Cloud Run, Firestore, Cloud Storage, Artifact Registry and Cloud Build. The Cloud Run service naqsha runs FastAPI and verifies ID tokens. In it, the agentic harness Google ADK 2.12 runs the setup agent (Gemini 3.8 Flash, 5 tools) and the revision agent (Gemini 4 Argon, 9 tools). The setup agent hands the brief to the Architect pipeline (Gemini 4 Argon on the Gen AI SDK: plan JSON, rules fix loop, self-review, design.js). The rules engine (LDA 2026 rules, 10 livable rules, pure Python) is called by the Architect and by the revision agent. Concepts and renders use Gemini 3.1 Flash Image, falling back to Nano Banana 2.1, then Gemini 3 Pro Image. Outside the region, as global services: Firebase Authentication (Identity Platform) and Gemini Enterprise Agent Platform (Vertex AI) on the global endpoint. Data flow: 1 sign in, ID token; 2 HTTPS API and SSE; 3 calls to Gemini; 4 rules check (tool); 5 edits dry-run first; 6 projects, versions in Firestore; 7 images, drawings in Cloud Storage; 8 Cloud Build builds the image into Artifact Registry; 9 Cloud Run deploys a revision from it."/>
          <p:cNvPicPr>
            <a:picLocks noChangeAspect="1"/>
          </p:cNvPicPr>
          <p:nvPr/>
        </p:nvPicPr>
        <p:blipFill>
          <a:blip r:embed="rId5"/>
          <a:stretch>
            <a:fillRect/>
          </a:stretch>
        </p:blipFill>
        <p:spPr>
          <a:xfrm>
            <a:off x="356616" y="1098280"/>
            <a:ext cx="8430768" cy="382019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Tier legend 120"/>
          <p:cNvSpPr/>
          <p:nvPr/>
        </p:nvSpPr>
        <p:spPr>
          <a:xfrm>
            <a:off x="7977314" y="763524"/>
            <a:ext cx="810070" cy="237744"/>
          </a:xfrm>
          <a:prstGeom prst="roundRect">
            <a:avLst>
              <a:gd name="adj" fmla="val 50000"/>
            </a:avLst>
          </a:prstGeom>
          <a:solidFill>
            <a:srgbClr val="FFFFFF"/>
          </a:solidFill>
          <a:ln w="9525">
            <a:solidFill>
              <a:srgbClr val="2747F5"/>
            </a:solidFill>
          </a:ln>
        </p:spPr>
      </p:sp>
      <p:sp>
        <p:nvSpPr>
          <p:cNvPr id="121" name="Tier legend label 121"/>
          <p:cNvSpPr txBox="1"/>
          <p:nvPr/>
        </p:nvSpPr>
        <p:spPr>
          <a:xfrm>
            <a:off x="8068754" y="763524"/>
            <a:ext cx="654622" cy="23774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00" b="0" i="0" dirty="0">
                <a:solidFill>
                  <a:srgbClr val="2747F5"/>
                </a:solidFill>
                <a:latin typeface="Google Sans Flex Medium"/>
                <a:ea typeface="Google Sans Flex Medium"/>
                <a:cs typeface="Google Sans Flex Medium"/>
                <a:sym typeface="Google Sans Flex Medium"/>
              </a:rPr>
              <a:t xml:space="preserve">Built by us</a:t>
            </a:r>
            <a:endParaRPr lang="en-GB" sz="1000" dirty="0">
              <a:latin typeface="Google Sans Flex Medium"/>
              <a:ea typeface="Google Sans Flex Medium"/>
              <a:cs typeface="Google Sans Flex Medium"/>
              <a:sym typeface="Google Sans Flex Medium"/>
            </a:endParaRPr>
          </a:p>
        </p:txBody>
      </p:sp>
      <p:sp>
        <p:nvSpPr>
          <p:cNvPr id="122" name="Tier legend 122"/>
          <p:cNvSpPr/>
          <p:nvPr/>
        </p:nvSpPr>
        <p:spPr>
          <a:xfrm>
            <a:off x="6931152" y="763524"/>
            <a:ext cx="973010" cy="237744"/>
          </a:xfrm>
          <a:prstGeom prst="roundRect">
            <a:avLst>
              <a:gd name="adj" fmla="val 50000"/>
            </a:avLst>
          </a:prstGeom>
          <a:solidFill>
            <a:srgbClr val="FFFFFF"/>
          </a:solidFill>
          <a:ln w="9525">
            <a:solidFill>
              <a:srgbClr val="D4D4D8"/>
            </a:solidFill>
          </a:ln>
        </p:spPr>
      </p:sp>
      <p:sp>
        <p:nvSpPr>
          <p:cNvPr id="123" name="Tier legend label 123"/>
          <p:cNvSpPr txBox="1"/>
          <p:nvPr/>
        </p:nvSpPr>
        <p:spPr>
          <a:xfrm>
            <a:off x="7022592" y="763524"/>
            <a:ext cx="817563" cy="23774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00" b="0" i="0" dirty="0">
                <a:solidFill>
                  <a:srgbClr val="46464B"/>
                </a:solidFill>
                <a:latin typeface="Google Sans Flex Medium"/>
                <a:ea typeface="Google Sans Flex Medium"/>
                <a:cs typeface="Google Sans Flex Medium"/>
                <a:sym typeface="Google Sans Flex Medium"/>
              </a:rPr>
              <a:t xml:space="preserve">Open source</a:t>
            </a:r>
            <a:endParaRPr lang="en-GB" sz="1000" dirty="0">
              <a:latin typeface="Google Sans Flex Medium"/>
              <a:ea typeface="Google Sans Flex Medium"/>
              <a:cs typeface="Google Sans Flex Medium"/>
              <a:sym typeface="Google Sans Flex Medium"/>
            </a:endParaRPr>
          </a:p>
        </p:txBody>
      </p:sp>
      <p:sp>
        <p:nvSpPr>
          <p:cNvPr id="124" name="Tier legend 124"/>
          <p:cNvSpPr/>
          <p:nvPr/>
        </p:nvSpPr>
        <p:spPr>
          <a:xfrm>
            <a:off x="5668327" y="763524"/>
            <a:ext cx="1189672" cy="237744"/>
          </a:xfrm>
          <a:prstGeom prst="roundRect">
            <a:avLst>
              <a:gd name="adj" fmla="val 50000"/>
            </a:avLst>
          </a:prstGeom>
          <a:solidFill>
            <a:srgbClr val="E8F0FE"/>
          </a:solidFill>
          <a:ln w="9525">
            <a:solidFill>
              <a:srgbClr val="AECBFA"/>
            </a:solidFill>
          </a:ln>
        </p:spPr>
      </p:sp>
      <p:sp>
        <p:nvSpPr>
          <p:cNvPr id="125" name="Tier legend label 125"/>
          <p:cNvSpPr txBox="1"/>
          <p:nvPr/>
        </p:nvSpPr>
        <p:spPr>
          <a:xfrm>
            <a:off x="5759767" y="763524"/>
            <a:ext cx="1034225" cy="23774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00" b="0" i="0" dirty="0">
                <a:solidFill>
                  <a:srgbClr val="1967D2"/>
                </a:solidFill>
                <a:latin typeface="Google Sans Flex Medium"/>
                <a:ea typeface="Google Sans Flex Medium"/>
                <a:cs typeface="Google Sans Flex Medium"/>
                <a:sym typeface="Google Sans Flex Medium"/>
              </a:rPr>
              <a:t xml:space="preserve">Google platform</a:t>
            </a:r>
            <a:endParaRPr lang="en-GB" sz="1000" dirty="0">
              <a:latin typeface="Google Sans Flex Medium"/>
              <a:ea typeface="Google Sans Flex Medium"/>
              <a:cs typeface="Google Sans Flex Medium"/>
              <a:sym typeface="Google Sans Flex Medium"/>
            </a:endParaRPr>
          </a:p>
        </p:txBody>
      </p:sp>
      <p:sp>
        <p:nvSpPr>
          <p:cNvPr id="126" name="Harness band 126"/>
          <p:cNvSpPr/>
          <p:nvPr/>
        </p:nvSpPr>
        <p:spPr>
          <a:xfrm>
            <a:off x="356616" y="1097280"/>
            <a:ext cx="8430768" cy="429768"/>
          </a:xfrm>
          <a:prstGeom prst="roundRect">
            <a:avLst>
              <a:gd name="adj" fmla="val 21276"/>
            </a:avLst>
          </a:prstGeom>
          <a:solidFill>
            <a:srgbClr val="E8F0FE"/>
          </a:solidFill>
          <a:ln w="9525">
            <a:solidFill>
              <a:srgbClr val="AECBFA"/>
            </a:solidFill>
          </a:ln>
        </p:spPr>
      </p:sp>
      <p:pic>
        <p:nvPicPr>
          <p:cNvPr id="127" name="ADK logo 127" descr="Agent Development Kit (ADK) logo"/>
          <p:cNvPicPr>
            <a:picLocks noChangeAspect="1"/>
          </p:cNvPicPr>
          <p:nvPr/>
        </p:nvPicPr>
        <p:blipFill>
          <a:blip r:embed="rId5"/>
          <a:stretch>
            <a:fillRect/>
          </a:stretch>
        </p:blipFill>
        <p:spPr>
          <a:xfrm>
            <a:off x="475488" y="1165860"/>
            <a:ext cx="292608" cy="292608"/>
          </a:xfrm>
          <a:prstGeom prst="rect">
            <a:avLst/>
          </a:prstGeom>
          <a:noFill/>
          <a:ln>
            <a:noFill/>
          </a:ln>
        </p:spPr>
      </p:pic>
      <p:sp>
        <p:nvSpPr>
          <p:cNvPr id="128" name="Harness title 128"/>
          <p:cNvSpPr txBox="1"/>
          <p:nvPr/>
        </p:nvSpPr>
        <p:spPr>
          <a:xfrm>
            <a:off x="868680" y="1124712"/>
            <a:ext cx="7781544" cy="210312"/>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250" b="0" i="0" dirty="0">
                <a:solidFill>
                  <a:srgbClr val="1967D2"/>
                </a:solidFill>
                <a:latin typeface="Google Sans Flex SemiBold"/>
                <a:ea typeface="Google Sans Flex SemiBold"/>
                <a:cs typeface="Google Sans Flex SemiBold"/>
                <a:sym typeface="Google Sans Flex SemiBold"/>
              </a:rPr>
              <a:t xml:space="preserve">Agentic harness: Google ADK</a:t>
            </a:r>
            <a:r>
              <a:rPr lang="en-GB" sz="1250" b="0" i="0" dirty="0">
                <a:solidFill>
                  <a:srgbClr val="111113"/>
                </a:solidFill>
                <a:latin typeface="Google Sans Flex SemiBold"/>
                <a:ea typeface="Google Sans Flex SemiBold"/>
                <a:cs typeface="Google Sans Flex SemiBold"/>
                <a:sym typeface="Google Sans Flex SemiBold"/>
              </a:rPr>
              <a:t xml:space="preserve"> 2.12 · 2 agents, 14 tools</a:t>
            </a:r>
            <a:endParaRPr lang="en-GB" sz="1250" dirty="0">
              <a:latin typeface="Google Sans Flex SemiBold"/>
              <a:ea typeface="Google Sans Flex SemiBold"/>
              <a:cs typeface="Google Sans Flex SemiBold"/>
              <a:sym typeface="Google Sans Flex SemiBold"/>
            </a:endParaRPr>
          </a:p>
        </p:txBody>
      </p:sp>
      <p:sp>
        <p:nvSpPr>
          <p:cNvPr id="129" name="Harness agents 129"/>
          <p:cNvSpPr txBox="1"/>
          <p:nvPr/>
        </p:nvSpPr>
        <p:spPr>
          <a:xfrm>
            <a:off x="868680" y="1325880"/>
            <a:ext cx="7781544" cy="164592"/>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Setup agent </a:t>
            </a:r>
            <a:r>
              <a:rPr lang="en-GB" sz="950" b="0" i="0" dirty="0">
                <a:solidFill>
                  <a:srgbClr val="46464B"/>
                </a:solidFill>
                <a:latin typeface="Google Sans Flex"/>
                <a:ea typeface="Google Sans Flex"/>
                <a:cs typeface="Google Sans Flex"/>
                <a:sym typeface="Google Sans Flex"/>
              </a:rPr>
              <a:t xml:space="preserve">Gemini 3.8 Flash · 5 tools</a:t>
            </a:r>
            <a:r>
              <a:rPr lang="en-GB" sz="950" b="0" i="0" dirty="0">
                <a:solidFill>
                  <a:srgbClr val="111113"/>
                </a:solidFill>
                <a:latin typeface="Google Sans Flex SemiBold"/>
                <a:ea typeface="Google Sans Flex SemiBold"/>
                <a:cs typeface="Google Sans Flex SemiBold"/>
                <a:sym typeface="Google Sans Flex SemiBold"/>
              </a:rPr>
              <a:t xml:space="preserve">     Revision agent </a:t>
            </a:r>
            <a:r>
              <a:rPr lang="en-GB" sz="950" b="0" i="0" dirty="0">
                <a:solidFill>
                  <a:srgbClr val="46464B"/>
                </a:solidFill>
                <a:latin typeface="Google Sans Flex"/>
                <a:ea typeface="Google Sans Flex"/>
                <a:cs typeface="Google Sans Flex"/>
                <a:sym typeface="Google Sans Flex"/>
              </a:rPr>
              <a:t xml:space="preserve">Gemini 4 Argon · 9 tools</a:t>
            </a:r>
            <a:r>
              <a:rPr lang="en-GB" sz="950" b="0" i="0" dirty="0">
                <a:solidFill>
                  <a:srgbClr val="5F6368"/>
                </a:solidFill>
                <a:latin typeface="Google Sans Flex"/>
                <a:ea typeface="Google Sans Flex"/>
                <a:cs typeface="Google Sans Flex"/>
                <a:sym typeface="Google Sans Flex"/>
              </a:rPr>
              <a:t xml:space="preserve">     both run in the Cloud Run service</a:t>
            </a:r>
            <a:endParaRPr lang="en-GB" sz="950" dirty="0">
              <a:latin typeface="Google Sans Flex SemiBold"/>
              <a:ea typeface="Google Sans Flex SemiBold"/>
              <a:cs typeface="Google Sans Flex SemiBold"/>
              <a:sym typeface="Google Sans Flex SemiBold"/>
            </a:endParaRPr>
          </a:p>
        </p:txBody>
      </p:sp>
      <p:sp>
        <p:nvSpPr>
          <p:cNvPr id="130" name="Tech card 130"/>
          <p:cNvSpPr/>
          <p:nvPr/>
        </p:nvSpPr>
        <p:spPr>
          <a:xfrm>
            <a:off x="356616" y="1618488"/>
            <a:ext cx="2749296" cy="1604772"/>
          </a:xfrm>
          <a:prstGeom prst="roundRect">
            <a:avLst>
              <a:gd name="adj" fmla="val 6837"/>
            </a:avLst>
          </a:prstGeom>
          <a:solidFill>
            <a:srgbClr val="E8F0FE"/>
          </a:solidFill>
          <a:ln w="9525">
            <a:solidFill>
              <a:srgbClr val="D2E3FC"/>
            </a:solidFill>
          </a:ln>
        </p:spPr>
      </p:sp>
      <p:pic>
        <p:nvPicPr>
          <p:cNvPr id="131" name="Tech title icon 131" descr="Agent Platform icon"/>
          <p:cNvPicPr>
            <a:picLocks noChangeAspect="1"/>
          </p:cNvPicPr>
          <p:nvPr/>
        </p:nvPicPr>
        <p:blipFill>
          <a:blip r:embed="rId6"/>
          <a:stretch>
            <a:fillRect/>
          </a:stretch>
        </p:blipFill>
        <p:spPr>
          <a:xfrm>
            <a:off x="493776" y="1691640"/>
            <a:ext cx="219456" cy="219456"/>
          </a:xfrm>
          <a:prstGeom prst="rect">
            <a:avLst/>
          </a:prstGeom>
          <a:noFill/>
          <a:ln>
            <a:noFill/>
          </a:ln>
        </p:spPr>
      </p:pic>
      <p:sp>
        <p:nvSpPr>
          <p:cNvPr id="132" name="Tech title 132"/>
          <p:cNvSpPr txBox="1"/>
          <p:nvPr/>
        </p:nvSpPr>
        <p:spPr>
          <a:xfrm>
            <a:off x="777240" y="1673352"/>
            <a:ext cx="2191512" cy="256032"/>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300" b="0" i="0" dirty="0">
                <a:solidFill>
                  <a:srgbClr val="111113"/>
                </a:solidFill>
                <a:latin typeface="Google Sans Flex SemiBold"/>
                <a:ea typeface="Google Sans Flex SemiBold"/>
                <a:cs typeface="Google Sans Flex SemiBold"/>
                <a:sym typeface="Google Sans Flex SemiBold"/>
              </a:rPr>
              <a:t xml:space="preserve">Agent Platform</a:t>
            </a:r>
            <a:endParaRPr lang="en-GB" sz="1300" dirty="0">
              <a:latin typeface="Google Sans Flex SemiBold"/>
              <a:ea typeface="Google Sans Flex SemiBold"/>
              <a:cs typeface="Google Sans Flex SemiBold"/>
              <a:sym typeface="Google Sans Flex SemiBold"/>
            </a:endParaRPr>
          </a:p>
        </p:txBody>
      </p:sp>
      <p:sp>
        <p:nvSpPr>
          <p:cNvPr id="133" name="Tech sub 133"/>
          <p:cNvSpPr txBox="1"/>
          <p:nvPr/>
        </p:nvSpPr>
        <p:spPr>
          <a:xfrm>
            <a:off x="493776" y="1673352"/>
            <a:ext cx="2474976" cy="256032"/>
          </a:xfrm>
          <a:prstGeom prst="rect">
            <a:avLst/>
          </a:prstGeom>
          <a:noFill/>
          <a:ln>
            <a:noFill/>
          </a:ln>
        </p:spPr>
        <p:txBody>
          <a:bodyPr wrap="square" lIns="0" tIns="0" rIns="0" bIns="0" anchor="ctr" rtlCol="0">
            <a:noAutofit/>
          </a:bodyPr>
          <a:lstStyle/>
          <a:p>
            <a:pPr marL="0" indent="0" algn="r" rtl="0">
              <a:lnSpc>
                <a:spcPct val="100000"/>
              </a:lnSpc>
              <a:spcBef>
                <a:spcPts val="0"/>
              </a:spcBef>
              <a:spcAft>
                <a:spcPts val="0"/>
              </a:spcAft>
              <a:buNone/>
            </a:pPr>
            <a:r>
              <a:rPr lang="en-GB" sz="950" b="0" i="0" dirty="0">
                <a:solidFill>
                  <a:srgbClr val="5F6368"/>
                </a:solidFill>
                <a:latin typeface="Google Sans Flex"/>
                <a:ea typeface="Google Sans Flex"/>
                <a:cs typeface="Google Sans Flex"/>
                <a:sym typeface="Google Sans Flex"/>
              </a:rPr>
              <a:t xml:space="preserve">Vertex AI</a:t>
            </a:r>
            <a:endParaRPr lang="en-GB" sz="950" dirty="0">
              <a:latin typeface="Google Sans Flex"/>
              <a:ea typeface="Google Sans Flex"/>
              <a:cs typeface="Google Sans Flex"/>
              <a:sym typeface="Google Sans Flex"/>
            </a:endParaRPr>
          </a:p>
        </p:txBody>
      </p:sp>
      <p:sp>
        <p:nvSpPr>
          <p:cNvPr id="134" name="Tech row 134"/>
          <p:cNvSpPr/>
          <p:nvPr/>
        </p:nvSpPr>
        <p:spPr>
          <a:xfrm>
            <a:off x="493776" y="1956816"/>
            <a:ext cx="2474976" cy="182880"/>
          </a:xfrm>
          <a:prstGeom prst="roundRect">
            <a:avLst>
              <a:gd name="adj" fmla="val 25000"/>
            </a:avLst>
          </a:prstGeom>
          <a:solidFill>
            <a:srgbClr val="FFFFFF"/>
          </a:solidFill>
          <a:ln>
            <a:noFill/>
          </a:ln>
        </p:spPr>
      </p:sp>
      <p:pic>
        <p:nvPicPr>
          <p:cNvPr id="135" name="Tech logo 135" descr="Gemini 4 Argon logo"/>
          <p:cNvPicPr>
            <a:picLocks noChangeAspect="1"/>
          </p:cNvPicPr>
          <p:nvPr/>
        </p:nvPicPr>
        <p:blipFill>
          <a:blip r:embed="rId7"/>
          <a:stretch>
            <a:fillRect/>
          </a:stretch>
        </p:blipFill>
        <p:spPr>
          <a:xfrm>
            <a:off x="557784" y="1979676"/>
            <a:ext cx="137160" cy="137160"/>
          </a:xfrm>
          <a:prstGeom prst="rect">
            <a:avLst/>
          </a:prstGeom>
          <a:noFill/>
          <a:ln>
            <a:noFill/>
          </a:ln>
        </p:spPr>
      </p:pic>
      <p:sp>
        <p:nvSpPr>
          <p:cNvPr id="136" name="Tech row 136"/>
          <p:cNvSpPr txBox="1"/>
          <p:nvPr/>
        </p:nvSpPr>
        <p:spPr>
          <a:xfrm>
            <a:off x="768096" y="1956816"/>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Gemini 4 Argon</a:t>
            </a:r>
            <a:r>
              <a:rPr lang="en-GB" sz="950" b="0" i="0" dirty="0">
                <a:solidFill>
                  <a:srgbClr val="5F6368"/>
                </a:solidFill>
                <a:latin typeface="Google Sans Flex"/>
                <a:ea typeface="Google Sans Flex"/>
                <a:cs typeface="Google Sans Flex"/>
                <a:sym typeface="Google Sans Flex"/>
              </a:rPr>
              <a:t xml:space="preserve">  plan, 3D code, revise</a:t>
            </a:r>
            <a:endParaRPr lang="en-GB" sz="950" dirty="0">
              <a:latin typeface="Google Sans Flex SemiBold"/>
              <a:ea typeface="Google Sans Flex SemiBold"/>
              <a:cs typeface="Google Sans Flex SemiBold"/>
              <a:sym typeface="Google Sans Flex SemiBold"/>
            </a:endParaRPr>
          </a:p>
        </p:txBody>
      </p:sp>
      <p:sp>
        <p:nvSpPr>
          <p:cNvPr id="137" name="Tech row 137"/>
          <p:cNvSpPr/>
          <p:nvPr/>
        </p:nvSpPr>
        <p:spPr>
          <a:xfrm>
            <a:off x="493776" y="2162556"/>
            <a:ext cx="2474976" cy="182880"/>
          </a:xfrm>
          <a:prstGeom prst="roundRect">
            <a:avLst>
              <a:gd name="adj" fmla="val 25000"/>
            </a:avLst>
          </a:prstGeom>
          <a:solidFill>
            <a:srgbClr val="FFFFFF"/>
          </a:solidFill>
          <a:ln>
            <a:noFill/>
          </a:ln>
        </p:spPr>
      </p:sp>
      <p:pic>
        <p:nvPicPr>
          <p:cNvPr id="138" name="Tech logo 138" descr="Gemini 3.8 Flash logo"/>
          <p:cNvPicPr>
            <a:picLocks noChangeAspect="1"/>
          </p:cNvPicPr>
          <p:nvPr/>
        </p:nvPicPr>
        <p:blipFill>
          <a:blip r:embed="rId8"/>
          <a:stretch>
            <a:fillRect/>
          </a:stretch>
        </p:blipFill>
        <p:spPr>
          <a:xfrm>
            <a:off x="557784" y="2185416"/>
            <a:ext cx="137160" cy="137160"/>
          </a:xfrm>
          <a:prstGeom prst="rect">
            <a:avLst/>
          </a:prstGeom>
          <a:noFill/>
          <a:ln>
            <a:noFill/>
          </a:ln>
        </p:spPr>
      </p:pic>
      <p:sp>
        <p:nvSpPr>
          <p:cNvPr id="139" name="Tech row 139"/>
          <p:cNvSpPr txBox="1"/>
          <p:nvPr/>
        </p:nvSpPr>
        <p:spPr>
          <a:xfrm>
            <a:off x="768096" y="2162556"/>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Gemini 3.8 Flash</a:t>
            </a:r>
            <a:r>
              <a:rPr lang="en-GB" sz="950" b="0" i="0" dirty="0">
                <a:solidFill>
                  <a:srgbClr val="5F6368"/>
                </a:solidFill>
                <a:latin typeface="Google Sans Flex"/>
                <a:ea typeface="Google Sans Flex"/>
                <a:cs typeface="Google Sans Flex"/>
                <a:sym typeface="Google Sans Flex"/>
              </a:rPr>
              <a:t xml:space="preserve">  setup agent</a:t>
            </a:r>
            <a:endParaRPr lang="en-GB" sz="950" dirty="0">
              <a:latin typeface="Google Sans Flex SemiBold"/>
              <a:ea typeface="Google Sans Flex SemiBold"/>
              <a:cs typeface="Google Sans Flex SemiBold"/>
              <a:sym typeface="Google Sans Flex SemiBold"/>
            </a:endParaRPr>
          </a:p>
        </p:txBody>
      </p:sp>
      <p:sp>
        <p:nvSpPr>
          <p:cNvPr id="140" name="Tech row 140"/>
          <p:cNvSpPr/>
          <p:nvPr/>
        </p:nvSpPr>
        <p:spPr>
          <a:xfrm>
            <a:off x="493776" y="2368296"/>
            <a:ext cx="2474976" cy="182880"/>
          </a:xfrm>
          <a:prstGeom prst="roundRect">
            <a:avLst>
              <a:gd name="adj" fmla="val 25000"/>
            </a:avLst>
          </a:prstGeom>
          <a:solidFill>
            <a:srgbClr val="FFFFFF"/>
          </a:solidFill>
          <a:ln>
            <a:noFill/>
          </a:ln>
        </p:spPr>
      </p:sp>
      <p:pic>
        <p:nvPicPr>
          <p:cNvPr id="141" name="Tech logo 141" descr="Gemini 3.1 Flash Image logo"/>
          <p:cNvPicPr>
            <a:picLocks noChangeAspect="1"/>
          </p:cNvPicPr>
          <p:nvPr/>
        </p:nvPicPr>
        <p:blipFill>
          <a:blip r:embed="rId9"/>
          <a:stretch>
            <a:fillRect/>
          </a:stretch>
        </p:blipFill>
        <p:spPr>
          <a:xfrm>
            <a:off x="557784" y="2391156"/>
            <a:ext cx="137160" cy="137160"/>
          </a:xfrm>
          <a:prstGeom prst="rect">
            <a:avLst/>
          </a:prstGeom>
          <a:noFill/>
          <a:ln>
            <a:noFill/>
          </a:ln>
        </p:spPr>
      </p:pic>
      <p:sp>
        <p:nvSpPr>
          <p:cNvPr id="142" name="Tech row 142"/>
          <p:cNvSpPr txBox="1"/>
          <p:nvPr/>
        </p:nvSpPr>
        <p:spPr>
          <a:xfrm>
            <a:off x="768096" y="2368296"/>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Gemini 3.1 Flash Image</a:t>
            </a:r>
            <a:r>
              <a:rPr lang="en-GB" sz="950" b="0" i="0" dirty="0">
                <a:solidFill>
                  <a:srgbClr val="5F6368"/>
                </a:solidFill>
                <a:latin typeface="Google Sans Flex"/>
                <a:ea typeface="Google Sans Flex"/>
                <a:cs typeface="Google Sans Flex"/>
                <a:sym typeface="Google Sans Flex"/>
              </a:rPr>
              <a:t xml:space="preserve">  concepts</a:t>
            </a:r>
            <a:endParaRPr lang="en-GB" sz="950" dirty="0">
              <a:latin typeface="Google Sans Flex SemiBold"/>
              <a:ea typeface="Google Sans Flex SemiBold"/>
              <a:cs typeface="Google Sans Flex SemiBold"/>
              <a:sym typeface="Google Sans Flex SemiBold"/>
            </a:endParaRPr>
          </a:p>
        </p:txBody>
      </p:sp>
      <p:sp>
        <p:nvSpPr>
          <p:cNvPr id="143" name="Tech row 143"/>
          <p:cNvSpPr/>
          <p:nvPr/>
        </p:nvSpPr>
        <p:spPr>
          <a:xfrm>
            <a:off x="493776" y="2574036"/>
            <a:ext cx="2474976" cy="182880"/>
          </a:xfrm>
          <a:prstGeom prst="roundRect">
            <a:avLst>
              <a:gd name="adj" fmla="val 25000"/>
            </a:avLst>
          </a:prstGeom>
          <a:solidFill>
            <a:srgbClr val="FFFFFF"/>
          </a:solidFill>
          <a:ln>
            <a:noFill/>
          </a:ln>
        </p:spPr>
      </p:sp>
      <p:pic>
        <p:nvPicPr>
          <p:cNvPr id="144" name="Tech logo 144" descr="Nano Banana 2.1 logo"/>
          <p:cNvPicPr>
            <a:picLocks noChangeAspect="1"/>
          </p:cNvPicPr>
          <p:nvPr/>
        </p:nvPicPr>
        <p:blipFill>
          <a:blip r:embed="rId10"/>
          <a:stretch>
            <a:fillRect/>
          </a:stretch>
        </p:blipFill>
        <p:spPr>
          <a:xfrm>
            <a:off x="557784" y="2596896"/>
            <a:ext cx="137160" cy="137160"/>
          </a:xfrm>
          <a:prstGeom prst="rect">
            <a:avLst/>
          </a:prstGeom>
          <a:noFill/>
          <a:ln>
            <a:noFill/>
          </a:ln>
        </p:spPr>
      </p:pic>
      <p:sp>
        <p:nvSpPr>
          <p:cNvPr id="145" name="Tech row 145"/>
          <p:cNvSpPr txBox="1"/>
          <p:nvPr/>
        </p:nvSpPr>
        <p:spPr>
          <a:xfrm>
            <a:off x="768096" y="2574036"/>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Nano Banana 2.1</a:t>
            </a:r>
            <a:r>
              <a:rPr lang="en-GB" sz="950" b="0" i="0" dirty="0">
                <a:solidFill>
                  <a:srgbClr val="5F6368"/>
                </a:solidFill>
                <a:latin typeface="Google Sans Flex"/>
                <a:ea typeface="Google Sans Flex"/>
                <a:cs typeface="Google Sans Flex"/>
                <a:sym typeface="Google Sans Flex"/>
              </a:rPr>
              <a:t xml:space="preserve">  image fallback 1</a:t>
            </a:r>
            <a:endParaRPr lang="en-GB" sz="950" dirty="0">
              <a:latin typeface="Google Sans Flex SemiBold"/>
              <a:ea typeface="Google Sans Flex SemiBold"/>
              <a:cs typeface="Google Sans Flex SemiBold"/>
              <a:sym typeface="Google Sans Flex SemiBold"/>
            </a:endParaRPr>
          </a:p>
        </p:txBody>
      </p:sp>
      <p:sp>
        <p:nvSpPr>
          <p:cNvPr id="146" name="Tech row 146"/>
          <p:cNvSpPr/>
          <p:nvPr/>
        </p:nvSpPr>
        <p:spPr>
          <a:xfrm>
            <a:off x="493776" y="2779776"/>
            <a:ext cx="2474976" cy="182880"/>
          </a:xfrm>
          <a:prstGeom prst="roundRect">
            <a:avLst>
              <a:gd name="adj" fmla="val 25000"/>
            </a:avLst>
          </a:prstGeom>
          <a:solidFill>
            <a:srgbClr val="FFFFFF"/>
          </a:solidFill>
          <a:ln>
            <a:noFill/>
          </a:ln>
        </p:spPr>
      </p:sp>
      <p:pic>
        <p:nvPicPr>
          <p:cNvPr id="147" name="Tech logo 147" descr="Gemini 3 Pro Image logo"/>
          <p:cNvPicPr>
            <a:picLocks noChangeAspect="1"/>
          </p:cNvPicPr>
          <p:nvPr/>
        </p:nvPicPr>
        <p:blipFill>
          <a:blip r:embed="rId11"/>
          <a:stretch>
            <a:fillRect/>
          </a:stretch>
        </p:blipFill>
        <p:spPr>
          <a:xfrm>
            <a:off x="557784" y="2802636"/>
            <a:ext cx="137160" cy="137160"/>
          </a:xfrm>
          <a:prstGeom prst="rect">
            <a:avLst/>
          </a:prstGeom>
          <a:noFill/>
          <a:ln>
            <a:noFill/>
          </a:ln>
        </p:spPr>
      </p:pic>
      <p:sp>
        <p:nvSpPr>
          <p:cNvPr id="148" name="Tech row 148"/>
          <p:cNvSpPr txBox="1"/>
          <p:nvPr/>
        </p:nvSpPr>
        <p:spPr>
          <a:xfrm>
            <a:off x="768096" y="2779776"/>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Gemini 3 Pro Image</a:t>
            </a:r>
            <a:r>
              <a:rPr lang="en-GB" sz="950" b="0" i="0" dirty="0">
                <a:solidFill>
                  <a:srgbClr val="5F6368"/>
                </a:solidFill>
                <a:latin typeface="Google Sans Flex"/>
                <a:ea typeface="Google Sans Flex"/>
                <a:cs typeface="Google Sans Flex"/>
                <a:sym typeface="Google Sans Flex"/>
              </a:rPr>
              <a:t xml:space="preserve">  image fallback 2</a:t>
            </a:r>
            <a:endParaRPr lang="en-GB" sz="950" dirty="0">
              <a:latin typeface="Google Sans Flex SemiBold"/>
              <a:ea typeface="Google Sans Flex SemiBold"/>
              <a:cs typeface="Google Sans Flex SemiBold"/>
              <a:sym typeface="Google Sans Flex SemiBold"/>
            </a:endParaRPr>
          </a:p>
        </p:txBody>
      </p:sp>
      <p:sp>
        <p:nvSpPr>
          <p:cNvPr id="149" name="Tech row 149"/>
          <p:cNvSpPr/>
          <p:nvPr/>
        </p:nvSpPr>
        <p:spPr>
          <a:xfrm>
            <a:off x="493776" y="2985516"/>
            <a:ext cx="2474976" cy="182880"/>
          </a:xfrm>
          <a:prstGeom prst="roundRect">
            <a:avLst>
              <a:gd name="adj" fmla="val 25000"/>
            </a:avLst>
          </a:prstGeom>
          <a:solidFill>
            <a:srgbClr val="FFFFFF"/>
          </a:solidFill>
          <a:ln>
            <a:noFill/>
          </a:ln>
        </p:spPr>
      </p:sp>
      <p:pic>
        <p:nvPicPr>
          <p:cNvPr id="150" name="Tech logo 150" descr="Global endpoint icon"/>
          <p:cNvPicPr>
            <a:picLocks noChangeAspect="1"/>
          </p:cNvPicPr>
          <p:nvPr/>
        </p:nvPicPr>
        <p:blipFill>
          <a:blip r:embed="rId12"/>
          <a:stretch>
            <a:fillRect/>
          </a:stretch>
        </p:blipFill>
        <p:spPr>
          <a:xfrm>
            <a:off x="557784" y="3008376"/>
            <a:ext cx="137160" cy="137160"/>
          </a:xfrm>
          <a:prstGeom prst="rect">
            <a:avLst/>
          </a:prstGeom>
          <a:noFill/>
          <a:ln>
            <a:noFill/>
          </a:ln>
        </p:spPr>
      </p:pic>
      <p:sp>
        <p:nvSpPr>
          <p:cNvPr id="151" name="Tech row 151"/>
          <p:cNvSpPr txBox="1"/>
          <p:nvPr/>
        </p:nvSpPr>
        <p:spPr>
          <a:xfrm>
            <a:off x="768096" y="2985516"/>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Global endpoint</a:t>
            </a:r>
            <a:r>
              <a:rPr lang="en-GB" sz="950" b="0" i="0" dirty="0">
                <a:solidFill>
                  <a:srgbClr val="5F6368"/>
                </a:solidFill>
                <a:latin typeface="Google Sans Flex"/>
                <a:ea typeface="Google Sans Flex"/>
                <a:cs typeface="Google Sans Flex"/>
                <a:sym typeface="Google Sans Flex"/>
              </a:rPr>
              <a:t xml:space="preserve">  newest models only</a:t>
            </a:r>
            <a:endParaRPr lang="en-GB" sz="950" dirty="0">
              <a:latin typeface="Google Sans Flex SemiBold"/>
              <a:ea typeface="Google Sans Flex SemiBold"/>
              <a:cs typeface="Google Sans Flex SemiBold"/>
              <a:sym typeface="Google Sans Flex SemiBold"/>
            </a:endParaRPr>
          </a:p>
        </p:txBody>
      </p:sp>
      <p:sp>
        <p:nvSpPr>
          <p:cNvPr id="152" name="Tech card 152"/>
          <p:cNvSpPr/>
          <p:nvPr/>
        </p:nvSpPr>
        <p:spPr>
          <a:xfrm>
            <a:off x="3197352" y="1618488"/>
            <a:ext cx="2749296" cy="1604772"/>
          </a:xfrm>
          <a:prstGeom prst="roundRect">
            <a:avLst>
              <a:gd name="adj" fmla="val 6837"/>
            </a:avLst>
          </a:prstGeom>
          <a:solidFill>
            <a:srgbClr val="E8F0FE"/>
          </a:solidFill>
          <a:ln w="9525">
            <a:solidFill>
              <a:srgbClr val="D2E3FC"/>
            </a:solidFill>
          </a:ln>
        </p:spPr>
      </p:sp>
      <p:pic>
        <p:nvPicPr>
          <p:cNvPr id="153" name="Google Cloud logo 153" descr="Google Cloud logo"/>
          <p:cNvPicPr>
            <a:picLocks noChangeAspect="1"/>
          </p:cNvPicPr>
          <p:nvPr/>
        </p:nvPicPr>
        <p:blipFill>
          <a:blip r:embed="rId13"/>
          <a:stretch>
            <a:fillRect/>
          </a:stretch>
        </p:blipFill>
        <p:spPr>
          <a:xfrm>
            <a:off x="3334512" y="1709928"/>
            <a:ext cx="1125855" cy="182880"/>
          </a:xfrm>
          <a:prstGeom prst="rect">
            <a:avLst/>
          </a:prstGeom>
          <a:noFill/>
          <a:ln>
            <a:noFill/>
          </a:ln>
        </p:spPr>
      </p:pic>
      <p:sp>
        <p:nvSpPr>
          <p:cNvPr id="154" name="Tech sub 154"/>
          <p:cNvSpPr txBox="1"/>
          <p:nvPr/>
        </p:nvSpPr>
        <p:spPr>
          <a:xfrm>
            <a:off x="3334512" y="1673352"/>
            <a:ext cx="2474976" cy="256032"/>
          </a:xfrm>
          <a:prstGeom prst="rect">
            <a:avLst/>
          </a:prstGeom>
          <a:noFill/>
          <a:ln>
            <a:noFill/>
          </a:ln>
        </p:spPr>
        <p:txBody>
          <a:bodyPr wrap="square" lIns="0" tIns="0" rIns="0" bIns="0" anchor="ctr" rtlCol="0">
            <a:noAutofit/>
          </a:bodyPr>
          <a:lstStyle/>
          <a:p>
            <a:pPr marL="0" indent="0" algn="r" rtl="0">
              <a:lnSpc>
                <a:spcPct val="100000"/>
              </a:lnSpc>
              <a:spcBef>
                <a:spcPts val="0"/>
              </a:spcBef>
              <a:spcAft>
                <a:spcPts val="0"/>
              </a:spcAft>
              <a:buNone/>
            </a:pPr>
            <a:r>
              <a:rPr lang="en-GB" sz="950" b="0" i="0" dirty="0">
                <a:solidFill>
                  <a:srgbClr val="5F6368"/>
                </a:solidFill>
                <a:latin typeface="Google Sans Flex"/>
                <a:ea typeface="Google Sans Flex"/>
                <a:cs typeface="Google Sans Flex"/>
                <a:sym typeface="Google Sans Flex"/>
              </a:rPr>
              <a:t xml:space="preserve">one project</a:t>
            </a:r>
            <a:endParaRPr lang="en-GB" sz="950" dirty="0">
              <a:latin typeface="Google Sans Flex"/>
              <a:ea typeface="Google Sans Flex"/>
              <a:cs typeface="Google Sans Flex"/>
              <a:sym typeface="Google Sans Flex"/>
            </a:endParaRPr>
          </a:p>
        </p:txBody>
      </p:sp>
      <p:sp>
        <p:nvSpPr>
          <p:cNvPr id="155" name="Tech row 155"/>
          <p:cNvSpPr/>
          <p:nvPr/>
        </p:nvSpPr>
        <p:spPr>
          <a:xfrm>
            <a:off x="3334512" y="1956816"/>
            <a:ext cx="2474976" cy="182880"/>
          </a:xfrm>
          <a:prstGeom prst="roundRect">
            <a:avLst>
              <a:gd name="adj" fmla="val 25000"/>
            </a:avLst>
          </a:prstGeom>
          <a:solidFill>
            <a:srgbClr val="FFFFFF"/>
          </a:solidFill>
          <a:ln>
            <a:noFill/>
          </a:ln>
        </p:spPr>
      </p:sp>
      <p:pic>
        <p:nvPicPr>
          <p:cNvPr id="156" name="Tech logo 156" descr="Cloud Run logo"/>
          <p:cNvPicPr>
            <a:picLocks noChangeAspect="1"/>
          </p:cNvPicPr>
          <p:nvPr/>
        </p:nvPicPr>
        <p:blipFill>
          <a:blip r:embed="rId14"/>
          <a:stretch>
            <a:fillRect/>
          </a:stretch>
        </p:blipFill>
        <p:spPr>
          <a:xfrm>
            <a:off x="3398520" y="1979676"/>
            <a:ext cx="137160" cy="137160"/>
          </a:xfrm>
          <a:prstGeom prst="rect">
            <a:avLst/>
          </a:prstGeom>
          <a:noFill/>
          <a:ln>
            <a:noFill/>
          </a:ln>
        </p:spPr>
      </p:pic>
      <p:sp>
        <p:nvSpPr>
          <p:cNvPr id="157" name="Tech row 157"/>
          <p:cNvSpPr txBox="1"/>
          <p:nvPr/>
        </p:nvSpPr>
        <p:spPr>
          <a:xfrm>
            <a:off x="3608832" y="1956816"/>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Cloud Run</a:t>
            </a:r>
            <a:r>
              <a:rPr lang="en-GB" sz="950" b="0" i="0" dirty="0">
                <a:solidFill>
                  <a:srgbClr val="5F6368"/>
                </a:solidFill>
                <a:latin typeface="Google Sans Flex"/>
                <a:ea typeface="Google Sans Flex"/>
                <a:cs typeface="Google Sans Flex"/>
                <a:sym typeface="Google Sans Flex"/>
              </a:rPr>
              <a:t xml:space="preserve">  API, React app, agents</a:t>
            </a:r>
            <a:endParaRPr lang="en-GB" sz="950" dirty="0">
              <a:latin typeface="Google Sans Flex SemiBold"/>
              <a:ea typeface="Google Sans Flex SemiBold"/>
              <a:cs typeface="Google Sans Flex SemiBold"/>
              <a:sym typeface="Google Sans Flex SemiBold"/>
            </a:endParaRPr>
          </a:p>
        </p:txBody>
      </p:sp>
      <p:sp>
        <p:nvSpPr>
          <p:cNvPr id="158" name="Tech row 158"/>
          <p:cNvSpPr/>
          <p:nvPr/>
        </p:nvSpPr>
        <p:spPr>
          <a:xfrm>
            <a:off x="3334512" y="2162556"/>
            <a:ext cx="2474976" cy="182880"/>
          </a:xfrm>
          <a:prstGeom prst="roundRect">
            <a:avLst>
              <a:gd name="adj" fmla="val 25000"/>
            </a:avLst>
          </a:prstGeom>
          <a:solidFill>
            <a:srgbClr val="FFFFFF"/>
          </a:solidFill>
          <a:ln>
            <a:noFill/>
          </a:ln>
        </p:spPr>
      </p:sp>
      <p:pic>
        <p:nvPicPr>
          <p:cNvPr id="159" name="Tech logo 159" descr="Firestore logo"/>
          <p:cNvPicPr>
            <a:picLocks noChangeAspect="1"/>
          </p:cNvPicPr>
          <p:nvPr/>
        </p:nvPicPr>
        <p:blipFill>
          <a:blip r:embed="rId15"/>
          <a:stretch>
            <a:fillRect/>
          </a:stretch>
        </p:blipFill>
        <p:spPr>
          <a:xfrm>
            <a:off x="3398520" y="2185416"/>
            <a:ext cx="137160" cy="137160"/>
          </a:xfrm>
          <a:prstGeom prst="rect">
            <a:avLst/>
          </a:prstGeom>
          <a:noFill/>
          <a:ln>
            <a:noFill/>
          </a:ln>
        </p:spPr>
      </p:pic>
      <p:sp>
        <p:nvSpPr>
          <p:cNvPr id="160" name="Tech row 160"/>
          <p:cNvSpPr txBox="1"/>
          <p:nvPr/>
        </p:nvSpPr>
        <p:spPr>
          <a:xfrm>
            <a:off x="3608832" y="2162556"/>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Firestore</a:t>
            </a:r>
            <a:r>
              <a:rPr lang="en-GB" sz="950" b="0" i="0" dirty="0">
                <a:solidFill>
                  <a:srgbClr val="5F6368"/>
                </a:solidFill>
                <a:latin typeface="Google Sans Flex"/>
                <a:ea typeface="Google Sans Flex"/>
                <a:cs typeface="Google Sans Flex"/>
                <a:sym typeface="Google Sans Flex"/>
              </a:rPr>
              <a:t xml:space="preserve">  projects, versions</a:t>
            </a:r>
            <a:endParaRPr lang="en-GB" sz="950" dirty="0">
              <a:latin typeface="Google Sans Flex SemiBold"/>
              <a:ea typeface="Google Sans Flex SemiBold"/>
              <a:cs typeface="Google Sans Flex SemiBold"/>
              <a:sym typeface="Google Sans Flex SemiBold"/>
            </a:endParaRPr>
          </a:p>
        </p:txBody>
      </p:sp>
      <p:sp>
        <p:nvSpPr>
          <p:cNvPr id="161" name="Tech row 161"/>
          <p:cNvSpPr/>
          <p:nvPr/>
        </p:nvSpPr>
        <p:spPr>
          <a:xfrm>
            <a:off x="3334512" y="2368296"/>
            <a:ext cx="2474976" cy="182880"/>
          </a:xfrm>
          <a:prstGeom prst="roundRect">
            <a:avLst>
              <a:gd name="adj" fmla="val 25000"/>
            </a:avLst>
          </a:prstGeom>
          <a:solidFill>
            <a:srgbClr val="FFFFFF"/>
          </a:solidFill>
          <a:ln>
            <a:noFill/>
          </a:ln>
        </p:spPr>
      </p:sp>
      <p:pic>
        <p:nvPicPr>
          <p:cNvPr id="162" name="Tech logo 162" descr="Cloud Storage logo"/>
          <p:cNvPicPr>
            <a:picLocks noChangeAspect="1"/>
          </p:cNvPicPr>
          <p:nvPr/>
        </p:nvPicPr>
        <p:blipFill>
          <a:blip r:embed="rId16"/>
          <a:stretch>
            <a:fillRect/>
          </a:stretch>
        </p:blipFill>
        <p:spPr>
          <a:xfrm>
            <a:off x="3398520" y="2391156"/>
            <a:ext cx="137160" cy="137160"/>
          </a:xfrm>
          <a:prstGeom prst="rect">
            <a:avLst/>
          </a:prstGeom>
          <a:noFill/>
          <a:ln>
            <a:noFill/>
          </a:ln>
        </p:spPr>
      </p:pic>
      <p:sp>
        <p:nvSpPr>
          <p:cNvPr id="163" name="Tech row 163"/>
          <p:cNvSpPr txBox="1"/>
          <p:nvPr/>
        </p:nvSpPr>
        <p:spPr>
          <a:xfrm>
            <a:off x="3608832" y="2368296"/>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Cloud Storage</a:t>
            </a:r>
            <a:r>
              <a:rPr lang="en-GB" sz="950" b="0" i="0" dirty="0">
                <a:solidFill>
                  <a:srgbClr val="5F6368"/>
                </a:solidFill>
                <a:latin typeface="Google Sans Flex"/>
                <a:ea typeface="Google Sans Flex"/>
                <a:cs typeface="Google Sans Flex"/>
                <a:sym typeface="Google Sans Flex"/>
              </a:rPr>
              <a:t xml:space="preserve">  images, drawings</a:t>
            </a:r>
            <a:endParaRPr lang="en-GB" sz="950" dirty="0">
              <a:latin typeface="Google Sans Flex SemiBold"/>
              <a:ea typeface="Google Sans Flex SemiBold"/>
              <a:cs typeface="Google Sans Flex SemiBold"/>
              <a:sym typeface="Google Sans Flex SemiBold"/>
            </a:endParaRPr>
          </a:p>
        </p:txBody>
      </p:sp>
      <p:sp>
        <p:nvSpPr>
          <p:cNvPr id="164" name="Tech row 164"/>
          <p:cNvSpPr/>
          <p:nvPr/>
        </p:nvSpPr>
        <p:spPr>
          <a:xfrm>
            <a:off x="3334512" y="2574036"/>
            <a:ext cx="2474976" cy="182880"/>
          </a:xfrm>
          <a:prstGeom prst="roundRect">
            <a:avLst>
              <a:gd name="adj" fmla="val 25000"/>
            </a:avLst>
          </a:prstGeom>
          <a:solidFill>
            <a:srgbClr val="FFFFFF"/>
          </a:solidFill>
          <a:ln>
            <a:noFill/>
          </a:ln>
        </p:spPr>
      </p:sp>
      <p:pic>
        <p:nvPicPr>
          <p:cNvPr id="165" name="Tech logo 165" descr="Firebase Authentication logo"/>
          <p:cNvPicPr>
            <a:picLocks noChangeAspect="1"/>
          </p:cNvPicPr>
          <p:nvPr/>
        </p:nvPicPr>
        <p:blipFill>
          <a:blip r:embed="rId17"/>
          <a:stretch>
            <a:fillRect/>
          </a:stretch>
        </p:blipFill>
        <p:spPr>
          <a:xfrm>
            <a:off x="3398520" y="2596896"/>
            <a:ext cx="137160" cy="137160"/>
          </a:xfrm>
          <a:prstGeom prst="rect">
            <a:avLst/>
          </a:prstGeom>
          <a:noFill/>
          <a:ln>
            <a:noFill/>
          </a:ln>
        </p:spPr>
      </p:pic>
      <p:sp>
        <p:nvSpPr>
          <p:cNvPr id="166" name="Tech row 166"/>
          <p:cNvSpPr txBox="1"/>
          <p:nvPr/>
        </p:nvSpPr>
        <p:spPr>
          <a:xfrm>
            <a:off x="3608832" y="2574036"/>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Firebase Authentication</a:t>
            </a:r>
            <a:r>
              <a:rPr lang="en-GB" sz="950" b="0" i="0" dirty="0">
                <a:solidFill>
                  <a:srgbClr val="5F6368"/>
                </a:solidFill>
                <a:latin typeface="Google Sans Flex"/>
                <a:ea typeface="Google Sans Flex"/>
                <a:cs typeface="Google Sans Flex"/>
                <a:sym typeface="Google Sans Flex"/>
              </a:rPr>
              <a:t xml:space="preserve">  sign-in, roles</a:t>
            </a:r>
            <a:endParaRPr lang="en-GB" sz="950" dirty="0">
              <a:latin typeface="Google Sans Flex SemiBold"/>
              <a:ea typeface="Google Sans Flex SemiBold"/>
              <a:cs typeface="Google Sans Flex SemiBold"/>
              <a:sym typeface="Google Sans Flex SemiBold"/>
            </a:endParaRPr>
          </a:p>
        </p:txBody>
      </p:sp>
      <p:sp>
        <p:nvSpPr>
          <p:cNvPr id="167" name="Tech row 167"/>
          <p:cNvSpPr/>
          <p:nvPr/>
        </p:nvSpPr>
        <p:spPr>
          <a:xfrm>
            <a:off x="3334512" y="2779776"/>
            <a:ext cx="2474976" cy="182880"/>
          </a:xfrm>
          <a:prstGeom prst="roundRect">
            <a:avLst>
              <a:gd name="adj" fmla="val 25000"/>
            </a:avLst>
          </a:prstGeom>
          <a:solidFill>
            <a:srgbClr val="FFFFFF"/>
          </a:solidFill>
          <a:ln>
            <a:noFill/>
          </a:ln>
        </p:spPr>
      </p:sp>
      <p:pic>
        <p:nvPicPr>
          <p:cNvPr id="168" name="Tech logo 168" descr="Cloud Build logo"/>
          <p:cNvPicPr>
            <a:picLocks noChangeAspect="1"/>
          </p:cNvPicPr>
          <p:nvPr/>
        </p:nvPicPr>
        <p:blipFill>
          <a:blip r:embed="rId18"/>
          <a:stretch>
            <a:fillRect/>
          </a:stretch>
        </p:blipFill>
        <p:spPr>
          <a:xfrm>
            <a:off x="3398520" y="2802636"/>
            <a:ext cx="137160" cy="137160"/>
          </a:xfrm>
          <a:prstGeom prst="rect">
            <a:avLst/>
          </a:prstGeom>
          <a:noFill/>
          <a:ln>
            <a:noFill/>
          </a:ln>
        </p:spPr>
      </p:pic>
      <p:sp>
        <p:nvSpPr>
          <p:cNvPr id="169" name="Tech row 169"/>
          <p:cNvSpPr txBox="1"/>
          <p:nvPr/>
        </p:nvSpPr>
        <p:spPr>
          <a:xfrm>
            <a:off x="3608832" y="2779776"/>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Cloud Build</a:t>
            </a:r>
            <a:r>
              <a:rPr lang="en-GB" sz="950" b="0" i="0" dirty="0">
                <a:solidFill>
                  <a:srgbClr val="5F6368"/>
                </a:solidFill>
                <a:latin typeface="Google Sans Flex"/>
                <a:ea typeface="Google Sans Flex"/>
                <a:cs typeface="Google Sans Flex"/>
                <a:sym typeface="Google Sans Flex"/>
              </a:rPr>
              <a:t xml:space="preserve">  builds each deploy</a:t>
            </a:r>
            <a:endParaRPr lang="en-GB" sz="950" dirty="0">
              <a:latin typeface="Google Sans Flex SemiBold"/>
              <a:ea typeface="Google Sans Flex SemiBold"/>
              <a:cs typeface="Google Sans Flex SemiBold"/>
              <a:sym typeface="Google Sans Flex SemiBold"/>
            </a:endParaRPr>
          </a:p>
        </p:txBody>
      </p:sp>
      <p:sp>
        <p:nvSpPr>
          <p:cNvPr id="170" name="Tech row 170"/>
          <p:cNvSpPr/>
          <p:nvPr/>
        </p:nvSpPr>
        <p:spPr>
          <a:xfrm>
            <a:off x="3334512" y="2985516"/>
            <a:ext cx="2474976" cy="182880"/>
          </a:xfrm>
          <a:prstGeom prst="roundRect">
            <a:avLst>
              <a:gd name="adj" fmla="val 25000"/>
            </a:avLst>
          </a:prstGeom>
          <a:solidFill>
            <a:srgbClr val="FFFFFF"/>
          </a:solidFill>
          <a:ln>
            <a:noFill/>
          </a:ln>
        </p:spPr>
      </p:sp>
      <p:pic>
        <p:nvPicPr>
          <p:cNvPr id="171" name="Tech logo 171" descr="Artifact Registry logo"/>
          <p:cNvPicPr>
            <a:picLocks noChangeAspect="1"/>
          </p:cNvPicPr>
          <p:nvPr/>
        </p:nvPicPr>
        <p:blipFill>
          <a:blip r:embed="rId19"/>
          <a:stretch>
            <a:fillRect/>
          </a:stretch>
        </p:blipFill>
        <p:spPr>
          <a:xfrm>
            <a:off x="3398520" y="3008376"/>
            <a:ext cx="137160" cy="137160"/>
          </a:xfrm>
          <a:prstGeom prst="rect">
            <a:avLst/>
          </a:prstGeom>
          <a:noFill/>
          <a:ln>
            <a:noFill/>
          </a:ln>
        </p:spPr>
      </p:pic>
      <p:sp>
        <p:nvSpPr>
          <p:cNvPr id="172" name="Tech row 172"/>
          <p:cNvSpPr txBox="1"/>
          <p:nvPr/>
        </p:nvSpPr>
        <p:spPr>
          <a:xfrm>
            <a:off x="3608832" y="2985516"/>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Artifact Registry</a:t>
            </a:r>
            <a:r>
              <a:rPr lang="en-GB" sz="950" b="0" i="0" dirty="0">
                <a:solidFill>
                  <a:srgbClr val="5F6368"/>
                </a:solidFill>
                <a:latin typeface="Google Sans Flex"/>
                <a:ea typeface="Google Sans Flex"/>
                <a:cs typeface="Google Sans Flex"/>
                <a:sym typeface="Google Sans Flex"/>
              </a:rPr>
              <a:t xml:space="preserve">  container images</a:t>
            </a:r>
            <a:endParaRPr lang="en-GB" sz="950" dirty="0">
              <a:latin typeface="Google Sans Flex SemiBold"/>
              <a:ea typeface="Google Sans Flex SemiBold"/>
              <a:cs typeface="Google Sans Flex SemiBold"/>
              <a:sym typeface="Google Sans Flex SemiBold"/>
            </a:endParaRPr>
          </a:p>
        </p:txBody>
      </p:sp>
      <p:sp>
        <p:nvSpPr>
          <p:cNvPr id="173" name="Tech card 173"/>
          <p:cNvSpPr/>
          <p:nvPr/>
        </p:nvSpPr>
        <p:spPr>
          <a:xfrm>
            <a:off x="6038088" y="1618488"/>
            <a:ext cx="2749296" cy="1604772"/>
          </a:xfrm>
          <a:prstGeom prst="roundRect">
            <a:avLst>
              <a:gd name="adj" fmla="val 6837"/>
            </a:avLst>
          </a:prstGeom>
          <a:solidFill>
            <a:srgbClr val="FFFFFF"/>
          </a:solidFill>
          <a:ln w="15875">
            <a:solidFill>
              <a:srgbClr val="2747F5"/>
            </a:solidFill>
          </a:ln>
        </p:spPr>
      </p:sp>
      <p:sp>
        <p:nvSpPr>
          <p:cNvPr id="174" name="Tech title 174"/>
          <p:cNvSpPr txBox="1"/>
          <p:nvPr/>
        </p:nvSpPr>
        <p:spPr>
          <a:xfrm>
            <a:off x="6175248" y="1673352"/>
            <a:ext cx="2474976" cy="256032"/>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300" b="0" i="0" dirty="0">
                <a:solidFill>
                  <a:srgbClr val="1F3AD0"/>
                </a:solidFill>
                <a:latin typeface="Google Sans Flex SemiBold"/>
                <a:ea typeface="Google Sans Flex SemiBold"/>
                <a:cs typeface="Google Sans Flex SemiBold"/>
                <a:sym typeface="Google Sans Flex SemiBold"/>
              </a:rPr>
              <a:t xml:space="preserve">Architect pipeline</a:t>
            </a:r>
            <a:endParaRPr lang="en-GB" sz="1300" dirty="0">
              <a:latin typeface="Google Sans Flex SemiBold"/>
              <a:ea typeface="Google Sans Flex SemiBold"/>
              <a:cs typeface="Google Sans Flex SemiBold"/>
              <a:sym typeface="Google Sans Flex SemiBold"/>
            </a:endParaRPr>
          </a:p>
        </p:txBody>
      </p:sp>
      <p:sp>
        <p:nvSpPr>
          <p:cNvPr id="175" name="Tech sub 175"/>
          <p:cNvSpPr txBox="1"/>
          <p:nvPr/>
        </p:nvSpPr>
        <p:spPr>
          <a:xfrm>
            <a:off x="6175248" y="1673352"/>
            <a:ext cx="2474976" cy="256032"/>
          </a:xfrm>
          <a:prstGeom prst="rect">
            <a:avLst/>
          </a:prstGeom>
          <a:noFill/>
          <a:ln>
            <a:noFill/>
          </a:ln>
        </p:spPr>
        <p:txBody>
          <a:bodyPr wrap="square" lIns="0" tIns="0" rIns="0" bIns="0" anchor="ctr" rtlCol="0">
            <a:noAutofit/>
          </a:bodyPr>
          <a:lstStyle/>
          <a:p>
            <a:pPr marL="0" indent="0" algn="r" rtl="0">
              <a:lnSpc>
                <a:spcPct val="100000"/>
              </a:lnSpc>
              <a:spcBef>
                <a:spcPts val="0"/>
              </a:spcBef>
              <a:spcAft>
                <a:spcPts val="0"/>
              </a:spcAft>
              <a:buNone/>
            </a:pPr>
            <a:r>
              <a:rPr lang="en-GB" sz="950" b="0" i="0" dirty="0">
                <a:solidFill>
                  <a:srgbClr val="5F6368"/>
                </a:solidFill>
                <a:latin typeface="Google Sans Flex"/>
                <a:ea typeface="Google Sans Flex"/>
                <a:cs typeface="Google Sans Flex"/>
                <a:sym typeface="Google Sans Flex"/>
              </a:rPr>
              <a:t xml:space="preserve">Gemini 4 Argon</a:t>
            </a:r>
            <a:endParaRPr lang="en-GB" sz="950" dirty="0">
              <a:latin typeface="Google Sans Flex"/>
              <a:ea typeface="Google Sans Flex"/>
              <a:cs typeface="Google Sans Flex"/>
              <a:sym typeface="Google Sans Flex"/>
            </a:endParaRPr>
          </a:p>
        </p:txBody>
      </p:sp>
      <p:sp>
        <p:nvSpPr>
          <p:cNvPr id="176" name="Tech row 176"/>
          <p:cNvSpPr/>
          <p:nvPr/>
        </p:nvSpPr>
        <p:spPr>
          <a:xfrm>
            <a:off x="6175248" y="1956816"/>
            <a:ext cx="2474976" cy="182880"/>
          </a:xfrm>
          <a:prstGeom prst="roundRect">
            <a:avLst>
              <a:gd name="adj" fmla="val 25000"/>
            </a:avLst>
          </a:prstGeom>
          <a:solidFill>
            <a:srgbClr val="EDF0FF"/>
          </a:solidFill>
          <a:ln>
            <a:noFill/>
          </a:ln>
        </p:spPr>
      </p:sp>
      <p:pic>
        <p:nvPicPr>
          <p:cNvPr id="177" name="Tech logo 177" descr="google-genai 2.31 icon"/>
          <p:cNvPicPr>
            <a:picLocks noChangeAspect="1"/>
          </p:cNvPicPr>
          <p:nvPr/>
        </p:nvPicPr>
        <p:blipFill>
          <a:blip r:embed="rId20"/>
          <a:stretch>
            <a:fillRect/>
          </a:stretch>
        </p:blipFill>
        <p:spPr>
          <a:xfrm>
            <a:off x="6239256" y="1979676"/>
            <a:ext cx="137160" cy="137160"/>
          </a:xfrm>
          <a:prstGeom prst="rect">
            <a:avLst/>
          </a:prstGeom>
          <a:noFill/>
          <a:ln>
            <a:noFill/>
          </a:ln>
        </p:spPr>
      </p:pic>
      <p:sp>
        <p:nvSpPr>
          <p:cNvPr id="178" name="Tech row 178"/>
          <p:cNvSpPr txBox="1"/>
          <p:nvPr/>
        </p:nvSpPr>
        <p:spPr>
          <a:xfrm>
            <a:off x="6449568" y="1956816"/>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google-genai 2.31</a:t>
            </a:r>
            <a:r>
              <a:rPr lang="en-GB" sz="950" b="0" i="0" dirty="0">
                <a:solidFill>
                  <a:srgbClr val="5F6368"/>
                </a:solidFill>
                <a:latin typeface="Google Sans Flex"/>
                <a:ea typeface="Google Sans Flex"/>
                <a:cs typeface="Google Sans Flex"/>
                <a:sym typeface="Google Sans Flex"/>
              </a:rPr>
              <a:t xml:space="preserve">  Gen AI SDK</a:t>
            </a:r>
            <a:endParaRPr lang="en-GB" sz="950" dirty="0">
              <a:latin typeface="Google Sans Flex SemiBold"/>
              <a:ea typeface="Google Sans Flex SemiBold"/>
              <a:cs typeface="Google Sans Flex SemiBold"/>
              <a:sym typeface="Google Sans Flex SemiBold"/>
            </a:endParaRPr>
          </a:p>
        </p:txBody>
      </p:sp>
      <p:sp>
        <p:nvSpPr>
          <p:cNvPr id="179" name="Tech row 179"/>
          <p:cNvSpPr/>
          <p:nvPr/>
        </p:nvSpPr>
        <p:spPr>
          <a:xfrm>
            <a:off x="6175248" y="2162556"/>
            <a:ext cx="2474976" cy="182880"/>
          </a:xfrm>
          <a:prstGeom prst="roundRect">
            <a:avLst>
              <a:gd name="adj" fmla="val 25000"/>
            </a:avLst>
          </a:prstGeom>
          <a:solidFill>
            <a:srgbClr val="EDF0FF"/>
          </a:solidFill>
          <a:ln>
            <a:noFill/>
          </a:ln>
        </p:spPr>
      </p:sp>
      <p:pic>
        <p:nvPicPr>
          <p:cNvPr id="180" name="Tech logo 180" descr="Rules check (tool) icon"/>
          <p:cNvPicPr>
            <a:picLocks noChangeAspect="1"/>
          </p:cNvPicPr>
          <p:nvPr/>
        </p:nvPicPr>
        <p:blipFill>
          <a:blip r:embed="rId21"/>
          <a:stretch>
            <a:fillRect/>
          </a:stretch>
        </p:blipFill>
        <p:spPr>
          <a:xfrm>
            <a:off x="6239256" y="2185416"/>
            <a:ext cx="137160" cy="137160"/>
          </a:xfrm>
          <a:prstGeom prst="rect">
            <a:avLst/>
          </a:prstGeom>
          <a:noFill/>
          <a:ln>
            <a:noFill/>
          </a:ln>
        </p:spPr>
      </p:pic>
      <p:sp>
        <p:nvSpPr>
          <p:cNvPr id="181" name="Tech row 181"/>
          <p:cNvSpPr txBox="1"/>
          <p:nvPr/>
        </p:nvSpPr>
        <p:spPr>
          <a:xfrm>
            <a:off x="6449568" y="2162556"/>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Rules check (tool)</a:t>
            </a:r>
            <a:r>
              <a:rPr lang="en-GB" sz="950" b="0" i="0" dirty="0">
                <a:solidFill>
                  <a:srgbClr val="5F6368"/>
                </a:solidFill>
                <a:latin typeface="Google Sans Flex"/>
                <a:ea typeface="Google Sans Flex"/>
                <a:cs typeface="Google Sans Flex"/>
                <a:sym typeface="Google Sans Flex"/>
              </a:rPr>
              <a:t xml:space="preserve">  LDA + livable rules</a:t>
            </a:r>
            <a:endParaRPr lang="en-GB" sz="950" dirty="0">
              <a:latin typeface="Google Sans Flex SemiBold"/>
              <a:ea typeface="Google Sans Flex SemiBold"/>
              <a:cs typeface="Google Sans Flex SemiBold"/>
              <a:sym typeface="Google Sans Flex SemiBold"/>
            </a:endParaRPr>
          </a:p>
        </p:txBody>
      </p:sp>
      <p:sp>
        <p:nvSpPr>
          <p:cNvPr id="182" name="Tech row 182"/>
          <p:cNvSpPr/>
          <p:nvPr/>
        </p:nvSpPr>
        <p:spPr>
          <a:xfrm>
            <a:off x="6175248" y="2368296"/>
            <a:ext cx="2474976" cy="182880"/>
          </a:xfrm>
          <a:prstGeom prst="roundRect">
            <a:avLst>
              <a:gd name="adj" fmla="val 25000"/>
            </a:avLst>
          </a:prstGeom>
          <a:solidFill>
            <a:srgbClr val="EDF0FF"/>
          </a:solidFill>
          <a:ln>
            <a:noFill/>
          </a:ln>
        </p:spPr>
      </p:sp>
      <p:pic>
        <p:nvPicPr>
          <p:cNvPr id="183" name="Tech logo 183" descr="Rules fix loop icon"/>
          <p:cNvPicPr>
            <a:picLocks noChangeAspect="1"/>
          </p:cNvPicPr>
          <p:nvPr/>
        </p:nvPicPr>
        <p:blipFill>
          <a:blip r:embed="rId22"/>
          <a:stretch>
            <a:fillRect/>
          </a:stretch>
        </p:blipFill>
        <p:spPr>
          <a:xfrm>
            <a:off x="6239256" y="2391156"/>
            <a:ext cx="137160" cy="137160"/>
          </a:xfrm>
          <a:prstGeom prst="rect">
            <a:avLst/>
          </a:prstGeom>
          <a:noFill/>
          <a:ln>
            <a:noFill/>
          </a:ln>
        </p:spPr>
      </p:pic>
      <p:sp>
        <p:nvSpPr>
          <p:cNvPr id="184" name="Tech row 184"/>
          <p:cNvSpPr txBox="1"/>
          <p:nvPr/>
        </p:nvSpPr>
        <p:spPr>
          <a:xfrm>
            <a:off x="6449568" y="2368296"/>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Rules fix loop</a:t>
            </a:r>
            <a:r>
              <a:rPr lang="en-GB" sz="950" b="0" i="0" dirty="0">
                <a:solidFill>
                  <a:srgbClr val="5F6368"/>
                </a:solidFill>
                <a:latin typeface="Google Sans Flex"/>
                <a:ea typeface="Google Sans Flex"/>
                <a:cs typeface="Google Sans Flex"/>
                <a:sym typeface="Google Sans Flex"/>
              </a:rPr>
              <a:t xml:space="preserve">  until every check passes</a:t>
            </a:r>
            <a:endParaRPr lang="en-GB" sz="950" dirty="0">
              <a:latin typeface="Google Sans Flex SemiBold"/>
              <a:ea typeface="Google Sans Flex SemiBold"/>
              <a:cs typeface="Google Sans Flex SemiBold"/>
              <a:sym typeface="Google Sans Flex SemiBold"/>
            </a:endParaRPr>
          </a:p>
        </p:txBody>
      </p:sp>
      <p:sp>
        <p:nvSpPr>
          <p:cNvPr id="185" name="Tech row 185"/>
          <p:cNvSpPr/>
          <p:nvPr/>
        </p:nvSpPr>
        <p:spPr>
          <a:xfrm>
            <a:off x="6175248" y="2574036"/>
            <a:ext cx="2474976" cy="182880"/>
          </a:xfrm>
          <a:prstGeom prst="roundRect">
            <a:avLst>
              <a:gd name="adj" fmla="val 25000"/>
            </a:avLst>
          </a:prstGeom>
          <a:solidFill>
            <a:srgbClr val="EDF0FF"/>
          </a:solidFill>
          <a:ln>
            <a:noFill/>
          </a:ln>
        </p:spPr>
      </p:sp>
      <p:pic>
        <p:nvPicPr>
          <p:cNvPr id="186" name="Tech logo 186" descr="Multimodal review icon"/>
          <p:cNvPicPr>
            <a:picLocks noChangeAspect="1"/>
          </p:cNvPicPr>
          <p:nvPr/>
        </p:nvPicPr>
        <p:blipFill>
          <a:blip r:embed="rId23"/>
          <a:stretch>
            <a:fillRect/>
          </a:stretch>
        </p:blipFill>
        <p:spPr>
          <a:xfrm>
            <a:off x="6239256" y="2596896"/>
            <a:ext cx="137160" cy="137160"/>
          </a:xfrm>
          <a:prstGeom prst="rect">
            <a:avLst/>
          </a:prstGeom>
          <a:noFill/>
          <a:ln>
            <a:noFill/>
          </a:ln>
        </p:spPr>
      </p:pic>
      <p:sp>
        <p:nvSpPr>
          <p:cNvPr id="187" name="Tech row 187"/>
          <p:cNvSpPr txBox="1"/>
          <p:nvPr/>
        </p:nvSpPr>
        <p:spPr>
          <a:xfrm>
            <a:off x="6449568" y="2574036"/>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Multimodal review</a:t>
            </a:r>
            <a:r>
              <a:rPr lang="en-GB" sz="950" b="0" i="0" dirty="0">
                <a:solidFill>
                  <a:srgbClr val="5F6368"/>
                </a:solidFill>
                <a:latin typeface="Google Sans Flex"/>
                <a:ea typeface="Google Sans Flex"/>
                <a:cs typeface="Google Sans Flex"/>
                <a:sym typeface="Google Sans Flex"/>
              </a:rPr>
              <a:t xml:space="preserve">  its own drawings</a:t>
            </a:r>
            <a:endParaRPr lang="en-GB" sz="950" dirty="0">
              <a:latin typeface="Google Sans Flex SemiBold"/>
              <a:ea typeface="Google Sans Flex SemiBold"/>
              <a:cs typeface="Google Sans Flex SemiBold"/>
              <a:sym typeface="Google Sans Flex SemiBold"/>
            </a:endParaRPr>
          </a:p>
        </p:txBody>
      </p:sp>
      <p:sp>
        <p:nvSpPr>
          <p:cNvPr id="188" name="Tech row 188"/>
          <p:cNvSpPr/>
          <p:nvPr/>
        </p:nvSpPr>
        <p:spPr>
          <a:xfrm>
            <a:off x="6175248" y="2779776"/>
            <a:ext cx="2474976" cy="182880"/>
          </a:xfrm>
          <a:prstGeom prst="roundRect">
            <a:avLst>
              <a:gd name="adj" fmla="val 25000"/>
            </a:avLst>
          </a:prstGeom>
          <a:solidFill>
            <a:srgbClr val="EDF0FF"/>
          </a:solidFill>
          <a:ln>
            <a:noFill/>
          </a:ln>
        </p:spPr>
      </p:sp>
      <p:pic>
        <p:nvPicPr>
          <p:cNvPr id="189" name="Tech logo 189" descr="Resilience icon"/>
          <p:cNvPicPr>
            <a:picLocks noChangeAspect="1"/>
          </p:cNvPicPr>
          <p:nvPr/>
        </p:nvPicPr>
        <p:blipFill>
          <a:blip r:embed="rId24"/>
          <a:stretch>
            <a:fillRect/>
          </a:stretch>
        </p:blipFill>
        <p:spPr>
          <a:xfrm>
            <a:off x="6239256" y="2802636"/>
            <a:ext cx="137160" cy="137160"/>
          </a:xfrm>
          <a:prstGeom prst="rect">
            <a:avLst/>
          </a:prstGeom>
          <a:noFill/>
          <a:ln>
            <a:noFill/>
          </a:ln>
        </p:spPr>
      </p:pic>
      <p:sp>
        <p:nvSpPr>
          <p:cNvPr id="190" name="Tech row 190"/>
          <p:cNvSpPr txBox="1"/>
          <p:nvPr/>
        </p:nvSpPr>
        <p:spPr>
          <a:xfrm>
            <a:off x="6449568" y="2779776"/>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Resilience</a:t>
            </a:r>
            <a:r>
              <a:rPr lang="en-GB" sz="950" b="0" i="0" dirty="0">
                <a:solidFill>
                  <a:srgbClr val="5F6368"/>
                </a:solidFill>
                <a:latin typeface="Google Sans Flex"/>
                <a:ea typeface="Google Sans Flex"/>
                <a:cs typeface="Google Sans Flex"/>
                <a:sym typeface="Google Sans Flex"/>
              </a:rPr>
              <a:t xml:space="preserve">  6 tries, 4–60 s backoff</a:t>
            </a:r>
            <a:endParaRPr lang="en-GB" sz="950" dirty="0">
              <a:latin typeface="Google Sans Flex SemiBold"/>
              <a:ea typeface="Google Sans Flex SemiBold"/>
              <a:cs typeface="Google Sans Flex SemiBold"/>
              <a:sym typeface="Google Sans Flex SemiBold"/>
            </a:endParaRPr>
          </a:p>
        </p:txBody>
      </p:sp>
      <p:sp>
        <p:nvSpPr>
          <p:cNvPr id="191" name="Tech note 191"/>
          <p:cNvSpPr txBox="1"/>
          <p:nvPr/>
        </p:nvSpPr>
        <p:spPr>
          <a:xfrm>
            <a:off x="6239256" y="2985516"/>
            <a:ext cx="2410968"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F3AD0"/>
                </a:solidFill>
                <a:latin typeface="Google Sans Flex SemiBold"/>
                <a:ea typeface="Google Sans Flex SemiBold"/>
                <a:cs typeface="Google Sans Flex SemiBold"/>
                <a:sym typeface="Google Sans Flex SemiBold"/>
              </a:rPr>
              <a:t xml:space="preserve">Fixed-step agent loop: </a:t>
            </a:r>
            <a:r>
              <a:rPr lang="en-GB" sz="950" b="0" i="0" dirty="0">
                <a:solidFill>
                  <a:srgbClr val="46464B"/>
                </a:solidFill>
                <a:latin typeface="Google Sans Flex"/>
                <a:ea typeface="Google Sans Flex"/>
                <a:cs typeface="Google Sans Flex"/>
                <a:sym typeface="Google Sans Flex"/>
              </a:rPr>
              <a:t xml:space="preserve">ADK not needed.</a:t>
            </a:r>
            <a:endParaRPr lang="en-GB" sz="950" dirty="0">
              <a:latin typeface="Google Sans Flex SemiBold"/>
              <a:ea typeface="Google Sans Flex SemiBold"/>
              <a:cs typeface="Google Sans Flex SemiBold"/>
              <a:sym typeface="Google Sans Flex SemiBold"/>
            </a:endParaRPr>
          </a:p>
        </p:txBody>
      </p:sp>
      <p:sp>
        <p:nvSpPr>
          <p:cNvPr id="192" name="Tech card 192"/>
          <p:cNvSpPr/>
          <p:nvPr/>
        </p:nvSpPr>
        <p:spPr>
          <a:xfrm>
            <a:off x="356616" y="3314700"/>
            <a:ext cx="2749296" cy="1604772"/>
          </a:xfrm>
          <a:prstGeom prst="roundRect">
            <a:avLst>
              <a:gd name="adj" fmla="val 6837"/>
            </a:avLst>
          </a:prstGeom>
          <a:solidFill>
            <a:srgbClr val="FFFFFF"/>
          </a:solidFill>
          <a:ln w="9525">
            <a:solidFill>
              <a:srgbClr val="D4D4D8"/>
            </a:solidFill>
          </a:ln>
        </p:spPr>
      </p:sp>
      <p:sp>
        <p:nvSpPr>
          <p:cNvPr id="193" name="Tech title 193"/>
          <p:cNvSpPr txBox="1"/>
          <p:nvPr/>
        </p:nvSpPr>
        <p:spPr>
          <a:xfrm>
            <a:off x="493776" y="3369564"/>
            <a:ext cx="2474976" cy="256032"/>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300" b="0" i="0" dirty="0">
                <a:solidFill>
                  <a:srgbClr val="111113"/>
                </a:solidFill>
                <a:latin typeface="Google Sans Flex SemiBold"/>
                <a:ea typeface="Google Sans Flex SemiBold"/>
                <a:cs typeface="Google Sans Flex SemiBold"/>
                <a:sym typeface="Google Sans Flex SemiBold"/>
              </a:rPr>
              <a:t xml:space="preserve">Backend</a:t>
            </a:r>
            <a:endParaRPr lang="en-GB" sz="1300" dirty="0">
              <a:latin typeface="Google Sans Flex SemiBold"/>
              <a:ea typeface="Google Sans Flex SemiBold"/>
              <a:cs typeface="Google Sans Flex SemiBold"/>
              <a:sym typeface="Google Sans Flex SemiBold"/>
            </a:endParaRPr>
          </a:p>
        </p:txBody>
      </p:sp>
      <p:sp>
        <p:nvSpPr>
          <p:cNvPr id="194" name="Tech sub 194"/>
          <p:cNvSpPr txBox="1"/>
          <p:nvPr/>
        </p:nvSpPr>
        <p:spPr>
          <a:xfrm>
            <a:off x="493776" y="3369564"/>
            <a:ext cx="2474976" cy="256032"/>
          </a:xfrm>
          <a:prstGeom prst="rect">
            <a:avLst/>
          </a:prstGeom>
          <a:noFill/>
          <a:ln>
            <a:noFill/>
          </a:ln>
        </p:spPr>
        <p:txBody>
          <a:bodyPr wrap="square" lIns="0" tIns="0" rIns="0" bIns="0" anchor="ctr" rtlCol="0">
            <a:noAutofit/>
          </a:bodyPr>
          <a:lstStyle/>
          <a:p>
            <a:pPr marL="0" indent="0" algn="r" rtl="0">
              <a:lnSpc>
                <a:spcPct val="100000"/>
              </a:lnSpc>
              <a:spcBef>
                <a:spcPts val="0"/>
              </a:spcBef>
              <a:spcAft>
                <a:spcPts val="0"/>
              </a:spcAft>
              <a:buNone/>
            </a:pPr>
            <a:r>
              <a:rPr lang="en-GB" sz="950" b="0" i="0" dirty="0">
                <a:solidFill>
                  <a:srgbClr val="5F6368"/>
                </a:solidFill>
                <a:latin typeface="Google Sans Flex"/>
                <a:ea typeface="Google Sans Flex"/>
                <a:cs typeface="Google Sans Flex"/>
                <a:sym typeface="Google Sans Flex"/>
              </a:rPr>
              <a:t xml:space="preserve">api/</a:t>
            </a:r>
            <a:endParaRPr lang="en-GB" sz="950" dirty="0">
              <a:latin typeface="Google Sans Flex"/>
              <a:ea typeface="Google Sans Flex"/>
              <a:cs typeface="Google Sans Flex"/>
              <a:sym typeface="Google Sans Flex"/>
            </a:endParaRPr>
          </a:p>
        </p:txBody>
      </p:sp>
      <p:sp>
        <p:nvSpPr>
          <p:cNvPr id="195" name="Tech row 195"/>
          <p:cNvSpPr/>
          <p:nvPr/>
        </p:nvSpPr>
        <p:spPr>
          <a:xfrm>
            <a:off x="493776" y="3653028"/>
            <a:ext cx="2474976" cy="182880"/>
          </a:xfrm>
          <a:prstGeom prst="roundRect">
            <a:avLst>
              <a:gd name="adj" fmla="val 25000"/>
            </a:avLst>
          </a:prstGeom>
          <a:solidFill>
            <a:srgbClr val="F5F5F7"/>
          </a:solidFill>
          <a:ln>
            <a:noFill/>
          </a:ln>
        </p:spPr>
      </p:sp>
      <p:pic>
        <p:nvPicPr>
          <p:cNvPr id="196" name="Tech logo 196" descr="Python 3.13 logo"/>
          <p:cNvPicPr>
            <a:picLocks noChangeAspect="1"/>
          </p:cNvPicPr>
          <p:nvPr/>
        </p:nvPicPr>
        <p:blipFill>
          <a:blip r:embed="rId25"/>
          <a:stretch>
            <a:fillRect/>
          </a:stretch>
        </p:blipFill>
        <p:spPr>
          <a:xfrm>
            <a:off x="557784" y="3675888"/>
            <a:ext cx="137160" cy="137160"/>
          </a:xfrm>
          <a:prstGeom prst="rect">
            <a:avLst/>
          </a:prstGeom>
          <a:noFill/>
          <a:ln>
            <a:noFill/>
          </a:ln>
        </p:spPr>
      </p:pic>
      <p:sp>
        <p:nvSpPr>
          <p:cNvPr id="197" name="Tech row 197"/>
          <p:cNvSpPr txBox="1"/>
          <p:nvPr/>
        </p:nvSpPr>
        <p:spPr>
          <a:xfrm>
            <a:off x="768096" y="3653028"/>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Python 3.13</a:t>
            </a:r>
            <a:r>
              <a:rPr lang="en-GB" sz="950" b="0" i="0" dirty="0">
                <a:solidFill>
                  <a:srgbClr val="5F6368"/>
                </a:solidFill>
                <a:latin typeface="Google Sans Flex"/>
                <a:ea typeface="Google Sans Flex"/>
                <a:cs typeface="Google Sans Flex"/>
                <a:sym typeface="Google Sans Flex"/>
              </a:rPr>
              <a:t xml:space="preserve">  uv for packages</a:t>
            </a:r>
            <a:endParaRPr lang="en-GB" sz="950" dirty="0">
              <a:latin typeface="Google Sans Flex SemiBold"/>
              <a:ea typeface="Google Sans Flex SemiBold"/>
              <a:cs typeface="Google Sans Flex SemiBold"/>
              <a:sym typeface="Google Sans Flex SemiBold"/>
            </a:endParaRPr>
          </a:p>
        </p:txBody>
      </p:sp>
      <p:sp>
        <p:nvSpPr>
          <p:cNvPr id="198" name="Tech row 198"/>
          <p:cNvSpPr/>
          <p:nvPr/>
        </p:nvSpPr>
        <p:spPr>
          <a:xfrm>
            <a:off x="493776" y="3858768"/>
            <a:ext cx="2474976" cy="182880"/>
          </a:xfrm>
          <a:prstGeom prst="roundRect">
            <a:avLst>
              <a:gd name="adj" fmla="val 25000"/>
            </a:avLst>
          </a:prstGeom>
          <a:solidFill>
            <a:srgbClr val="F5F5F7"/>
          </a:solidFill>
          <a:ln>
            <a:noFill/>
          </a:ln>
        </p:spPr>
      </p:sp>
      <p:pic>
        <p:nvPicPr>
          <p:cNvPr id="199" name="Tech logo 199" descr="FastAPI logo"/>
          <p:cNvPicPr>
            <a:picLocks noChangeAspect="1"/>
          </p:cNvPicPr>
          <p:nvPr/>
        </p:nvPicPr>
        <p:blipFill>
          <a:blip r:embed="rId26"/>
          <a:stretch>
            <a:fillRect/>
          </a:stretch>
        </p:blipFill>
        <p:spPr>
          <a:xfrm>
            <a:off x="557784" y="3881628"/>
            <a:ext cx="137160" cy="137160"/>
          </a:xfrm>
          <a:prstGeom prst="rect">
            <a:avLst/>
          </a:prstGeom>
          <a:noFill/>
          <a:ln>
            <a:noFill/>
          </a:ln>
        </p:spPr>
      </p:pic>
      <p:sp>
        <p:nvSpPr>
          <p:cNvPr id="200" name="Tech row 200"/>
          <p:cNvSpPr txBox="1"/>
          <p:nvPr/>
        </p:nvSpPr>
        <p:spPr>
          <a:xfrm>
            <a:off x="768096" y="3858768"/>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FastAPI</a:t>
            </a:r>
            <a:r>
              <a:rPr lang="en-GB" sz="950" b="0" i="0" dirty="0">
                <a:solidFill>
                  <a:srgbClr val="5F6368"/>
                </a:solidFill>
                <a:latin typeface="Google Sans Flex"/>
                <a:ea typeface="Google Sans Flex"/>
                <a:cs typeface="Google Sans Flex"/>
                <a:sym typeface="Google Sans Flex"/>
              </a:rPr>
              <a:t xml:space="preserve">  Server-Sent Events</a:t>
            </a:r>
            <a:endParaRPr lang="en-GB" sz="950" dirty="0">
              <a:latin typeface="Google Sans Flex SemiBold"/>
              <a:ea typeface="Google Sans Flex SemiBold"/>
              <a:cs typeface="Google Sans Flex SemiBold"/>
              <a:sym typeface="Google Sans Flex SemiBold"/>
            </a:endParaRPr>
          </a:p>
        </p:txBody>
      </p:sp>
      <p:sp>
        <p:nvSpPr>
          <p:cNvPr id="201" name="Tech row 201"/>
          <p:cNvSpPr/>
          <p:nvPr/>
        </p:nvSpPr>
        <p:spPr>
          <a:xfrm>
            <a:off x="493776" y="4064508"/>
            <a:ext cx="2474976" cy="182880"/>
          </a:xfrm>
          <a:prstGeom prst="roundRect">
            <a:avLst>
              <a:gd name="adj" fmla="val 25000"/>
            </a:avLst>
          </a:prstGeom>
          <a:solidFill>
            <a:srgbClr val="F5F5F7"/>
          </a:solidFill>
          <a:ln>
            <a:noFill/>
          </a:ln>
        </p:spPr>
      </p:sp>
      <p:pic>
        <p:nvPicPr>
          <p:cNvPr id="202" name="Tech logo 202" descr="Pydantic logo"/>
          <p:cNvPicPr>
            <a:picLocks noChangeAspect="1"/>
          </p:cNvPicPr>
          <p:nvPr/>
        </p:nvPicPr>
        <p:blipFill>
          <a:blip r:embed="rId27"/>
          <a:stretch>
            <a:fillRect/>
          </a:stretch>
        </p:blipFill>
        <p:spPr>
          <a:xfrm>
            <a:off x="557784" y="4087368"/>
            <a:ext cx="137160" cy="137160"/>
          </a:xfrm>
          <a:prstGeom prst="rect">
            <a:avLst/>
          </a:prstGeom>
          <a:noFill/>
          <a:ln>
            <a:noFill/>
          </a:ln>
        </p:spPr>
      </p:pic>
      <p:sp>
        <p:nvSpPr>
          <p:cNvPr id="203" name="Tech row 203"/>
          <p:cNvSpPr txBox="1"/>
          <p:nvPr/>
        </p:nvSpPr>
        <p:spPr>
          <a:xfrm>
            <a:off x="768096" y="4064508"/>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Pydantic</a:t>
            </a:r>
            <a:r>
              <a:rPr lang="en-GB" sz="950" b="0" i="0" dirty="0">
                <a:solidFill>
                  <a:srgbClr val="5F6368"/>
                </a:solidFill>
                <a:latin typeface="Google Sans Flex"/>
                <a:ea typeface="Google Sans Flex"/>
                <a:cs typeface="Google Sans Flex"/>
                <a:sym typeface="Google Sans Flex"/>
              </a:rPr>
              <a:t xml:space="preserve">  API models</a:t>
            </a:r>
            <a:endParaRPr lang="en-GB" sz="950" dirty="0">
              <a:latin typeface="Google Sans Flex SemiBold"/>
              <a:ea typeface="Google Sans Flex SemiBold"/>
              <a:cs typeface="Google Sans Flex SemiBold"/>
              <a:sym typeface="Google Sans Flex SemiBold"/>
            </a:endParaRPr>
          </a:p>
        </p:txBody>
      </p:sp>
      <p:sp>
        <p:nvSpPr>
          <p:cNvPr id="204" name="Tech row 204"/>
          <p:cNvSpPr/>
          <p:nvPr/>
        </p:nvSpPr>
        <p:spPr>
          <a:xfrm>
            <a:off x="493776" y="4270248"/>
            <a:ext cx="2474976" cy="182880"/>
          </a:xfrm>
          <a:prstGeom prst="roundRect">
            <a:avLst>
              <a:gd name="adj" fmla="val 25000"/>
            </a:avLst>
          </a:prstGeom>
          <a:solidFill>
            <a:srgbClr val="F5F5F7"/>
          </a:solidFill>
          <a:ln>
            <a:noFill/>
          </a:ln>
        </p:spPr>
      </p:sp>
      <p:pic>
        <p:nvPicPr>
          <p:cNvPr id="205" name="Tech logo 205" descr="Pillow icon"/>
          <p:cNvPicPr>
            <a:picLocks noChangeAspect="1"/>
          </p:cNvPicPr>
          <p:nvPr/>
        </p:nvPicPr>
        <p:blipFill>
          <a:blip r:embed="rId28"/>
          <a:stretch>
            <a:fillRect/>
          </a:stretch>
        </p:blipFill>
        <p:spPr>
          <a:xfrm>
            <a:off x="557784" y="4293108"/>
            <a:ext cx="137160" cy="137160"/>
          </a:xfrm>
          <a:prstGeom prst="rect">
            <a:avLst/>
          </a:prstGeom>
          <a:noFill/>
          <a:ln>
            <a:noFill/>
          </a:ln>
        </p:spPr>
      </p:pic>
      <p:sp>
        <p:nvSpPr>
          <p:cNvPr id="206" name="Tech row 206"/>
          <p:cNvSpPr txBox="1"/>
          <p:nvPr/>
        </p:nvSpPr>
        <p:spPr>
          <a:xfrm>
            <a:off x="768096" y="4270248"/>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Pillow</a:t>
            </a:r>
            <a:r>
              <a:rPr lang="en-GB" sz="950" b="0" i="0" dirty="0">
                <a:solidFill>
                  <a:srgbClr val="5F6368"/>
                </a:solidFill>
                <a:latin typeface="Google Sans Flex"/>
                <a:ea typeface="Google Sans Flex"/>
                <a:cs typeface="Google Sans Flex"/>
                <a:sym typeface="Google Sans Flex"/>
              </a:rPr>
              <a:t xml:space="preserve">  plan drawings</a:t>
            </a:r>
            <a:endParaRPr lang="en-GB" sz="950" dirty="0">
              <a:latin typeface="Google Sans Flex SemiBold"/>
              <a:ea typeface="Google Sans Flex SemiBold"/>
              <a:cs typeface="Google Sans Flex SemiBold"/>
              <a:sym typeface="Google Sans Flex SemiBold"/>
            </a:endParaRPr>
          </a:p>
        </p:txBody>
      </p:sp>
      <p:sp>
        <p:nvSpPr>
          <p:cNvPr id="207" name="Tech row 207"/>
          <p:cNvSpPr/>
          <p:nvPr/>
        </p:nvSpPr>
        <p:spPr>
          <a:xfrm>
            <a:off x="493776" y="4475988"/>
            <a:ext cx="2474976" cy="182880"/>
          </a:xfrm>
          <a:prstGeom prst="roundRect">
            <a:avLst>
              <a:gd name="adj" fmla="val 25000"/>
            </a:avLst>
          </a:prstGeom>
          <a:solidFill>
            <a:srgbClr val="F5F5F7"/>
          </a:solidFill>
          <a:ln>
            <a:noFill/>
          </a:ln>
        </p:spPr>
      </p:sp>
      <p:pic>
        <p:nvPicPr>
          <p:cNvPr id="208" name="Tech logo 208" descr="pytest logo"/>
          <p:cNvPicPr>
            <a:picLocks noChangeAspect="1"/>
          </p:cNvPicPr>
          <p:nvPr/>
        </p:nvPicPr>
        <p:blipFill>
          <a:blip r:embed="rId29"/>
          <a:stretch>
            <a:fillRect/>
          </a:stretch>
        </p:blipFill>
        <p:spPr>
          <a:xfrm>
            <a:off x="557784" y="4498848"/>
            <a:ext cx="137160" cy="137160"/>
          </a:xfrm>
          <a:prstGeom prst="rect">
            <a:avLst/>
          </a:prstGeom>
          <a:noFill/>
          <a:ln>
            <a:noFill/>
          </a:ln>
        </p:spPr>
      </p:pic>
      <p:sp>
        <p:nvSpPr>
          <p:cNvPr id="209" name="Tech row 209"/>
          <p:cNvSpPr txBox="1"/>
          <p:nvPr/>
        </p:nvSpPr>
        <p:spPr>
          <a:xfrm>
            <a:off x="768096" y="4475988"/>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pytest</a:t>
            </a:r>
            <a:r>
              <a:rPr lang="en-GB" sz="950" b="0" i="0" dirty="0">
                <a:solidFill>
                  <a:srgbClr val="5F6368"/>
                </a:solidFill>
                <a:latin typeface="Google Sans Flex"/>
                <a:ea typeface="Google Sans Flex"/>
                <a:cs typeface="Google Sans Flex"/>
                <a:sym typeface="Google Sans Flex"/>
              </a:rPr>
              <a:t xml:space="preserve">  123 tests</a:t>
            </a:r>
            <a:endParaRPr lang="en-GB" sz="950" dirty="0">
              <a:latin typeface="Google Sans Flex SemiBold"/>
              <a:ea typeface="Google Sans Flex SemiBold"/>
              <a:cs typeface="Google Sans Flex SemiBold"/>
              <a:sym typeface="Google Sans Flex SemiBold"/>
            </a:endParaRPr>
          </a:p>
        </p:txBody>
      </p:sp>
      <p:sp>
        <p:nvSpPr>
          <p:cNvPr id="210" name="Tech row 210"/>
          <p:cNvSpPr/>
          <p:nvPr/>
        </p:nvSpPr>
        <p:spPr>
          <a:xfrm>
            <a:off x="493776" y="4681728"/>
            <a:ext cx="2474976" cy="182880"/>
          </a:xfrm>
          <a:prstGeom prst="roundRect">
            <a:avLst>
              <a:gd name="adj" fmla="val 25000"/>
            </a:avLst>
          </a:prstGeom>
          <a:solidFill>
            <a:srgbClr val="F5F5F7"/>
          </a:solidFill>
          <a:ln>
            <a:noFill/>
          </a:ln>
        </p:spPr>
      </p:sp>
      <p:pic>
        <p:nvPicPr>
          <p:cNvPr id="211" name="Tech logo 211" descr="Docker logo"/>
          <p:cNvPicPr>
            <a:picLocks noChangeAspect="1"/>
          </p:cNvPicPr>
          <p:nvPr/>
        </p:nvPicPr>
        <p:blipFill>
          <a:blip r:embed="rId30"/>
          <a:stretch>
            <a:fillRect/>
          </a:stretch>
        </p:blipFill>
        <p:spPr>
          <a:xfrm>
            <a:off x="557784" y="4704588"/>
            <a:ext cx="137160" cy="137160"/>
          </a:xfrm>
          <a:prstGeom prst="rect">
            <a:avLst/>
          </a:prstGeom>
          <a:noFill/>
          <a:ln>
            <a:noFill/>
          </a:ln>
        </p:spPr>
      </p:pic>
      <p:sp>
        <p:nvSpPr>
          <p:cNvPr id="212" name="Tech row 212"/>
          <p:cNvSpPr txBox="1"/>
          <p:nvPr/>
        </p:nvSpPr>
        <p:spPr>
          <a:xfrm>
            <a:off x="768096" y="4681728"/>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Docker</a:t>
            </a:r>
            <a:r>
              <a:rPr lang="en-GB" sz="950" b="0" i="0" dirty="0">
                <a:solidFill>
                  <a:srgbClr val="5F6368"/>
                </a:solidFill>
                <a:latin typeface="Google Sans Flex"/>
                <a:ea typeface="Google Sans Flex"/>
                <a:cs typeface="Google Sans Flex"/>
                <a:sym typeface="Google Sans Flex"/>
              </a:rPr>
              <a:t xml:space="preserve">  one image: web + API</a:t>
            </a:r>
            <a:endParaRPr lang="en-GB" sz="950" dirty="0">
              <a:latin typeface="Google Sans Flex SemiBold"/>
              <a:ea typeface="Google Sans Flex SemiBold"/>
              <a:cs typeface="Google Sans Flex SemiBold"/>
              <a:sym typeface="Google Sans Flex SemiBold"/>
            </a:endParaRPr>
          </a:p>
        </p:txBody>
      </p:sp>
      <p:sp>
        <p:nvSpPr>
          <p:cNvPr id="213" name="Tech card 213"/>
          <p:cNvSpPr/>
          <p:nvPr/>
        </p:nvSpPr>
        <p:spPr>
          <a:xfrm>
            <a:off x="3197352" y="3314700"/>
            <a:ext cx="2749296" cy="1604772"/>
          </a:xfrm>
          <a:prstGeom prst="roundRect">
            <a:avLst>
              <a:gd name="adj" fmla="val 6837"/>
            </a:avLst>
          </a:prstGeom>
          <a:solidFill>
            <a:srgbClr val="FFFFFF"/>
          </a:solidFill>
          <a:ln w="9525">
            <a:solidFill>
              <a:srgbClr val="D4D4D8"/>
            </a:solidFill>
          </a:ln>
        </p:spPr>
      </p:sp>
      <p:sp>
        <p:nvSpPr>
          <p:cNvPr id="214" name="Tech title 214"/>
          <p:cNvSpPr txBox="1"/>
          <p:nvPr/>
        </p:nvSpPr>
        <p:spPr>
          <a:xfrm>
            <a:off x="3334512" y="3369564"/>
            <a:ext cx="2474976" cy="256032"/>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300" b="0" i="0" dirty="0">
                <a:solidFill>
                  <a:srgbClr val="111113"/>
                </a:solidFill>
                <a:latin typeface="Google Sans Flex SemiBold"/>
                <a:ea typeface="Google Sans Flex SemiBold"/>
                <a:cs typeface="Google Sans Flex SemiBold"/>
                <a:sym typeface="Google Sans Flex SemiBold"/>
              </a:rPr>
              <a:t xml:space="preserve">Frontend and 3D</a:t>
            </a:r>
            <a:endParaRPr lang="en-GB" sz="1300" dirty="0">
              <a:latin typeface="Google Sans Flex SemiBold"/>
              <a:ea typeface="Google Sans Flex SemiBold"/>
              <a:cs typeface="Google Sans Flex SemiBold"/>
              <a:sym typeface="Google Sans Flex SemiBold"/>
            </a:endParaRPr>
          </a:p>
        </p:txBody>
      </p:sp>
      <p:sp>
        <p:nvSpPr>
          <p:cNvPr id="215" name="Tech sub 215"/>
          <p:cNvSpPr txBox="1"/>
          <p:nvPr/>
        </p:nvSpPr>
        <p:spPr>
          <a:xfrm>
            <a:off x="3334512" y="3369564"/>
            <a:ext cx="2474976" cy="256032"/>
          </a:xfrm>
          <a:prstGeom prst="rect">
            <a:avLst/>
          </a:prstGeom>
          <a:noFill/>
          <a:ln>
            <a:noFill/>
          </a:ln>
        </p:spPr>
        <p:txBody>
          <a:bodyPr wrap="square" lIns="0" tIns="0" rIns="0" bIns="0" anchor="ctr" rtlCol="0">
            <a:noAutofit/>
          </a:bodyPr>
          <a:lstStyle/>
          <a:p>
            <a:pPr marL="0" indent="0" algn="r" rtl="0">
              <a:lnSpc>
                <a:spcPct val="100000"/>
              </a:lnSpc>
              <a:spcBef>
                <a:spcPts val="0"/>
              </a:spcBef>
              <a:spcAft>
                <a:spcPts val="0"/>
              </a:spcAft>
              <a:buNone/>
            </a:pPr>
            <a:r>
              <a:rPr lang="en-GB" sz="950" b="0" i="0" dirty="0">
                <a:solidFill>
                  <a:srgbClr val="5F6368"/>
                </a:solidFill>
                <a:latin typeface="Google Sans Flex"/>
                <a:ea typeface="Google Sans Flex"/>
                <a:cs typeface="Google Sans Flex"/>
                <a:sym typeface="Google Sans Flex"/>
              </a:rPr>
              <a:t xml:space="preserve">web/</a:t>
            </a:r>
            <a:endParaRPr lang="en-GB" sz="950" dirty="0">
              <a:latin typeface="Google Sans Flex"/>
              <a:ea typeface="Google Sans Flex"/>
              <a:cs typeface="Google Sans Flex"/>
              <a:sym typeface="Google Sans Flex"/>
            </a:endParaRPr>
          </a:p>
        </p:txBody>
      </p:sp>
      <p:sp>
        <p:nvSpPr>
          <p:cNvPr id="216" name="Tech row 216"/>
          <p:cNvSpPr/>
          <p:nvPr/>
        </p:nvSpPr>
        <p:spPr>
          <a:xfrm>
            <a:off x="3334512" y="3653028"/>
            <a:ext cx="2474976" cy="182880"/>
          </a:xfrm>
          <a:prstGeom prst="roundRect">
            <a:avLst>
              <a:gd name="adj" fmla="val 25000"/>
            </a:avLst>
          </a:prstGeom>
          <a:solidFill>
            <a:srgbClr val="F5F5F7"/>
          </a:solidFill>
          <a:ln>
            <a:noFill/>
          </a:ln>
        </p:spPr>
      </p:sp>
      <p:pic>
        <p:nvPicPr>
          <p:cNvPr id="217" name="Tech logo 217" descr="React 19 logo"/>
          <p:cNvPicPr>
            <a:picLocks noChangeAspect="1"/>
          </p:cNvPicPr>
          <p:nvPr/>
        </p:nvPicPr>
        <p:blipFill>
          <a:blip r:embed="rId31"/>
          <a:stretch>
            <a:fillRect/>
          </a:stretch>
        </p:blipFill>
        <p:spPr>
          <a:xfrm>
            <a:off x="3398520" y="3675888"/>
            <a:ext cx="137160" cy="137160"/>
          </a:xfrm>
          <a:prstGeom prst="rect">
            <a:avLst/>
          </a:prstGeom>
          <a:noFill/>
          <a:ln>
            <a:noFill/>
          </a:ln>
        </p:spPr>
      </p:pic>
      <p:sp>
        <p:nvSpPr>
          <p:cNvPr id="218" name="Tech row 218"/>
          <p:cNvSpPr txBox="1"/>
          <p:nvPr/>
        </p:nvSpPr>
        <p:spPr>
          <a:xfrm>
            <a:off x="3608832" y="3653028"/>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React 19</a:t>
            </a:r>
            <a:r>
              <a:rPr lang="en-GB" sz="950" b="0" i="0" dirty="0">
                <a:solidFill>
                  <a:srgbClr val="5F6368"/>
                </a:solidFill>
                <a:latin typeface="Google Sans Flex"/>
                <a:ea typeface="Google Sans Flex"/>
                <a:cs typeface="Google Sans Flex"/>
                <a:sym typeface="Google Sans Flex"/>
              </a:rPr>
              <a:t xml:space="preserve">  TypeScript, Vite</a:t>
            </a:r>
            <a:endParaRPr lang="en-GB" sz="950" dirty="0">
              <a:latin typeface="Google Sans Flex SemiBold"/>
              <a:ea typeface="Google Sans Flex SemiBold"/>
              <a:cs typeface="Google Sans Flex SemiBold"/>
              <a:sym typeface="Google Sans Flex SemiBold"/>
            </a:endParaRPr>
          </a:p>
        </p:txBody>
      </p:sp>
      <p:sp>
        <p:nvSpPr>
          <p:cNvPr id="219" name="Tech row 219"/>
          <p:cNvSpPr/>
          <p:nvPr/>
        </p:nvSpPr>
        <p:spPr>
          <a:xfrm>
            <a:off x="3334512" y="3858768"/>
            <a:ext cx="2474976" cy="182880"/>
          </a:xfrm>
          <a:prstGeom prst="roundRect">
            <a:avLst>
              <a:gd name="adj" fmla="val 25000"/>
            </a:avLst>
          </a:prstGeom>
          <a:solidFill>
            <a:srgbClr val="F5F5F7"/>
          </a:solidFill>
          <a:ln>
            <a:noFill/>
          </a:ln>
        </p:spPr>
      </p:sp>
      <p:pic>
        <p:nvPicPr>
          <p:cNvPr id="220" name="Tech logo 220" descr="Tailwind CSS 4 logo"/>
          <p:cNvPicPr>
            <a:picLocks noChangeAspect="1"/>
          </p:cNvPicPr>
          <p:nvPr/>
        </p:nvPicPr>
        <p:blipFill>
          <a:blip r:embed="rId32"/>
          <a:stretch>
            <a:fillRect/>
          </a:stretch>
        </p:blipFill>
        <p:spPr>
          <a:xfrm>
            <a:off x="3398520" y="3881628"/>
            <a:ext cx="137160" cy="137160"/>
          </a:xfrm>
          <a:prstGeom prst="rect">
            <a:avLst/>
          </a:prstGeom>
          <a:noFill/>
          <a:ln>
            <a:noFill/>
          </a:ln>
        </p:spPr>
      </p:pic>
      <p:sp>
        <p:nvSpPr>
          <p:cNvPr id="221" name="Tech row 221"/>
          <p:cNvSpPr txBox="1"/>
          <p:nvPr/>
        </p:nvSpPr>
        <p:spPr>
          <a:xfrm>
            <a:off x="3608832" y="3858768"/>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Tailwind CSS 4</a:t>
            </a:r>
            <a:r>
              <a:rPr lang="en-GB" sz="950" b="0" i="0" dirty="0">
                <a:solidFill>
                  <a:srgbClr val="5F6368"/>
                </a:solidFill>
                <a:latin typeface="Google Sans Flex"/>
                <a:ea typeface="Google Sans Flex"/>
                <a:cs typeface="Google Sans Flex"/>
                <a:sym typeface="Google Sans Flex"/>
              </a:rPr>
              <a:t xml:space="preserve">  app styling</a:t>
            </a:r>
            <a:endParaRPr lang="en-GB" sz="950" dirty="0">
              <a:latin typeface="Google Sans Flex SemiBold"/>
              <a:ea typeface="Google Sans Flex SemiBold"/>
              <a:cs typeface="Google Sans Flex SemiBold"/>
              <a:sym typeface="Google Sans Flex SemiBold"/>
            </a:endParaRPr>
          </a:p>
        </p:txBody>
      </p:sp>
      <p:sp>
        <p:nvSpPr>
          <p:cNvPr id="222" name="Tech row 222"/>
          <p:cNvSpPr/>
          <p:nvPr/>
        </p:nvSpPr>
        <p:spPr>
          <a:xfrm>
            <a:off x="3334512" y="4064508"/>
            <a:ext cx="2474976" cy="182880"/>
          </a:xfrm>
          <a:prstGeom prst="roundRect">
            <a:avLst>
              <a:gd name="adj" fmla="val 25000"/>
            </a:avLst>
          </a:prstGeom>
          <a:solidFill>
            <a:srgbClr val="F5F5F7"/>
          </a:solidFill>
          <a:ln>
            <a:noFill/>
          </a:ln>
        </p:spPr>
      </p:sp>
      <p:pic>
        <p:nvPicPr>
          <p:cNvPr id="223" name="Tech logo 223" descr="three.js r186 logo"/>
          <p:cNvPicPr>
            <a:picLocks noChangeAspect="1"/>
          </p:cNvPicPr>
          <p:nvPr/>
        </p:nvPicPr>
        <p:blipFill>
          <a:blip r:embed="rId33"/>
          <a:stretch>
            <a:fillRect/>
          </a:stretch>
        </p:blipFill>
        <p:spPr>
          <a:xfrm>
            <a:off x="3398520" y="4087368"/>
            <a:ext cx="137160" cy="137160"/>
          </a:xfrm>
          <a:prstGeom prst="rect">
            <a:avLst/>
          </a:prstGeom>
          <a:noFill/>
          <a:ln>
            <a:noFill/>
          </a:ln>
        </p:spPr>
      </p:pic>
      <p:sp>
        <p:nvSpPr>
          <p:cNvPr id="224" name="Tech row 224"/>
          <p:cNvSpPr txBox="1"/>
          <p:nvPr/>
        </p:nvSpPr>
        <p:spPr>
          <a:xfrm>
            <a:off x="3608832" y="4064508"/>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three.js r186</a:t>
            </a:r>
            <a:r>
              <a:rPr lang="en-GB" sz="950" b="0" i="0" dirty="0">
                <a:solidFill>
                  <a:srgbClr val="5F6368"/>
                </a:solidFill>
                <a:latin typeface="Google Sans Flex"/>
                <a:ea typeface="Google Sans Flex"/>
                <a:cs typeface="Google Sans Flex"/>
                <a:sym typeface="Google Sans Flex"/>
              </a:rPr>
              <a:t xml:space="preserve">  WebGL renderer</a:t>
            </a:r>
            <a:endParaRPr lang="en-GB" sz="950" dirty="0">
              <a:latin typeface="Google Sans Flex SemiBold"/>
              <a:ea typeface="Google Sans Flex SemiBold"/>
              <a:cs typeface="Google Sans Flex SemiBold"/>
              <a:sym typeface="Google Sans Flex SemiBold"/>
            </a:endParaRPr>
          </a:p>
        </p:txBody>
      </p:sp>
      <p:sp>
        <p:nvSpPr>
          <p:cNvPr id="225" name="Tech row 225"/>
          <p:cNvSpPr/>
          <p:nvPr/>
        </p:nvSpPr>
        <p:spPr>
          <a:xfrm>
            <a:off x="3334512" y="4270248"/>
            <a:ext cx="2474976" cy="182880"/>
          </a:xfrm>
          <a:prstGeom prst="roundRect">
            <a:avLst>
              <a:gd name="adj" fmla="val 25000"/>
            </a:avLst>
          </a:prstGeom>
          <a:solidFill>
            <a:srgbClr val="F5F5F7"/>
          </a:solidFill>
          <a:ln>
            <a:noFill/>
          </a:ln>
        </p:spPr>
      </p:sp>
      <p:pic>
        <p:nvPicPr>
          <p:cNvPr id="226" name="Tech logo 226" descr="react-three-fiber + drei icon"/>
          <p:cNvPicPr>
            <a:picLocks noChangeAspect="1"/>
          </p:cNvPicPr>
          <p:nvPr/>
        </p:nvPicPr>
        <p:blipFill>
          <a:blip r:embed="rId34"/>
          <a:stretch>
            <a:fillRect/>
          </a:stretch>
        </p:blipFill>
        <p:spPr>
          <a:xfrm>
            <a:off x="3398520" y="4293108"/>
            <a:ext cx="137160" cy="137160"/>
          </a:xfrm>
          <a:prstGeom prst="rect">
            <a:avLst/>
          </a:prstGeom>
          <a:noFill/>
          <a:ln>
            <a:noFill/>
          </a:ln>
        </p:spPr>
      </p:pic>
      <p:sp>
        <p:nvSpPr>
          <p:cNvPr id="227" name="Tech row 227"/>
          <p:cNvSpPr txBox="1"/>
          <p:nvPr/>
        </p:nvSpPr>
        <p:spPr>
          <a:xfrm>
            <a:off x="3608832" y="4270248"/>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react-three-fiber + drei</a:t>
            </a:r>
            <a:endParaRPr lang="en-GB" sz="950" dirty="0">
              <a:latin typeface="Google Sans Flex SemiBold"/>
              <a:ea typeface="Google Sans Flex SemiBold"/>
              <a:cs typeface="Google Sans Flex SemiBold"/>
              <a:sym typeface="Google Sans Flex SemiBold"/>
            </a:endParaRPr>
          </a:p>
        </p:txBody>
      </p:sp>
      <p:sp>
        <p:nvSpPr>
          <p:cNvPr id="228" name="Tech row 228"/>
          <p:cNvSpPr/>
          <p:nvPr/>
        </p:nvSpPr>
        <p:spPr>
          <a:xfrm>
            <a:off x="3334512" y="4475988"/>
            <a:ext cx="2474976" cy="182880"/>
          </a:xfrm>
          <a:prstGeom prst="roundRect">
            <a:avLst>
              <a:gd name="adj" fmla="val 25000"/>
            </a:avLst>
          </a:prstGeom>
          <a:solidFill>
            <a:srgbClr val="F5F5F7"/>
          </a:solidFill>
          <a:ln>
            <a:noFill/>
          </a:ln>
        </p:spPr>
      </p:sp>
      <p:pic>
        <p:nvPicPr>
          <p:cNvPr id="229" name="Tech logo 229" descr="three-mesh-bvh icon"/>
          <p:cNvPicPr>
            <a:picLocks noChangeAspect="1"/>
          </p:cNvPicPr>
          <p:nvPr/>
        </p:nvPicPr>
        <p:blipFill>
          <a:blip r:embed="rId35"/>
          <a:stretch>
            <a:fillRect/>
          </a:stretch>
        </p:blipFill>
        <p:spPr>
          <a:xfrm>
            <a:off x="3398520" y="4498848"/>
            <a:ext cx="137160" cy="137160"/>
          </a:xfrm>
          <a:prstGeom prst="rect">
            <a:avLst/>
          </a:prstGeom>
          <a:noFill/>
          <a:ln>
            <a:noFill/>
          </a:ln>
        </p:spPr>
      </p:pic>
      <p:sp>
        <p:nvSpPr>
          <p:cNvPr id="230" name="Tech row 230"/>
          <p:cNvSpPr txBox="1"/>
          <p:nvPr/>
        </p:nvSpPr>
        <p:spPr>
          <a:xfrm>
            <a:off x="3608832" y="4475988"/>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three-mesh-bvh</a:t>
            </a:r>
            <a:r>
              <a:rPr lang="en-GB" sz="950" b="0" i="0" dirty="0">
                <a:solidFill>
                  <a:srgbClr val="5F6368"/>
                </a:solidFill>
                <a:latin typeface="Google Sans Flex"/>
                <a:ea typeface="Google Sans Flex"/>
                <a:cs typeface="Google Sans Flex"/>
                <a:sym typeface="Google Sans Flex"/>
              </a:rPr>
              <a:t xml:space="preserve">  walk physics</a:t>
            </a:r>
            <a:endParaRPr lang="en-GB" sz="950" dirty="0">
              <a:latin typeface="Google Sans Flex SemiBold"/>
              <a:ea typeface="Google Sans Flex SemiBold"/>
              <a:cs typeface="Google Sans Flex SemiBold"/>
              <a:sym typeface="Google Sans Flex SemiBold"/>
            </a:endParaRPr>
          </a:p>
        </p:txBody>
      </p:sp>
      <p:sp>
        <p:nvSpPr>
          <p:cNvPr id="231" name="Tech row 231"/>
          <p:cNvSpPr/>
          <p:nvPr/>
        </p:nvSpPr>
        <p:spPr>
          <a:xfrm>
            <a:off x="3334512" y="4681728"/>
            <a:ext cx="2474976" cy="182880"/>
          </a:xfrm>
          <a:prstGeom prst="roundRect">
            <a:avLst>
              <a:gd name="adj" fmla="val 25000"/>
            </a:avLst>
          </a:prstGeom>
          <a:solidFill>
            <a:srgbClr val="F5F5F7"/>
          </a:solidFill>
          <a:ln>
            <a:noFill/>
          </a:ln>
        </p:spPr>
      </p:sp>
      <p:pic>
        <p:nvPicPr>
          <p:cNvPr id="232" name="Tech logo 232" descr="N8AO icon"/>
          <p:cNvPicPr>
            <a:picLocks noChangeAspect="1"/>
          </p:cNvPicPr>
          <p:nvPr/>
        </p:nvPicPr>
        <p:blipFill>
          <a:blip r:embed="rId36"/>
          <a:stretch>
            <a:fillRect/>
          </a:stretch>
        </p:blipFill>
        <p:spPr>
          <a:xfrm>
            <a:off x="3398520" y="4704588"/>
            <a:ext cx="137160" cy="137160"/>
          </a:xfrm>
          <a:prstGeom prst="rect">
            <a:avLst/>
          </a:prstGeom>
          <a:noFill/>
          <a:ln>
            <a:noFill/>
          </a:ln>
        </p:spPr>
      </p:pic>
      <p:sp>
        <p:nvSpPr>
          <p:cNvPr id="233" name="Tech row 233"/>
          <p:cNvSpPr txBox="1"/>
          <p:nvPr/>
        </p:nvSpPr>
        <p:spPr>
          <a:xfrm>
            <a:off x="3608832" y="4681728"/>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N8AO</a:t>
            </a:r>
            <a:r>
              <a:rPr lang="en-GB" sz="950" b="0" i="0" dirty="0">
                <a:solidFill>
                  <a:srgbClr val="5F6368"/>
                </a:solidFill>
                <a:latin typeface="Google Sans Flex"/>
                <a:ea typeface="Google Sans Flex"/>
                <a:cs typeface="Google Sans Flex"/>
                <a:sym typeface="Google Sans Flex"/>
              </a:rPr>
              <a:t xml:space="preserve">  ambient occlusion</a:t>
            </a:r>
            <a:endParaRPr lang="en-GB" sz="950" dirty="0">
              <a:latin typeface="Google Sans Flex SemiBold"/>
              <a:ea typeface="Google Sans Flex SemiBold"/>
              <a:cs typeface="Google Sans Flex SemiBold"/>
              <a:sym typeface="Google Sans Flex SemiBold"/>
            </a:endParaRPr>
          </a:p>
        </p:txBody>
      </p:sp>
      <p:sp>
        <p:nvSpPr>
          <p:cNvPr id="234" name="Tech card 234"/>
          <p:cNvSpPr/>
          <p:nvPr/>
        </p:nvSpPr>
        <p:spPr>
          <a:xfrm>
            <a:off x="6038088" y="3314700"/>
            <a:ext cx="2749296" cy="1604772"/>
          </a:xfrm>
          <a:prstGeom prst="roundRect">
            <a:avLst>
              <a:gd name="adj" fmla="val 6837"/>
            </a:avLst>
          </a:prstGeom>
          <a:solidFill>
            <a:srgbClr val="FFFFFF"/>
          </a:solidFill>
          <a:ln w="15875">
            <a:solidFill>
              <a:srgbClr val="2747F5"/>
            </a:solidFill>
          </a:ln>
        </p:spPr>
      </p:sp>
      <p:sp>
        <p:nvSpPr>
          <p:cNvPr id="235" name="Tech title 235"/>
          <p:cNvSpPr txBox="1"/>
          <p:nvPr/>
        </p:nvSpPr>
        <p:spPr>
          <a:xfrm>
            <a:off x="6175248" y="3369564"/>
            <a:ext cx="2474976" cy="256032"/>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300" b="0" i="0" dirty="0">
                <a:solidFill>
                  <a:srgbClr val="1F3AD0"/>
                </a:solidFill>
                <a:latin typeface="Google Sans Flex SemiBold"/>
                <a:ea typeface="Google Sans Flex SemiBold"/>
                <a:cs typeface="Google Sans Flex SemiBold"/>
                <a:sym typeface="Google Sans Flex SemiBold"/>
              </a:rPr>
              <a:t xml:space="preserve">Built by us</a:t>
            </a:r>
            <a:endParaRPr lang="en-GB" sz="1300" dirty="0">
              <a:latin typeface="Google Sans Flex SemiBold"/>
              <a:ea typeface="Google Sans Flex SemiBold"/>
              <a:cs typeface="Google Sans Flex SemiBold"/>
              <a:sym typeface="Google Sans Flex SemiBold"/>
            </a:endParaRPr>
          </a:p>
        </p:txBody>
      </p:sp>
      <p:sp>
        <p:nvSpPr>
          <p:cNvPr id="236" name="Tech sub 236"/>
          <p:cNvSpPr txBox="1"/>
          <p:nvPr/>
        </p:nvSpPr>
        <p:spPr>
          <a:xfrm>
            <a:off x="6175248" y="3369564"/>
            <a:ext cx="2474976" cy="256032"/>
          </a:xfrm>
          <a:prstGeom prst="rect">
            <a:avLst/>
          </a:prstGeom>
          <a:noFill/>
          <a:ln>
            <a:noFill/>
          </a:ln>
        </p:spPr>
        <p:txBody>
          <a:bodyPr wrap="square" lIns="0" tIns="0" rIns="0" bIns="0" anchor="ctr" rtlCol="0">
            <a:noAutofit/>
          </a:bodyPr>
          <a:lstStyle/>
          <a:p>
            <a:pPr marL="0" indent="0" algn="r" rtl="0">
              <a:lnSpc>
                <a:spcPct val="100000"/>
              </a:lnSpc>
              <a:spcBef>
                <a:spcPts val="0"/>
              </a:spcBef>
              <a:spcAft>
                <a:spcPts val="0"/>
              </a:spcAft>
              <a:buNone/>
            </a:pPr>
            <a:r>
              <a:rPr lang="en-GB" sz="950" b="0" i="0" dirty="0">
                <a:solidFill>
                  <a:srgbClr val="5F6368"/>
                </a:solidFill>
                <a:latin typeface="Google Sans Flex"/>
                <a:ea typeface="Google Sans Flex"/>
                <a:cs typeface="Google Sans Flex"/>
                <a:sym typeface="Google Sans Flex"/>
              </a:rPr>
              <a:t xml:space="preserve">domain IP</a:t>
            </a:r>
            <a:endParaRPr lang="en-GB" sz="950" dirty="0">
              <a:latin typeface="Google Sans Flex"/>
              <a:ea typeface="Google Sans Flex"/>
              <a:cs typeface="Google Sans Flex"/>
              <a:sym typeface="Google Sans Flex"/>
            </a:endParaRPr>
          </a:p>
        </p:txBody>
      </p:sp>
      <p:sp>
        <p:nvSpPr>
          <p:cNvPr id="237" name="Tech row 237"/>
          <p:cNvSpPr/>
          <p:nvPr/>
        </p:nvSpPr>
        <p:spPr>
          <a:xfrm>
            <a:off x="6175248" y="3653028"/>
            <a:ext cx="2474976" cy="182880"/>
          </a:xfrm>
          <a:prstGeom prst="roundRect">
            <a:avLst>
              <a:gd name="adj" fmla="val 25000"/>
            </a:avLst>
          </a:prstGeom>
          <a:solidFill>
            <a:srgbClr val="EDF0FF"/>
          </a:solidFill>
          <a:ln>
            <a:noFill/>
          </a:ln>
        </p:spPr>
      </p:sp>
      <p:pic>
        <p:nvPicPr>
          <p:cNvPr id="238" name="Tech logo 238" descr="House SDK icon"/>
          <p:cNvPicPr>
            <a:picLocks noChangeAspect="1"/>
          </p:cNvPicPr>
          <p:nvPr/>
        </p:nvPicPr>
        <p:blipFill>
          <a:blip r:embed="rId37"/>
          <a:stretch>
            <a:fillRect/>
          </a:stretch>
        </p:blipFill>
        <p:spPr>
          <a:xfrm>
            <a:off x="6239256" y="3675888"/>
            <a:ext cx="137160" cy="137160"/>
          </a:xfrm>
          <a:prstGeom prst="rect">
            <a:avLst/>
          </a:prstGeom>
          <a:noFill/>
          <a:ln>
            <a:noFill/>
          </a:ln>
        </p:spPr>
      </p:pic>
      <p:sp>
        <p:nvSpPr>
          <p:cNvPr id="239" name="Tech row 239"/>
          <p:cNvSpPr txBox="1"/>
          <p:nvPr/>
        </p:nvSpPr>
        <p:spPr>
          <a:xfrm>
            <a:off x="6449568" y="3653028"/>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House SDK</a:t>
            </a:r>
            <a:r>
              <a:rPr lang="en-GB" sz="950" b="0" i="0" dirty="0">
                <a:solidFill>
                  <a:srgbClr val="5F6368"/>
                </a:solidFill>
                <a:latin typeface="Google Sans Flex"/>
                <a:ea typeface="Google Sans Flex"/>
                <a:cs typeface="Google Sans Flex"/>
                <a:sym typeface="Google Sans Flex"/>
              </a:rPr>
              <a:t xml:space="preserve">  44 materials</a:t>
            </a:r>
            <a:endParaRPr lang="en-GB" sz="950" dirty="0">
              <a:latin typeface="Google Sans Flex SemiBold"/>
              <a:ea typeface="Google Sans Flex SemiBold"/>
              <a:cs typeface="Google Sans Flex SemiBold"/>
              <a:sym typeface="Google Sans Flex SemiBold"/>
            </a:endParaRPr>
          </a:p>
        </p:txBody>
      </p:sp>
      <p:sp>
        <p:nvSpPr>
          <p:cNvPr id="240" name="Tech row 240"/>
          <p:cNvSpPr/>
          <p:nvPr/>
        </p:nvSpPr>
        <p:spPr>
          <a:xfrm>
            <a:off x="6175248" y="3858768"/>
            <a:ext cx="2474976" cy="182880"/>
          </a:xfrm>
          <a:prstGeom prst="roundRect">
            <a:avLst>
              <a:gd name="adj" fmla="val 25000"/>
            </a:avLst>
          </a:prstGeom>
          <a:solidFill>
            <a:srgbClr val="EDF0FF"/>
          </a:solidFill>
          <a:ln>
            <a:noFill/>
          </a:ln>
        </p:spPr>
      </p:sp>
      <p:pic>
        <p:nvPicPr>
          <p:cNvPr id="241" name="Tech logo 241" descr="LDA rules as data icon"/>
          <p:cNvPicPr>
            <a:picLocks noChangeAspect="1"/>
          </p:cNvPicPr>
          <p:nvPr/>
        </p:nvPicPr>
        <p:blipFill>
          <a:blip r:embed="rId38"/>
          <a:stretch>
            <a:fillRect/>
          </a:stretch>
        </p:blipFill>
        <p:spPr>
          <a:xfrm>
            <a:off x="6239256" y="3881628"/>
            <a:ext cx="137160" cy="137160"/>
          </a:xfrm>
          <a:prstGeom prst="rect">
            <a:avLst/>
          </a:prstGeom>
          <a:noFill/>
          <a:ln>
            <a:noFill/>
          </a:ln>
        </p:spPr>
      </p:pic>
      <p:sp>
        <p:nvSpPr>
          <p:cNvPr id="242" name="Tech row 242"/>
          <p:cNvSpPr txBox="1"/>
          <p:nvPr/>
        </p:nvSpPr>
        <p:spPr>
          <a:xfrm>
            <a:off x="6449568" y="3858768"/>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LDA rules as data</a:t>
            </a:r>
            <a:r>
              <a:rPr lang="en-GB" sz="950" b="0" i="0" dirty="0">
                <a:solidFill>
                  <a:srgbClr val="5F6368"/>
                </a:solidFill>
                <a:latin typeface="Google Sans Flex"/>
                <a:ea typeface="Google Sans Flex"/>
                <a:cs typeface="Google Sans Flex"/>
                <a:sym typeface="Google Sans Flex"/>
              </a:rPr>
              <a:t xml:space="preserve">  2026 regulations</a:t>
            </a:r>
            <a:endParaRPr lang="en-GB" sz="950" dirty="0">
              <a:latin typeface="Google Sans Flex SemiBold"/>
              <a:ea typeface="Google Sans Flex SemiBold"/>
              <a:cs typeface="Google Sans Flex SemiBold"/>
              <a:sym typeface="Google Sans Flex SemiBold"/>
            </a:endParaRPr>
          </a:p>
        </p:txBody>
      </p:sp>
      <p:sp>
        <p:nvSpPr>
          <p:cNvPr id="243" name="Tech row 243"/>
          <p:cNvSpPr/>
          <p:nvPr/>
        </p:nvSpPr>
        <p:spPr>
          <a:xfrm>
            <a:off x="6175248" y="4064508"/>
            <a:ext cx="2474976" cy="182880"/>
          </a:xfrm>
          <a:prstGeom prst="roundRect">
            <a:avLst>
              <a:gd name="adj" fmla="val 25000"/>
            </a:avLst>
          </a:prstGeom>
          <a:solidFill>
            <a:srgbClr val="EDF0FF"/>
          </a:solidFill>
          <a:ln>
            <a:noFill/>
          </a:ln>
        </p:spPr>
      </p:sp>
      <p:pic>
        <p:nvPicPr>
          <p:cNvPr id="244" name="Tech logo 244" descr="10 livable rules icon"/>
          <p:cNvPicPr>
            <a:picLocks noChangeAspect="1"/>
          </p:cNvPicPr>
          <p:nvPr/>
        </p:nvPicPr>
        <p:blipFill>
          <a:blip r:embed="rId39"/>
          <a:stretch>
            <a:fillRect/>
          </a:stretch>
        </p:blipFill>
        <p:spPr>
          <a:xfrm>
            <a:off x="6239256" y="4087368"/>
            <a:ext cx="137160" cy="137160"/>
          </a:xfrm>
          <a:prstGeom prst="rect">
            <a:avLst/>
          </a:prstGeom>
          <a:noFill/>
          <a:ln>
            <a:noFill/>
          </a:ln>
        </p:spPr>
      </p:pic>
      <p:sp>
        <p:nvSpPr>
          <p:cNvPr id="245" name="Tech row 245"/>
          <p:cNvSpPr txBox="1"/>
          <p:nvPr/>
        </p:nvSpPr>
        <p:spPr>
          <a:xfrm>
            <a:off x="6449568" y="4064508"/>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10 livable rules</a:t>
            </a:r>
            <a:r>
              <a:rPr lang="en-GB" sz="950" b="0" i="0" dirty="0">
                <a:solidFill>
                  <a:srgbClr val="5F6368"/>
                </a:solidFill>
                <a:latin typeface="Google Sans Flex"/>
                <a:ea typeface="Google Sans Flex"/>
                <a:cs typeface="Google Sans Flex"/>
                <a:sym typeface="Google Sans Flex"/>
              </a:rPr>
              <a:t xml:space="preserve">  beyond the bylaws</a:t>
            </a:r>
            <a:endParaRPr lang="en-GB" sz="950" dirty="0">
              <a:latin typeface="Google Sans Flex SemiBold"/>
              <a:ea typeface="Google Sans Flex SemiBold"/>
              <a:cs typeface="Google Sans Flex SemiBold"/>
              <a:sym typeface="Google Sans Flex SemiBold"/>
            </a:endParaRPr>
          </a:p>
        </p:txBody>
      </p:sp>
      <p:sp>
        <p:nvSpPr>
          <p:cNvPr id="246" name="Tech row 246"/>
          <p:cNvSpPr/>
          <p:nvPr/>
        </p:nvSpPr>
        <p:spPr>
          <a:xfrm>
            <a:off x="6175248" y="4270248"/>
            <a:ext cx="2474976" cy="182880"/>
          </a:xfrm>
          <a:prstGeom prst="roundRect">
            <a:avLst>
              <a:gd name="adj" fmla="val 25000"/>
            </a:avLst>
          </a:prstGeom>
          <a:solidFill>
            <a:srgbClr val="EDF0FF"/>
          </a:solidFill>
          <a:ln>
            <a:noFill/>
          </a:ln>
        </p:spPr>
      </p:sp>
      <p:pic>
        <p:nvPicPr>
          <p:cNvPr id="247" name="Tech logo 247" descr="As-built check icon"/>
          <p:cNvPicPr>
            <a:picLocks noChangeAspect="1"/>
          </p:cNvPicPr>
          <p:nvPr/>
        </p:nvPicPr>
        <p:blipFill>
          <a:blip r:embed="rId40"/>
          <a:stretch>
            <a:fillRect/>
          </a:stretch>
        </p:blipFill>
        <p:spPr>
          <a:xfrm>
            <a:off x="6239256" y="4293108"/>
            <a:ext cx="137160" cy="137160"/>
          </a:xfrm>
          <a:prstGeom prst="rect">
            <a:avLst/>
          </a:prstGeom>
          <a:noFill/>
          <a:ln>
            <a:noFill/>
          </a:ln>
        </p:spPr>
      </p:pic>
      <p:sp>
        <p:nvSpPr>
          <p:cNvPr id="248" name="Tech row 248"/>
          <p:cNvSpPr txBox="1"/>
          <p:nvPr/>
        </p:nvSpPr>
        <p:spPr>
          <a:xfrm>
            <a:off x="6449568" y="4270248"/>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As-built check</a:t>
            </a:r>
            <a:r>
              <a:rPr lang="en-GB" sz="950" b="0" i="0" dirty="0">
                <a:solidFill>
                  <a:srgbClr val="5F6368"/>
                </a:solidFill>
                <a:latin typeface="Google Sans Flex"/>
                <a:ea typeface="Google Sans Flex"/>
                <a:cs typeface="Google Sans Flex"/>
                <a:sym typeface="Google Sans Flex"/>
              </a:rPr>
              <a:t xml:space="preserve">  setbacks in 3D</a:t>
            </a:r>
            <a:endParaRPr lang="en-GB" sz="950" dirty="0">
              <a:latin typeface="Google Sans Flex SemiBold"/>
              <a:ea typeface="Google Sans Flex SemiBold"/>
              <a:cs typeface="Google Sans Flex SemiBold"/>
              <a:sym typeface="Google Sans Flex SemiBold"/>
            </a:endParaRPr>
          </a:p>
        </p:txBody>
      </p:sp>
      <p:sp>
        <p:nvSpPr>
          <p:cNvPr id="249" name="Tech row 249"/>
          <p:cNvSpPr/>
          <p:nvPr/>
        </p:nvSpPr>
        <p:spPr>
          <a:xfrm>
            <a:off x="6175248" y="4475988"/>
            <a:ext cx="2474976" cy="182880"/>
          </a:xfrm>
          <a:prstGeom prst="roundRect">
            <a:avLst>
              <a:gd name="adj" fmla="val 25000"/>
            </a:avLst>
          </a:prstGeom>
          <a:solidFill>
            <a:srgbClr val="EDF0FF"/>
          </a:solidFill>
          <a:ln>
            <a:noFill/>
          </a:ln>
        </p:spPr>
      </p:sp>
      <p:pic>
        <p:nvPicPr>
          <p:cNvPr id="250" name="Tech logo 250" descr="1:100 print sheets icon"/>
          <p:cNvPicPr>
            <a:picLocks noChangeAspect="1"/>
          </p:cNvPicPr>
          <p:nvPr/>
        </p:nvPicPr>
        <p:blipFill>
          <a:blip r:embed="rId41"/>
          <a:stretch>
            <a:fillRect/>
          </a:stretch>
        </p:blipFill>
        <p:spPr>
          <a:xfrm>
            <a:off x="6239256" y="4498848"/>
            <a:ext cx="137160" cy="137160"/>
          </a:xfrm>
          <a:prstGeom prst="rect">
            <a:avLst/>
          </a:prstGeom>
          <a:noFill/>
          <a:ln>
            <a:noFill/>
          </a:ln>
        </p:spPr>
      </p:pic>
      <p:sp>
        <p:nvSpPr>
          <p:cNvPr id="251" name="Tech row 251"/>
          <p:cNvSpPr txBox="1"/>
          <p:nvPr/>
        </p:nvSpPr>
        <p:spPr>
          <a:xfrm>
            <a:off x="6449568" y="4475988"/>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1:100 print sheets</a:t>
            </a:r>
            <a:r>
              <a:rPr lang="en-GB" sz="950" b="0" i="0" dirty="0">
                <a:solidFill>
                  <a:srgbClr val="5F6368"/>
                </a:solidFill>
                <a:latin typeface="Google Sans Flex"/>
                <a:ea typeface="Google Sans Flex"/>
                <a:cs typeface="Google Sans Flex"/>
                <a:sym typeface="Google Sans Flex"/>
              </a:rPr>
              <a:t xml:space="preserve">  A3, one per floor</a:t>
            </a:r>
            <a:endParaRPr lang="en-GB" sz="950" dirty="0">
              <a:latin typeface="Google Sans Flex SemiBold"/>
              <a:ea typeface="Google Sans Flex SemiBold"/>
              <a:cs typeface="Google Sans Flex SemiBold"/>
              <a:sym typeface="Google Sans Flex SemiBold"/>
            </a:endParaRPr>
          </a:p>
        </p:txBody>
      </p:sp>
      <p:sp>
        <p:nvSpPr>
          <p:cNvPr id="252" name="Tech row 252"/>
          <p:cNvSpPr/>
          <p:nvPr/>
        </p:nvSpPr>
        <p:spPr>
          <a:xfrm>
            <a:off x="6175248" y="4681728"/>
            <a:ext cx="2474976" cy="182880"/>
          </a:xfrm>
          <a:prstGeom prst="roundRect">
            <a:avLst>
              <a:gd name="adj" fmla="val 25000"/>
            </a:avLst>
          </a:prstGeom>
          <a:solidFill>
            <a:srgbClr val="EDF0FF"/>
          </a:solidFill>
          <a:ln>
            <a:noFill/>
          </a:ln>
        </p:spPr>
      </p:sp>
      <p:pic>
        <p:nvPicPr>
          <p:cNvPr id="253" name="Tech logo 253" descr="Code screen icon"/>
          <p:cNvPicPr>
            <a:picLocks noChangeAspect="1"/>
          </p:cNvPicPr>
          <p:nvPr/>
        </p:nvPicPr>
        <p:blipFill>
          <a:blip r:embed="rId42"/>
          <a:stretch>
            <a:fillRect/>
          </a:stretch>
        </p:blipFill>
        <p:spPr>
          <a:xfrm>
            <a:off x="6239256" y="4704588"/>
            <a:ext cx="137160" cy="137160"/>
          </a:xfrm>
          <a:prstGeom prst="rect">
            <a:avLst/>
          </a:prstGeom>
          <a:noFill/>
          <a:ln>
            <a:noFill/>
          </a:ln>
        </p:spPr>
      </p:pic>
      <p:sp>
        <p:nvSpPr>
          <p:cNvPr id="254" name="Tech row 254"/>
          <p:cNvSpPr txBox="1"/>
          <p:nvPr/>
        </p:nvSpPr>
        <p:spPr>
          <a:xfrm>
            <a:off x="6449568" y="4681728"/>
            <a:ext cx="2164080"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50" b="0" i="0" dirty="0">
                <a:solidFill>
                  <a:srgbClr val="111113"/>
                </a:solidFill>
                <a:latin typeface="Google Sans Flex SemiBold"/>
                <a:ea typeface="Google Sans Flex SemiBold"/>
                <a:cs typeface="Google Sans Flex SemiBold"/>
                <a:sym typeface="Google Sans Flex SemiBold"/>
              </a:rPr>
              <a:t xml:space="preserve">Code screen</a:t>
            </a:r>
            <a:r>
              <a:rPr lang="en-GB" sz="950" b="0" i="0" dirty="0">
                <a:solidFill>
                  <a:srgbClr val="5F6368"/>
                </a:solidFill>
                <a:latin typeface="Google Sans Flex"/>
                <a:ea typeface="Google Sans Flex"/>
                <a:cs typeface="Google Sans Flex"/>
                <a:sym typeface="Google Sans Flex"/>
              </a:rPr>
              <a:t xml:space="preserve">  21 banned patterns</a:t>
            </a:r>
            <a:endParaRPr lang="en-GB" sz="950" dirty="0">
              <a:latin typeface="Google Sans Flex SemiBold"/>
              <a:ea typeface="Google Sans Flex SemiBold"/>
              <a:cs typeface="Google Sans Flex SemiBold"/>
              <a:sym typeface="Google Sans Flex Semi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Head chip 128"/>
          <p:cNvSpPr/>
          <p:nvPr/>
        </p:nvSpPr>
        <p:spPr>
          <a:xfrm>
            <a:off x="6245034" y="763524"/>
            <a:ext cx="2542350" cy="237744"/>
          </a:xfrm>
          <a:prstGeom prst="roundRect">
            <a:avLst>
              <a:gd name="adj" fmla="val 50000"/>
            </a:avLst>
          </a:prstGeom>
          <a:solidFill>
            <a:srgbClr val="EEEEF0"/>
          </a:solidFill>
          <a:ln>
            <a:noFill/>
          </a:ln>
        </p:spPr>
      </p:sp>
      <p:sp>
        <p:nvSpPr>
          <p:cNvPr id="129" name="Head chip label 129"/>
          <p:cNvSpPr txBox="1"/>
          <p:nvPr/>
        </p:nvSpPr>
        <p:spPr>
          <a:xfrm>
            <a:off x="6336474" y="763524"/>
            <a:ext cx="2386902" cy="23774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00" b="0" i="0" dirty="0">
                <a:solidFill>
                  <a:srgbClr val="46464B"/>
                </a:solidFill>
                <a:latin typeface="Google Sans Flex Medium"/>
                <a:ea typeface="Google Sans Flex Medium"/>
                <a:cs typeface="Google Sans Flex Medium"/>
                <a:sym typeface="Google Sans Flex Medium"/>
              </a:rPr>
              <a:t xml:space="preserve">All figures are estimates from list prices</a:t>
            </a:r>
            <a:endParaRPr lang="en-GB" sz="1000" dirty="0">
              <a:latin typeface="Google Sans Flex Medium"/>
              <a:ea typeface="Google Sans Flex Medium"/>
              <a:cs typeface="Google Sans Flex Medium"/>
              <a:sym typeface="Google Sans Flex Medium"/>
            </a:endParaRPr>
          </a:p>
        </p:txBody>
      </p:sp>
      <p:sp>
        <p:nvSpPr>
          <p:cNvPr id="130" name="Big number 130"/>
          <p:cNvSpPr txBox="1"/>
          <p:nvPr/>
        </p:nvSpPr>
        <p:spPr>
          <a:xfrm>
            <a:off x="356616" y="1060704"/>
            <a:ext cx="4800600" cy="475488"/>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2800" b="0" i="0" dirty="0">
                <a:solidFill>
                  <a:srgbClr val="111113"/>
                </a:solidFill>
                <a:latin typeface="Google Sans Flex SemiBold"/>
                <a:ea typeface="Google Sans Flex SemiBold"/>
                <a:cs typeface="Google Sans Flex SemiBold"/>
                <a:sym typeface="Google Sans Flex SemiBold"/>
              </a:rPr>
              <a:t xml:space="preserve">≈ $2.65</a:t>
            </a:r>
            <a:r>
              <a:rPr lang="en-GB" sz="1600" b="0" i="0" dirty="0">
                <a:solidFill>
                  <a:srgbClr val="111113"/>
                </a:solidFill>
                <a:latin typeface="Google Sans Flex SemiBold"/>
                <a:ea typeface="Google Sans Flex SemiBold"/>
                <a:cs typeface="Google Sans Flex SemiBold"/>
                <a:sym typeface="Google Sans Flex SemiBold"/>
              </a:rPr>
              <a:t xml:space="preserve">  of cloud and AI per new home</a:t>
            </a:r>
            <a:endParaRPr lang="en-GB" sz="2800" dirty="0">
              <a:latin typeface="Google Sans Flex SemiBold"/>
              <a:ea typeface="Google Sans Flex SemiBold"/>
              <a:cs typeface="Google Sans Flex SemiBold"/>
              <a:sym typeface="Google Sans Flex SemiBold"/>
            </a:endParaRPr>
          </a:p>
        </p:txBody>
      </p:sp>
      <p:sp>
        <p:nvSpPr>
          <p:cNvPr id="131" name="Big number note 131"/>
          <p:cNvSpPr txBox="1"/>
          <p:nvPr/>
        </p:nvSpPr>
        <p:spPr>
          <a:xfrm>
            <a:off x="356616" y="1508760"/>
            <a:ext cx="4800600" cy="347472"/>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050" b="0" i="0" dirty="0">
                <a:solidFill>
                  <a:srgbClr val="6E6E73"/>
                </a:solidFill>
                <a:latin typeface="Google Sans Flex"/>
                <a:ea typeface="Google Sans Flex"/>
                <a:cs typeface="Google Sans Flex"/>
                <a:sym typeface="Google Sans Flex"/>
              </a:rPr>
              <a:t xml:space="preserve">A 10 marla home, with Gemini 4 Argon at its announced 1 Dec 2026 prices (conservative), about Rs 740. At today’s prices: ≈ $1.60, about Rs 450.</a:t>
            </a:r>
            <a:endParaRPr lang="en-GB" sz="1050" dirty="0">
              <a:latin typeface="Google Sans Flex"/>
              <a:ea typeface="Google Sans Flex"/>
              <a:cs typeface="Google Sans Flex"/>
              <a:sym typeface="Google Sans Flex"/>
            </a:endParaRPr>
          </a:p>
        </p:txBody>
      </p:sp>
      <p:cxnSp>
        <p:nvCxnSpPr>
          <p:cNvPr id="132" name="Row rule 132"/>
          <p:cNvCxnSpPr/>
          <p:nvPr/>
        </p:nvCxnSpPr>
        <p:spPr>
          <a:xfrm>
            <a:off x="356616" y="1883664"/>
            <a:ext cx="4800600" cy="0"/>
          </a:xfrm>
          <a:prstGeom prst="line">
            <a:avLst/>
          </a:prstGeom>
          <a:ln w="9525">
            <a:solidFill>
              <a:srgbClr val="E4E4E7"/>
            </a:solidFill>
          </a:ln>
        </p:spPr>
      </p:cxnSp>
      <p:sp>
        <p:nvSpPr>
          <p:cNvPr id="133" name="Cell 133"/>
          <p:cNvSpPr txBox="1"/>
          <p:nvPr/>
        </p:nvSpPr>
        <p:spPr>
          <a:xfrm>
            <a:off x="356616" y="1920240"/>
            <a:ext cx="2514600" cy="384048"/>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200" b="0" i="0" dirty="0">
                <a:solidFill>
                  <a:srgbClr val="111113"/>
                </a:solidFill>
                <a:latin typeface="Google Sans Flex Medium"/>
                <a:ea typeface="Google Sans Flex Medium"/>
                <a:cs typeface="Google Sans Flex Medium"/>
                <a:sym typeface="Google Sans Flex Medium"/>
              </a:rPr>
              <a:t xml:space="preserve">Setup chat, ~6 turns</a:t>
            </a:r>
            <a:endParaRPr lang="en-GB" sz="1200" dirty="0">
              <a:latin typeface="Google Sans Flex Medium"/>
              <a:ea typeface="Google Sans Flex Medium"/>
              <a:cs typeface="Google Sans Flex Medium"/>
              <a:sym typeface="Google Sans Flex Medium"/>
            </a:endParaRPr>
          </a:p>
          <a:p>
            <a:pPr marL="0" indent="0" algn="l" rtl="0">
              <a:lnSpc>
                <a:spcPct val="100000"/>
              </a:lnSpc>
              <a:spcBef>
                <a:spcPts val="0"/>
              </a:spcBef>
              <a:spcAft>
                <a:spcPts val="0"/>
              </a:spcAft>
              <a:buNone/>
            </a:pPr>
            <a:r>
              <a:rPr lang="en-GB" sz="1000" b="0" i="0" dirty="0">
                <a:solidFill>
                  <a:srgbClr val="6E6E73"/>
                </a:solidFill>
                <a:latin typeface="Google Sans Flex"/>
                <a:ea typeface="Google Sans Flex"/>
                <a:cs typeface="Google Sans Flex"/>
                <a:sym typeface="Google Sans Flex"/>
              </a:rPr>
              <a:t xml:space="preserve">Gemini 3.8 Flash · ~60k in, 6k out</a:t>
            </a:r>
            <a:endParaRPr lang="en-GB" sz="1000" dirty="0">
              <a:latin typeface="Google Sans Flex"/>
              <a:ea typeface="Google Sans Flex"/>
              <a:cs typeface="Google Sans Flex"/>
              <a:sym typeface="Google Sans Flex"/>
            </a:endParaRPr>
          </a:p>
        </p:txBody>
      </p:sp>
      <p:sp>
        <p:nvSpPr>
          <p:cNvPr id="134" name="Bar 134"/>
          <p:cNvSpPr/>
          <p:nvPr/>
        </p:nvSpPr>
        <p:spPr>
          <a:xfrm>
            <a:off x="2962656" y="2029968"/>
            <a:ext cx="160020" cy="146304"/>
          </a:xfrm>
          <a:prstGeom prst="roundRect">
            <a:avLst>
              <a:gd name="adj" fmla="val 18750"/>
            </a:avLst>
          </a:prstGeom>
          <a:solidFill>
            <a:srgbClr val="2747F5"/>
          </a:solidFill>
          <a:ln>
            <a:noFill/>
          </a:ln>
        </p:spPr>
      </p:sp>
      <p:sp>
        <p:nvSpPr>
          <p:cNvPr id="135" name="Value 135"/>
          <p:cNvSpPr txBox="1"/>
          <p:nvPr/>
        </p:nvSpPr>
        <p:spPr>
          <a:xfrm>
            <a:off x="4471416" y="1975104"/>
            <a:ext cx="685800" cy="237744"/>
          </a:xfrm>
          <a:prstGeom prst="rect">
            <a:avLst/>
          </a:prstGeom>
          <a:noFill/>
          <a:ln>
            <a:noFill/>
          </a:ln>
        </p:spPr>
        <p:txBody>
          <a:bodyPr wrap="square" lIns="0" tIns="0" rIns="0" bIns="0" anchor="t" rtlCol="0">
            <a:noAutofit/>
          </a:bodyPr>
          <a:lstStyle/>
          <a:p>
            <a:pPr marL="0" indent="0" algn="r" rtl="0">
              <a:lnSpc>
                <a:spcPct val="100000"/>
              </a:lnSpc>
              <a:spcBef>
                <a:spcPts val="0"/>
              </a:spcBef>
              <a:spcAft>
                <a:spcPts val="0"/>
              </a:spcAft>
              <a:buNone/>
            </a:pPr>
            <a:r>
              <a:rPr lang="en-GB" sz="1200" b="0" i="0" dirty="0">
                <a:solidFill>
                  <a:srgbClr val="111113"/>
                </a:solidFill>
                <a:latin typeface="Google Sans Flex SemiBold"/>
                <a:ea typeface="Google Sans Flex SemiBold"/>
                <a:cs typeface="Google Sans Flex SemiBold"/>
                <a:sym typeface="Google Sans Flex SemiBold"/>
              </a:rPr>
              <a:t xml:space="preserve">$0.14</a:t>
            </a:r>
            <a:endParaRPr lang="en-GB" sz="1200" dirty="0">
              <a:latin typeface="Google Sans Flex SemiBold"/>
              <a:ea typeface="Google Sans Flex SemiBold"/>
              <a:cs typeface="Google Sans Flex SemiBold"/>
              <a:sym typeface="Google Sans Flex SemiBold"/>
            </a:endParaRPr>
          </a:p>
        </p:txBody>
      </p:sp>
      <p:cxnSp>
        <p:nvCxnSpPr>
          <p:cNvPr id="136" name="Row rule 136"/>
          <p:cNvCxnSpPr/>
          <p:nvPr/>
        </p:nvCxnSpPr>
        <p:spPr>
          <a:xfrm>
            <a:off x="356616" y="2295144"/>
            <a:ext cx="4800600" cy="0"/>
          </a:xfrm>
          <a:prstGeom prst="line">
            <a:avLst/>
          </a:prstGeom>
          <a:ln w="9525">
            <a:solidFill>
              <a:srgbClr val="E4E4E7"/>
            </a:solidFill>
          </a:ln>
        </p:spPr>
      </p:cxnSp>
      <p:sp>
        <p:nvSpPr>
          <p:cNvPr id="137" name="Cell 137"/>
          <p:cNvSpPr txBox="1"/>
          <p:nvPr/>
        </p:nvSpPr>
        <p:spPr>
          <a:xfrm>
            <a:off x="356616" y="2331720"/>
            <a:ext cx="2514600" cy="384048"/>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200" b="0" i="0" dirty="0">
                <a:solidFill>
                  <a:srgbClr val="111113"/>
                </a:solidFill>
                <a:latin typeface="Google Sans Flex Medium"/>
                <a:ea typeface="Google Sans Flex Medium"/>
                <a:cs typeface="Google Sans Flex Medium"/>
                <a:sym typeface="Google Sans Flex Medium"/>
              </a:rPr>
              <a:t xml:space="preserve">4 concepts + 4 night views</a:t>
            </a:r>
            <a:endParaRPr lang="en-GB" sz="1200" dirty="0">
              <a:latin typeface="Google Sans Flex Medium"/>
              <a:ea typeface="Google Sans Flex Medium"/>
              <a:cs typeface="Google Sans Flex Medium"/>
              <a:sym typeface="Google Sans Flex Medium"/>
            </a:endParaRPr>
          </a:p>
          <a:p>
            <a:pPr marL="0" indent="0" algn="l" rtl="0">
              <a:lnSpc>
                <a:spcPct val="100000"/>
              </a:lnSpc>
              <a:spcBef>
                <a:spcPts val="0"/>
              </a:spcBef>
              <a:spcAft>
                <a:spcPts val="0"/>
              </a:spcAft>
              <a:buNone/>
            </a:pPr>
            <a:r>
              <a:rPr lang="en-GB" sz="1000" b="0" i="0" dirty="0">
                <a:solidFill>
                  <a:srgbClr val="6E6E73"/>
                </a:solidFill>
                <a:latin typeface="Google Sans Flex"/>
                <a:ea typeface="Google Sans Flex"/>
                <a:cs typeface="Google Sans Flex"/>
                <a:sym typeface="Google Sans Flex"/>
              </a:rPr>
              <a:t xml:space="preserve">Gemini 3.1 Flash Image · 8 images</a:t>
            </a:r>
            <a:endParaRPr lang="en-GB" sz="1000" dirty="0">
              <a:latin typeface="Google Sans Flex"/>
              <a:ea typeface="Google Sans Flex"/>
              <a:cs typeface="Google Sans Flex"/>
              <a:sym typeface="Google Sans Flex"/>
            </a:endParaRPr>
          </a:p>
        </p:txBody>
      </p:sp>
      <p:sp>
        <p:nvSpPr>
          <p:cNvPr id="138" name="Bar 138"/>
          <p:cNvSpPr/>
          <p:nvPr/>
        </p:nvSpPr>
        <p:spPr>
          <a:xfrm>
            <a:off x="2962656" y="2441448"/>
            <a:ext cx="617220" cy="146304"/>
          </a:xfrm>
          <a:prstGeom prst="roundRect">
            <a:avLst>
              <a:gd name="adj" fmla="val 18750"/>
            </a:avLst>
          </a:prstGeom>
          <a:solidFill>
            <a:srgbClr val="2747F5"/>
          </a:solidFill>
          <a:ln>
            <a:noFill/>
          </a:ln>
        </p:spPr>
      </p:sp>
      <p:sp>
        <p:nvSpPr>
          <p:cNvPr id="139" name="Value 139"/>
          <p:cNvSpPr txBox="1"/>
          <p:nvPr/>
        </p:nvSpPr>
        <p:spPr>
          <a:xfrm>
            <a:off x="4471416" y="2386584"/>
            <a:ext cx="685800" cy="237744"/>
          </a:xfrm>
          <a:prstGeom prst="rect">
            <a:avLst/>
          </a:prstGeom>
          <a:noFill/>
          <a:ln>
            <a:noFill/>
          </a:ln>
        </p:spPr>
        <p:txBody>
          <a:bodyPr wrap="square" lIns="0" tIns="0" rIns="0" bIns="0" anchor="t" rtlCol="0">
            <a:noAutofit/>
          </a:bodyPr>
          <a:lstStyle/>
          <a:p>
            <a:pPr marL="0" indent="0" algn="r" rtl="0">
              <a:lnSpc>
                <a:spcPct val="100000"/>
              </a:lnSpc>
              <a:spcBef>
                <a:spcPts val="0"/>
              </a:spcBef>
              <a:spcAft>
                <a:spcPts val="0"/>
              </a:spcAft>
              <a:buNone/>
            </a:pPr>
            <a:r>
              <a:rPr lang="en-GB" sz="1200" b="0" i="0" dirty="0">
                <a:solidFill>
                  <a:srgbClr val="111113"/>
                </a:solidFill>
                <a:latin typeface="Google Sans Flex SemiBold"/>
                <a:ea typeface="Google Sans Flex SemiBold"/>
                <a:cs typeface="Google Sans Flex SemiBold"/>
                <a:sym typeface="Google Sans Flex SemiBold"/>
              </a:rPr>
              <a:t xml:space="preserve">$0.54</a:t>
            </a:r>
            <a:endParaRPr lang="en-GB" sz="1200" dirty="0">
              <a:latin typeface="Google Sans Flex SemiBold"/>
              <a:ea typeface="Google Sans Flex SemiBold"/>
              <a:cs typeface="Google Sans Flex SemiBold"/>
              <a:sym typeface="Google Sans Flex SemiBold"/>
            </a:endParaRPr>
          </a:p>
        </p:txBody>
      </p:sp>
      <p:cxnSp>
        <p:nvCxnSpPr>
          <p:cNvPr id="140" name="Row rule 140"/>
          <p:cNvCxnSpPr/>
          <p:nvPr/>
        </p:nvCxnSpPr>
        <p:spPr>
          <a:xfrm>
            <a:off x="356616" y="2706624"/>
            <a:ext cx="4800600" cy="0"/>
          </a:xfrm>
          <a:prstGeom prst="line">
            <a:avLst/>
          </a:prstGeom>
          <a:ln w="9525">
            <a:solidFill>
              <a:srgbClr val="E4E4E7"/>
            </a:solidFill>
          </a:ln>
        </p:spPr>
      </p:cxnSp>
      <p:sp>
        <p:nvSpPr>
          <p:cNvPr id="141" name="Cell 141"/>
          <p:cNvSpPr txBox="1"/>
          <p:nvPr/>
        </p:nvSpPr>
        <p:spPr>
          <a:xfrm>
            <a:off x="356616" y="2743200"/>
            <a:ext cx="2514600" cy="384048"/>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200" b="0" i="0" dirty="0">
                <a:solidFill>
                  <a:srgbClr val="111113"/>
                </a:solidFill>
                <a:latin typeface="Google Sans Flex Medium"/>
                <a:ea typeface="Google Sans Flex Medium"/>
                <a:cs typeface="Google Sans Flex Medium"/>
                <a:sym typeface="Google Sans Flex Medium"/>
              </a:rPr>
              <a:t xml:space="preserve">Plan, fix loop, self-review</a:t>
            </a:r>
            <a:endParaRPr lang="en-GB" sz="1200" dirty="0">
              <a:latin typeface="Google Sans Flex Medium"/>
              <a:ea typeface="Google Sans Flex Medium"/>
              <a:cs typeface="Google Sans Flex Medium"/>
              <a:sym typeface="Google Sans Flex Medium"/>
            </a:endParaRPr>
          </a:p>
          <a:p>
            <a:pPr marL="0" indent="0" algn="l" rtl="0">
              <a:lnSpc>
                <a:spcPct val="100000"/>
              </a:lnSpc>
              <a:spcBef>
                <a:spcPts val="0"/>
              </a:spcBef>
              <a:spcAft>
                <a:spcPts val="0"/>
              </a:spcAft>
              <a:buNone/>
            </a:pPr>
            <a:r>
              <a:rPr lang="en-GB" sz="1000" b="0" i="0" dirty="0">
                <a:solidFill>
                  <a:srgbClr val="6E6E73"/>
                </a:solidFill>
                <a:latin typeface="Google Sans Flex"/>
                <a:ea typeface="Google Sans Flex"/>
                <a:cs typeface="Google Sans Flex"/>
                <a:sym typeface="Google Sans Flex"/>
              </a:rPr>
              <a:t xml:space="preserve">Gemini 4 Argon · ~60k in, 50k out</a:t>
            </a:r>
            <a:endParaRPr lang="en-GB" sz="1000" dirty="0">
              <a:latin typeface="Google Sans Flex"/>
              <a:ea typeface="Google Sans Flex"/>
              <a:cs typeface="Google Sans Flex"/>
              <a:sym typeface="Google Sans Flex"/>
            </a:endParaRPr>
          </a:p>
        </p:txBody>
      </p:sp>
      <p:sp>
        <p:nvSpPr>
          <p:cNvPr id="142" name="Bar 142"/>
          <p:cNvSpPr/>
          <p:nvPr/>
        </p:nvSpPr>
        <p:spPr>
          <a:xfrm>
            <a:off x="2962656" y="2852928"/>
            <a:ext cx="1417320" cy="146304"/>
          </a:xfrm>
          <a:prstGeom prst="roundRect">
            <a:avLst>
              <a:gd name="adj" fmla="val 18750"/>
            </a:avLst>
          </a:prstGeom>
          <a:solidFill>
            <a:srgbClr val="2747F5"/>
          </a:solidFill>
          <a:ln>
            <a:noFill/>
          </a:ln>
        </p:spPr>
      </p:sp>
      <p:sp>
        <p:nvSpPr>
          <p:cNvPr id="143" name="Value 143"/>
          <p:cNvSpPr txBox="1"/>
          <p:nvPr/>
        </p:nvSpPr>
        <p:spPr>
          <a:xfrm>
            <a:off x="4471416" y="2798064"/>
            <a:ext cx="685800" cy="237744"/>
          </a:xfrm>
          <a:prstGeom prst="rect">
            <a:avLst/>
          </a:prstGeom>
          <a:noFill/>
          <a:ln>
            <a:noFill/>
          </a:ln>
        </p:spPr>
        <p:txBody>
          <a:bodyPr wrap="square" lIns="0" tIns="0" rIns="0" bIns="0" anchor="t" rtlCol="0">
            <a:noAutofit/>
          </a:bodyPr>
          <a:lstStyle/>
          <a:p>
            <a:pPr marL="0" indent="0" algn="r" rtl="0">
              <a:lnSpc>
                <a:spcPct val="100000"/>
              </a:lnSpc>
              <a:spcBef>
                <a:spcPts val="0"/>
              </a:spcBef>
              <a:spcAft>
                <a:spcPts val="0"/>
              </a:spcAft>
              <a:buNone/>
            </a:pPr>
            <a:r>
              <a:rPr lang="en-GB" sz="1200" b="0" i="0" dirty="0">
                <a:solidFill>
                  <a:srgbClr val="111113"/>
                </a:solidFill>
                <a:latin typeface="Google Sans Flex SemiBold"/>
                <a:ea typeface="Google Sans Flex SemiBold"/>
                <a:cs typeface="Google Sans Flex SemiBold"/>
                <a:sym typeface="Google Sans Flex SemiBold"/>
              </a:rPr>
              <a:t xml:space="preserve">$1.24</a:t>
            </a:r>
            <a:endParaRPr lang="en-GB" sz="1200" dirty="0">
              <a:latin typeface="Google Sans Flex SemiBold"/>
              <a:ea typeface="Google Sans Flex SemiBold"/>
              <a:cs typeface="Google Sans Flex SemiBold"/>
              <a:sym typeface="Google Sans Flex SemiBold"/>
            </a:endParaRPr>
          </a:p>
        </p:txBody>
      </p:sp>
      <p:cxnSp>
        <p:nvCxnSpPr>
          <p:cNvPr id="144" name="Row rule 144"/>
          <p:cNvCxnSpPr/>
          <p:nvPr/>
        </p:nvCxnSpPr>
        <p:spPr>
          <a:xfrm>
            <a:off x="356616" y="3118104"/>
            <a:ext cx="4800600" cy="0"/>
          </a:xfrm>
          <a:prstGeom prst="line">
            <a:avLst/>
          </a:prstGeom>
          <a:ln w="9525">
            <a:solidFill>
              <a:srgbClr val="E4E4E7"/>
            </a:solidFill>
          </a:ln>
        </p:spPr>
      </p:cxnSp>
      <p:sp>
        <p:nvSpPr>
          <p:cNvPr id="145" name="Cell 145"/>
          <p:cNvSpPr txBox="1"/>
          <p:nvPr/>
        </p:nvSpPr>
        <p:spPr>
          <a:xfrm>
            <a:off x="356616" y="3154680"/>
            <a:ext cx="2514600" cy="384048"/>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200" b="0" i="0" dirty="0">
                <a:solidFill>
                  <a:srgbClr val="111113"/>
                </a:solidFill>
                <a:latin typeface="Google Sans Flex Medium"/>
                <a:ea typeface="Google Sans Flex Medium"/>
                <a:cs typeface="Google Sans Flex Medium"/>
                <a:sym typeface="Google Sans Flex Medium"/>
              </a:rPr>
              <a:t xml:space="preserve">3D house as code</a:t>
            </a:r>
            <a:endParaRPr lang="en-GB" sz="1200" dirty="0">
              <a:latin typeface="Google Sans Flex Medium"/>
              <a:ea typeface="Google Sans Flex Medium"/>
              <a:cs typeface="Google Sans Flex Medium"/>
              <a:sym typeface="Google Sans Flex Medium"/>
            </a:endParaRPr>
          </a:p>
          <a:p>
            <a:pPr marL="0" indent="0" algn="l" rtl="0">
              <a:lnSpc>
                <a:spcPct val="100000"/>
              </a:lnSpc>
              <a:spcBef>
                <a:spcPts val="0"/>
              </a:spcBef>
              <a:spcAft>
                <a:spcPts val="0"/>
              </a:spcAft>
              <a:buNone/>
            </a:pPr>
            <a:r>
              <a:rPr lang="en-GB" sz="1000" b="0" i="0" dirty="0">
                <a:solidFill>
                  <a:srgbClr val="6E6E73"/>
                </a:solidFill>
                <a:latin typeface="Google Sans Flex"/>
                <a:ea typeface="Google Sans Flex"/>
                <a:cs typeface="Google Sans Flex"/>
                <a:sym typeface="Google Sans Flex"/>
              </a:rPr>
              <a:t xml:space="preserve">Gemini 4 Argon · ~25k in, 30k out</a:t>
            </a:r>
            <a:endParaRPr lang="en-GB" sz="1000" dirty="0">
              <a:latin typeface="Google Sans Flex"/>
              <a:ea typeface="Google Sans Flex"/>
              <a:cs typeface="Google Sans Flex"/>
              <a:sym typeface="Google Sans Flex"/>
            </a:endParaRPr>
          </a:p>
        </p:txBody>
      </p:sp>
      <p:sp>
        <p:nvSpPr>
          <p:cNvPr id="146" name="Bar 146"/>
          <p:cNvSpPr/>
          <p:nvPr/>
        </p:nvSpPr>
        <p:spPr>
          <a:xfrm>
            <a:off x="2962656" y="3264408"/>
            <a:ext cx="800100" cy="146304"/>
          </a:xfrm>
          <a:prstGeom prst="roundRect">
            <a:avLst>
              <a:gd name="adj" fmla="val 18750"/>
            </a:avLst>
          </a:prstGeom>
          <a:solidFill>
            <a:srgbClr val="2747F5"/>
          </a:solidFill>
          <a:ln>
            <a:noFill/>
          </a:ln>
        </p:spPr>
      </p:sp>
      <p:sp>
        <p:nvSpPr>
          <p:cNvPr id="147" name="Value 147"/>
          <p:cNvSpPr txBox="1"/>
          <p:nvPr/>
        </p:nvSpPr>
        <p:spPr>
          <a:xfrm>
            <a:off x="4471416" y="3209544"/>
            <a:ext cx="685800" cy="237744"/>
          </a:xfrm>
          <a:prstGeom prst="rect">
            <a:avLst/>
          </a:prstGeom>
          <a:noFill/>
          <a:ln>
            <a:noFill/>
          </a:ln>
        </p:spPr>
        <p:txBody>
          <a:bodyPr wrap="square" lIns="0" tIns="0" rIns="0" bIns="0" anchor="t" rtlCol="0">
            <a:noAutofit/>
          </a:bodyPr>
          <a:lstStyle/>
          <a:p>
            <a:pPr marL="0" indent="0" algn="r" rtl="0">
              <a:lnSpc>
                <a:spcPct val="100000"/>
              </a:lnSpc>
              <a:spcBef>
                <a:spcPts val="0"/>
              </a:spcBef>
              <a:spcAft>
                <a:spcPts val="0"/>
              </a:spcAft>
              <a:buNone/>
            </a:pPr>
            <a:r>
              <a:rPr lang="en-GB" sz="1200" b="0" i="0" dirty="0">
                <a:solidFill>
                  <a:srgbClr val="111113"/>
                </a:solidFill>
                <a:latin typeface="Google Sans Flex SemiBold"/>
                <a:ea typeface="Google Sans Flex SemiBold"/>
                <a:cs typeface="Google Sans Flex SemiBold"/>
                <a:sym typeface="Google Sans Flex SemiBold"/>
              </a:rPr>
              <a:t xml:space="preserve">$0.70</a:t>
            </a:r>
            <a:endParaRPr lang="en-GB" sz="1200" dirty="0">
              <a:latin typeface="Google Sans Flex SemiBold"/>
              <a:ea typeface="Google Sans Flex SemiBold"/>
              <a:cs typeface="Google Sans Flex SemiBold"/>
              <a:sym typeface="Google Sans Flex SemiBold"/>
            </a:endParaRPr>
          </a:p>
        </p:txBody>
      </p:sp>
      <p:cxnSp>
        <p:nvCxnSpPr>
          <p:cNvPr id="148" name="Row rule 148"/>
          <p:cNvCxnSpPr/>
          <p:nvPr/>
        </p:nvCxnSpPr>
        <p:spPr>
          <a:xfrm>
            <a:off x="356616" y="3529584"/>
            <a:ext cx="4800600" cy="0"/>
          </a:xfrm>
          <a:prstGeom prst="line">
            <a:avLst/>
          </a:prstGeom>
          <a:ln w="9525">
            <a:solidFill>
              <a:srgbClr val="E4E4E7"/>
            </a:solidFill>
          </a:ln>
        </p:spPr>
      </p:cxnSp>
      <p:sp>
        <p:nvSpPr>
          <p:cNvPr id="149" name="Cell 149"/>
          <p:cNvSpPr txBox="1"/>
          <p:nvPr/>
        </p:nvSpPr>
        <p:spPr>
          <a:xfrm>
            <a:off x="356616" y="3566160"/>
            <a:ext cx="2514600" cy="384048"/>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200" b="0" i="0" dirty="0">
                <a:solidFill>
                  <a:srgbClr val="111113"/>
                </a:solidFill>
                <a:latin typeface="Google Sans Flex Medium"/>
                <a:ea typeface="Google Sans Flex Medium"/>
                <a:cs typeface="Google Sans Flex Medium"/>
                <a:sym typeface="Google Sans Flex Medium"/>
              </a:rPr>
              <a:t xml:space="preserve">Hosting and storage</a:t>
            </a:r>
            <a:endParaRPr lang="en-GB" sz="1200" dirty="0">
              <a:latin typeface="Google Sans Flex Medium"/>
              <a:ea typeface="Google Sans Flex Medium"/>
              <a:cs typeface="Google Sans Flex Medium"/>
              <a:sym typeface="Google Sans Flex Medium"/>
            </a:endParaRPr>
          </a:p>
          <a:p>
            <a:pPr marL="0" indent="0" algn="l" rtl="0">
              <a:lnSpc>
                <a:spcPct val="100000"/>
              </a:lnSpc>
              <a:spcBef>
                <a:spcPts val="0"/>
              </a:spcBef>
              <a:spcAft>
                <a:spcPts val="0"/>
              </a:spcAft>
              <a:buNone/>
            </a:pPr>
            <a:r>
              <a:rPr lang="en-GB" sz="1000" b="0" i="0" dirty="0">
                <a:solidFill>
                  <a:srgbClr val="6E6E73"/>
                </a:solidFill>
                <a:latin typeface="Google Sans Flex"/>
                <a:ea typeface="Google Sans Flex"/>
                <a:cs typeface="Google Sans Flex"/>
                <a:sym typeface="Google Sans Flex"/>
              </a:rPr>
              <a:t xml:space="preserve">Cloud Run ~6 min · Firestore · Storage</a:t>
            </a:r>
            <a:endParaRPr lang="en-GB" sz="1000" dirty="0">
              <a:latin typeface="Google Sans Flex"/>
              <a:ea typeface="Google Sans Flex"/>
              <a:cs typeface="Google Sans Flex"/>
              <a:sym typeface="Google Sans Flex"/>
            </a:endParaRPr>
          </a:p>
        </p:txBody>
      </p:sp>
      <p:sp>
        <p:nvSpPr>
          <p:cNvPr id="150" name="Bar 150"/>
          <p:cNvSpPr/>
          <p:nvPr/>
        </p:nvSpPr>
        <p:spPr>
          <a:xfrm>
            <a:off x="2962656" y="3675888"/>
            <a:ext cx="34290" cy="146304"/>
          </a:xfrm>
          <a:prstGeom prst="roundRect">
            <a:avLst>
              <a:gd name="adj" fmla="val 50000"/>
            </a:avLst>
          </a:prstGeom>
          <a:solidFill>
            <a:srgbClr val="2747F5"/>
          </a:solidFill>
          <a:ln>
            <a:noFill/>
          </a:ln>
        </p:spPr>
      </p:sp>
      <p:sp>
        <p:nvSpPr>
          <p:cNvPr id="151" name="Value 151"/>
          <p:cNvSpPr txBox="1"/>
          <p:nvPr/>
        </p:nvSpPr>
        <p:spPr>
          <a:xfrm>
            <a:off x="4471416" y="3621024"/>
            <a:ext cx="685800" cy="237744"/>
          </a:xfrm>
          <a:prstGeom prst="rect">
            <a:avLst/>
          </a:prstGeom>
          <a:noFill/>
          <a:ln>
            <a:noFill/>
          </a:ln>
        </p:spPr>
        <p:txBody>
          <a:bodyPr wrap="square" lIns="0" tIns="0" rIns="0" bIns="0" anchor="t" rtlCol="0">
            <a:noAutofit/>
          </a:bodyPr>
          <a:lstStyle/>
          <a:p>
            <a:pPr marL="0" indent="0" algn="r" rtl="0">
              <a:lnSpc>
                <a:spcPct val="100000"/>
              </a:lnSpc>
              <a:spcBef>
                <a:spcPts val="0"/>
              </a:spcBef>
              <a:spcAft>
                <a:spcPts val="0"/>
              </a:spcAft>
              <a:buNone/>
            </a:pPr>
            <a:r>
              <a:rPr lang="en-GB" sz="1200" b="0" i="0" dirty="0">
                <a:solidFill>
                  <a:srgbClr val="111113"/>
                </a:solidFill>
                <a:latin typeface="Google Sans Flex SemiBold"/>
                <a:ea typeface="Google Sans Flex SemiBold"/>
                <a:cs typeface="Google Sans Flex SemiBold"/>
                <a:sym typeface="Google Sans Flex SemiBold"/>
              </a:rPr>
              <a:t xml:space="preserve">$0.03</a:t>
            </a:r>
            <a:endParaRPr lang="en-GB" sz="1200" dirty="0">
              <a:latin typeface="Google Sans Flex SemiBold"/>
              <a:ea typeface="Google Sans Flex SemiBold"/>
              <a:cs typeface="Google Sans Flex SemiBold"/>
              <a:sym typeface="Google Sans Flex SemiBold"/>
            </a:endParaRPr>
          </a:p>
        </p:txBody>
      </p:sp>
      <p:cxnSp>
        <p:nvCxnSpPr>
          <p:cNvPr id="152" name="Total rule 152"/>
          <p:cNvCxnSpPr/>
          <p:nvPr/>
        </p:nvCxnSpPr>
        <p:spPr>
          <a:xfrm>
            <a:off x="356616" y="3941064"/>
            <a:ext cx="4800600" cy="0"/>
          </a:xfrm>
          <a:prstGeom prst="line">
            <a:avLst/>
          </a:prstGeom>
          <a:ln w="12700">
            <a:solidFill>
              <a:srgbClr val="111113"/>
            </a:solidFill>
          </a:ln>
        </p:spPr>
      </p:cxnSp>
      <p:sp>
        <p:nvSpPr>
          <p:cNvPr id="153" name="Revision 153"/>
          <p:cNvSpPr txBox="1"/>
          <p:nvPr/>
        </p:nvSpPr>
        <p:spPr>
          <a:xfrm>
            <a:off x="356616" y="3977640"/>
            <a:ext cx="3611880" cy="384048"/>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200" b="0" i="0" dirty="0">
                <a:solidFill>
                  <a:srgbClr val="111113"/>
                </a:solidFill>
                <a:latin typeface="Google Sans Flex SemiBold"/>
                <a:ea typeface="Google Sans Flex SemiBold"/>
                <a:cs typeface="Google Sans Flex SemiBold"/>
                <a:sym typeface="Google Sans Flex SemiBold"/>
              </a:rPr>
              <a:t xml:space="preserve">Each revision</a:t>
            </a:r>
            <a:endParaRPr lang="en-GB" sz="1200" dirty="0">
              <a:latin typeface="Google Sans Flex SemiBold"/>
              <a:ea typeface="Google Sans Flex SemiBold"/>
              <a:cs typeface="Google Sans Flex SemiBold"/>
              <a:sym typeface="Google Sans Flex SemiBold"/>
            </a:endParaRPr>
          </a:p>
          <a:p>
            <a:pPr marL="0" indent="0" algn="l" rtl="0">
              <a:lnSpc>
                <a:spcPct val="100000"/>
              </a:lnSpc>
              <a:spcBef>
                <a:spcPts val="0"/>
              </a:spcBef>
              <a:spcAft>
                <a:spcPts val="0"/>
              </a:spcAft>
              <a:buNone/>
            </a:pPr>
            <a:r>
              <a:rPr lang="en-GB" sz="1000" b="0" i="0" dirty="0">
                <a:solidFill>
                  <a:srgbClr val="6E6E73"/>
                </a:solidFill>
                <a:latin typeface="Google Sans Flex"/>
                <a:ea typeface="Google Sans Flex"/>
                <a:cs typeface="Google Sans Flex"/>
                <a:sym typeface="Google Sans Flex"/>
              </a:rPr>
              <a:t xml:space="preserve">ADK + Gemini 4 Argon · ~120k in, 15k out · ≈ Rs 220</a:t>
            </a:r>
            <a:endParaRPr lang="en-GB" sz="1000" dirty="0">
              <a:latin typeface="Google Sans Flex"/>
              <a:ea typeface="Google Sans Flex"/>
              <a:cs typeface="Google Sans Flex"/>
              <a:sym typeface="Google Sans Flex"/>
            </a:endParaRPr>
          </a:p>
        </p:txBody>
      </p:sp>
      <p:sp>
        <p:nvSpPr>
          <p:cNvPr id="154" name="Revision value 154"/>
          <p:cNvSpPr txBox="1"/>
          <p:nvPr/>
        </p:nvSpPr>
        <p:spPr>
          <a:xfrm>
            <a:off x="4288536" y="4032504"/>
            <a:ext cx="868680" cy="237744"/>
          </a:xfrm>
          <a:prstGeom prst="rect">
            <a:avLst/>
          </a:prstGeom>
          <a:noFill/>
          <a:ln>
            <a:noFill/>
          </a:ln>
        </p:spPr>
        <p:txBody>
          <a:bodyPr wrap="square" lIns="0" tIns="0" rIns="0" bIns="0" anchor="t" rtlCol="0">
            <a:noAutofit/>
          </a:bodyPr>
          <a:lstStyle/>
          <a:p>
            <a:pPr marL="0" indent="0" algn="r" rtl="0">
              <a:lnSpc>
                <a:spcPct val="100000"/>
              </a:lnSpc>
              <a:spcBef>
                <a:spcPts val="0"/>
              </a:spcBef>
              <a:spcAft>
                <a:spcPts val="0"/>
              </a:spcAft>
              <a:buNone/>
            </a:pPr>
            <a:r>
              <a:rPr lang="en-GB" sz="1200" b="0" i="0" dirty="0">
                <a:solidFill>
                  <a:srgbClr val="111113"/>
                </a:solidFill>
                <a:latin typeface="Google Sans Flex SemiBold"/>
                <a:ea typeface="Google Sans Flex SemiBold"/>
                <a:cs typeface="Google Sans Flex SemiBold"/>
                <a:sym typeface="Google Sans Flex SemiBold"/>
              </a:rPr>
              <a:t xml:space="preserve">≈ $0.78</a:t>
            </a:r>
            <a:endParaRPr lang="en-GB" sz="1200" dirty="0">
              <a:latin typeface="Google Sans Flex SemiBold"/>
              <a:ea typeface="Google Sans Flex SemiBold"/>
              <a:cs typeface="Google Sans Flex SemiBold"/>
              <a:sym typeface="Google Sans Flex SemiBold"/>
            </a:endParaRPr>
          </a:p>
        </p:txBody>
      </p:sp>
      <p:sp>
        <p:nvSpPr>
          <p:cNvPr id="155" name="Footnote 155"/>
          <p:cNvSpPr txBox="1"/>
          <p:nvPr/>
        </p:nvSpPr>
        <p:spPr>
          <a:xfrm>
            <a:off x="356616" y="4776368"/>
            <a:ext cx="4800600" cy="161392"/>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900" b="0" i="0" dirty="0">
                <a:solidFill>
                  <a:srgbClr val="6E6E73"/>
                </a:solidFill>
                <a:latin typeface="Google Sans Flex"/>
                <a:ea typeface="Google Sans Flex"/>
                <a:cs typeface="Google Sans Flex"/>
                <a:sym typeface="Google Sans Flex"/>
              </a:rPr>
              <a:t xml:space="preserve">Token counts estimated from prompt and output sizes. Rs 280 = US$1.</a:t>
            </a:r>
            <a:endParaRPr lang="en-GB" sz="900" dirty="0">
              <a:latin typeface="Google Sans Flex"/>
              <a:ea typeface="Google Sans Flex"/>
              <a:cs typeface="Google Sans Flex"/>
              <a:sym typeface="Google Sans Flex"/>
            </a:endParaRPr>
          </a:p>
        </p:txBody>
      </p:sp>
      <p:sp>
        <p:nvSpPr>
          <p:cNvPr id="156" name="Callout 156"/>
          <p:cNvSpPr/>
          <p:nvPr/>
        </p:nvSpPr>
        <p:spPr>
          <a:xfrm>
            <a:off x="5431536" y="1097280"/>
            <a:ext cx="3355848" cy="1024128"/>
          </a:xfrm>
          <a:prstGeom prst="roundRect">
            <a:avLst>
              <a:gd name="adj" fmla="val 8928"/>
            </a:avLst>
          </a:prstGeom>
          <a:solidFill>
            <a:srgbClr val="2747F5"/>
          </a:solidFill>
          <a:ln>
            <a:noFill/>
          </a:ln>
        </p:spPr>
      </p:sp>
      <p:sp>
        <p:nvSpPr>
          <p:cNvPr id="157" name="Callout big 157"/>
          <p:cNvSpPr txBox="1"/>
          <p:nvPr/>
        </p:nvSpPr>
        <p:spPr>
          <a:xfrm>
            <a:off x="5577840" y="1161288"/>
            <a:ext cx="3063240" cy="365760"/>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2200" b="0" i="0" dirty="0">
                <a:solidFill>
                  <a:srgbClr val="FFFFFF"/>
                </a:solidFill>
                <a:latin typeface="Google Sans Flex SemiBold"/>
                <a:ea typeface="Google Sans Flex SemiBold"/>
                <a:cs typeface="Google Sans Flex SemiBold"/>
                <a:sym typeface="Google Sans Flex SemiBold"/>
              </a:rPr>
              <a:t xml:space="preserve">≈ 55 homes</a:t>
            </a:r>
            <a:endParaRPr lang="en-GB" sz="2200" dirty="0">
              <a:latin typeface="Google Sans Flex SemiBold"/>
              <a:ea typeface="Google Sans Flex SemiBold"/>
              <a:cs typeface="Google Sans Flex SemiBold"/>
              <a:sym typeface="Google Sans Flex SemiBold"/>
            </a:endParaRPr>
          </a:p>
        </p:txBody>
      </p:sp>
      <p:sp>
        <p:nvSpPr>
          <p:cNvPr id="158" name="Callout text 158"/>
          <p:cNvSpPr txBox="1"/>
          <p:nvPr/>
        </p:nvSpPr>
        <p:spPr>
          <a:xfrm>
            <a:off x="5577840" y="1527048"/>
            <a:ext cx="3063240" cy="548640"/>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000" b="0" i="0" dirty="0">
                <a:solidFill>
                  <a:srgbClr val="FFFFFF"/>
                </a:solidFill>
                <a:latin typeface="Google Sans Flex"/>
                <a:ea typeface="Google Sans Flex"/>
                <a:cs typeface="Google Sans Flex"/>
                <a:sym typeface="Google Sans Flex"/>
              </a:rPr>
              <a:t xml:space="preserve">cost the same as one avoided LDA resubmission: the Rs 41,430 scrutiny fee (Rs 15/sq ft × 2,762 sq ft, LDA 2026, Appendix C)</a:t>
            </a:r>
            <a:endParaRPr lang="en-GB" sz="1000" dirty="0">
              <a:latin typeface="Google Sans Flex"/>
              <a:ea typeface="Google Sans Flex"/>
              <a:cs typeface="Google Sans Flex"/>
              <a:sym typeface="Google Sans Flex"/>
            </a:endParaRPr>
          </a:p>
        </p:txBody>
      </p:sp>
      <p:sp>
        <p:nvSpPr>
          <p:cNvPr id="159" name="Pilot head 159"/>
          <p:cNvSpPr txBox="1"/>
          <p:nvPr/>
        </p:nvSpPr>
        <p:spPr>
          <a:xfrm>
            <a:off x="5431536" y="2249424"/>
            <a:ext cx="3355848" cy="219456"/>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200" b="0" i="0" dirty="0">
                <a:solidFill>
                  <a:srgbClr val="111113"/>
                </a:solidFill>
                <a:latin typeface="Google Sans Flex SemiBold"/>
                <a:ea typeface="Google Sans Flex SemiBold"/>
                <a:cs typeface="Google Sans Flex SemiBold"/>
                <a:sym typeface="Google Sans Flex SemiBold"/>
              </a:rPr>
              <a:t xml:space="preserve">Pilot month</a:t>
            </a:r>
            <a:r>
              <a:rPr lang="en-GB" sz="1000" b="0" i="0" dirty="0">
                <a:solidFill>
                  <a:srgbClr val="6E6E73"/>
                </a:solidFill>
                <a:latin typeface="Google Sans Flex"/>
                <a:ea typeface="Google Sans Flex"/>
                <a:cs typeface="Google Sans Flex"/>
                <a:sym typeface="Google Sans Flex"/>
              </a:rPr>
              <a:t xml:space="preserve">  1,000 homes + 3,000 revisions</a:t>
            </a:r>
            <a:endParaRPr lang="en-GB" sz="1200" dirty="0">
              <a:latin typeface="Google Sans Flex SemiBold"/>
              <a:ea typeface="Google Sans Flex SemiBold"/>
              <a:cs typeface="Google Sans Flex SemiBold"/>
              <a:sym typeface="Google Sans Flex SemiBold"/>
            </a:endParaRPr>
          </a:p>
        </p:txBody>
      </p:sp>
      <p:cxnSp>
        <p:nvCxnSpPr>
          <p:cNvPr id="160" name="Pilot rule 160"/>
          <p:cNvCxnSpPr/>
          <p:nvPr/>
        </p:nvCxnSpPr>
        <p:spPr>
          <a:xfrm>
            <a:off x="5431536" y="2505456"/>
            <a:ext cx="3355848" cy="0"/>
          </a:xfrm>
          <a:prstGeom prst="line">
            <a:avLst/>
          </a:prstGeom>
          <a:ln w="9525">
            <a:solidFill>
              <a:srgbClr val="E4E4E7"/>
            </a:solidFill>
          </a:ln>
        </p:spPr>
      </p:cxnSp>
      <p:sp>
        <p:nvSpPr>
          <p:cNvPr id="161" name="Pilot cell 161"/>
          <p:cNvSpPr txBox="1"/>
          <p:nvPr/>
        </p:nvSpPr>
        <p:spPr>
          <a:xfrm>
            <a:off x="5431536" y="2505456"/>
            <a:ext cx="2624328" cy="210312"/>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50" b="0" i="0" dirty="0">
                <a:solidFill>
                  <a:srgbClr val="46464B"/>
                </a:solidFill>
                <a:latin typeface="Google Sans Flex"/>
                <a:ea typeface="Google Sans Flex"/>
                <a:cs typeface="Google Sans Flex"/>
                <a:sym typeface="Google Sans Flex"/>
              </a:rPr>
              <a:t xml:space="preserve">Gemini on Agent Platform</a:t>
            </a:r>
            <a:endParaRPr lang="en-GB" sz="1050" dirty="0">
              <a:latin typeface="Google Sans Flex"/>
              <a:ea typeface="Google Sans Flex"/>
              <a:cs typeface="Google Sans Flex"/>
              <a:sym typeface="Google Sans Flex"/>
            </a:endParaRPr>
          </a:p>
        </p:txBody>
      </p:sp>
      <p:sp>
        <p:nvSpPr>
          <p:cNvPr id="162" name="Pilot value 162"/>
          <p:cNvSpPr txBox="1"/>
          <p:nvPr/>
        </p:nvSpPr>
        <p:spPr>
          <a:xfrm>
            <a:off x="8055864" y="2505456"/>
            <a:ext cx="731520" cy="210312"/>
          </a:xfrm>
          <a:prstGeom prst="rect">
            <a:avLst/>
          </a:prstGeom>
          <a:noFill/>
          <a:ln>
            <a:noFill/>
          </a:ln>
        </p:spPr>
        <p:txBody>
          <a:bodyPr wrap="square" lIns="0" tIns="0" rIns="0" bIns="0" anchor="ctr" rtlCol="0">
            <a:noAutofit/>
          </a:bodyPr>
          <a:lstStyle/>
          <a:p>
            <a:pPr marL="0" indent="0" algn="r" rtl="0">
              <a:lnSpc>
                <a:spcPct val="100000"/>
              </a:lnSpc>
              <a:spcBef>
                <a:spcPts val="0"/>
              </a:spcBef>
              <a:spcAft>
                <a:spcPts val="0"/>
              </a:spcAft>
              <a:buNone/>
            </a:pPr>
            <a:r>
              <a:rPr lang="en-GB" sz="1050" b="0" i="0" dirty="0">
                <a:solidFill>
                  <a:srgbClr val="111113"/>
                </a:solidFill>
                <a:latin typeface="Google Sans Flex Medium"/>
                <a:ea typeface="Google Sans Flex Medium"/>
                <a:cs typeface="Google Sans Flex Medium"/>
                <a:sym typeface="Google Sans Flex Medium"/>
              </a:rPr>
              <a:t xml:space="preserve">~$5,000</a:t>
            </a:r>
            <a:endParaRPr lang="en-GB" sz="1050" dirty="0">
              <a:latin typeface="Google Sans Flex Medium"/>
              <a:ea typeface="Google Sans Flex Medium"/>
              <a:cs typeface="Google Sans Flex Medium"/>
              <a:sym typeface="Google Sans Flex Medium"/>
            </a:endParaRPr>
          </a:p>
        </p:txBody>
      </p:sp>
      <p:cxnSp>
        <p:nvCxnSpPr>
          <p:cNvPr id="163" name="Pilot rule 163"/>
          <p:cNvCxnSpPr/>
          <p:nvPr/>
        </p:nvCxnSpPr>
        <p:spPr>
          <a:xfrm>
            <a:off x="5431536" y="2715768"/>
            <a:ext cx="3355848" cy="0"/>
          </a:xfrm>
          <a:prstGeom prst="line">
            <a:avLst/>
          </a:prstGeom>
          <a:ln w="9525">
            <a:solidFill>
              <a:srgbClr val="E4E4E7"/>
            </a:solidFill>
          </a:ln>
        </p:spPr>
      </p:cxnSp>
      <p:sp>
        <p:nvSpPr>
          <p:cNvPr id="164" name="Pilot cell 164"/>
          <p:cNvSpPr txBox="1"/>
          <p:nvPr/>
        </p:nvSpPr>
        <p:spPr>
          <a:xfrm>
            <a:off x="5431536" y="2715768"/>
            <a:ext cx="2624328" cy="210312"/>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50" b="0" i="0" dirty="0">
                <a:solidFill>
                  <a:srgbClr val="46464B"/>
                </a:solidFill>
                <a:latin typeface="Google Sans Flex"/>
                <a:ea typeface="Google Sans Flex"/>
                <a:cs typeface="Google Sans Flex"/>
                <a:sym typeface="Google Sans Flex"/>
              </a:rPr>
              <a:t xml:space="preserve">Cloud Run, one warm instance</a:t>
            </a:r>
            <a:endParaRPr lang="en-GB" sz="1050" dirty="0">
              <a:latin typeface="Google Sans Flex"/>
              <a:ea typeface="Google Sans Flex"/>
              <a:cs typeface="Google Sans Flex"/>
              <a:sym typeface="Google Sans Flex"/>
            </a:endParaRPr>
          </a:p>
        </p:txBody>
      </p:sp>
      <p:sp>
        <p:nvSpPr>
          <p:cNvPr id="165" name="Pilot value 165"/>
          <p:cNvSpPr txBox="1"/>
          <p:nvPr/>
        </p:nvSpPr>
        <p:spPr>
          <a:xfrm>
            <a:off x="8055864" y="2715768"/>
            <a:ext cx="731520" cy="210312"/>
          </a:xfrm>
          <a:prstGeom prst="rect">
            <a:avLst/>
          </a:prstGeom>
          <a:noFill/>
          <a:ln>
            <a:noFill/>
          </a:ln>
        </p:spPr>
        <p:txBody>
          <a:bodyPr wrap="square" lIns="0" tIns="0" rIns="0" bIns="0" anchor="ctr" rtlCol="0">
            <a:noAutofit/>
          </a:bodyPr>
          <a:lstStyle/>
          <a:p>
            <a:pPr marL="0" indent="0" algn="r" rtl="0">
              <a:lnSpc>
                <a:spcPct val="100000"/>
              </a:lnSpc>
              <a:spcBef>
                <a:spcPts val="0"/>
              </a:spcBef>
              <a:spcAft>
                <a:spcPts val="0"/>
              </a:spcAft>
              <a:buNone/>
            </a:pPr>
            <a:r>
              <a:rPr lang="en-GB" sz="1050" b="0" i="0" dirty="0">
                <a:solidFill>
                  <a:srgbClr val="111113"/>
                </a:solidFill>
                <a:latin typeface="Google Sans Flex Medium"/>
                <a:ea typeface="Google Sans Flex Medium"/>
                <a:cs typeface="Google Sans Flex Medium"/>
                <a:sym typeface="Google Sans Flex Medium"/>
              </a:rPr>
              <a:t xml:space="preserve">~$105</a:t>
            </a:r>
            <a:endParaRPr lang="en-GB" sz="1050" dirty="0">
              <a:latin typeface="Google Sans Flex Medium"/>
              <a:ea typeface="Google Sans Flex Medium"/>
              <a:cs typeface="Google Sans Flex Medium"/>
              <a:sym typeface="Google Sans Flex Medium"/>
            </a:endParaRPr>
          </a:p>
        </p:txBody>
      </p:sp>
      <p:cxnSp>
        <p:nvCxnSpPr>
          <p:cNvPr id="166" name="Pilot rule 166"/>
          <p:cNvCxnSpPr/>
          <p:nvPr/>
        </p:nvCxnSpPr>
        <p:spPr>
          <a:xfrm>
            <a:off x="5431536" y="2926080"/>
            <a:ext cx="3355848" cy="0"/>
          </a:xfrm>
          <a:prstGeom prst="line">
            <a:avLst/>
          </a:prstGeom>
          <a:ln w="9525">
            <a:solidFill>
              <a:srgbClr val="E4E4E7"/>
            </a:solidFill>
          </a:ln>
        </p:spPr>
      </p:cxnSp>
      <p:sp>
        <p:nvSpPr>
          <p:cNvPr id="167" name="Pilot cell 167"/>
          <p:cNvSpPr txBox="1"/>
          <p:nvPr/>
        </p:nvSpPr>
        <p:spPr>
          <a:xfrm>
            <a:off x="5431536" y="2926080"/>
            <a:ext cx="2624328" cy="210312"/>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50" b="0" i="0" dirty="0">
                <a:solidFill>
                  <a:srgbClr val="46464B"/>
                </a:solidFill>
                <a:latin typeface="Google Sans Flex"/>
                <a:ea typeface="Google Sans Flex"/>
                <a:cs typeface="Google Sans Flex"/>
                <a:sym typeface="Google Sans Flex"/>
              </a:rPr>
              <a:t xml:space="preserve">Firestore + Cloud Storage</a:t>
            </a:r>
            <a:endParaRPr lang="en-GB" sz="1050" dirty="0">
              <a:latin typeface="Google Sans Flex"/>
              <a:ea typeface="Google Sans Flex"/>
              <a:cs typeface="Google Sans Flex"/>
              <a:sym typeface="Google Sans Flex"/>
            </a:endParaRPr>
          </a:p>
        </p:txBody>
      </p:sp>
      <p:sp>
        <p:nvSpPr>
          <p:cNvPr id="168" name="Pilot value 168"/>
          <p:cNvSpPr txBox="1"/>
          <p:nvPr/>
        </p:nvSpPr>
        <p:spPr>
          <a:xfrm>
            <a:off x="8055864" y="2926080"/>
            <a:ext cx="731520" cy="210312"/>
          </a:xfrm>
          <a:prstGeom prst="rect">
            <a:avLst/>
          </a:prstGeom>
          <a:noFill/>
          <a:ln>
            <a:noFill/>
          </a:ln>
        </p:spPr>
        <p:txBody>
          <a:bodyPr wrap="square" lIns="0" tIns="0" rIns="0" bIns="0" anchor="ctr" rtlCol="0">
            <a:noAutofit/>
          </a:bodyPr>
          <a:lstStyle/>
          <a:p>
            <a:pPr marL="0" indent="0" algn="r" rtl="0">
              <a:lnSpc>
                <a:spcPct val="100000"/>
              </a:lnSpc>
              <a:spcBef>
                <a:spcPts val="0"/>
              </a:spcBef>
              <a:spcAft>
                <a:spcPts val="0"/>
              </a:spcAft>
              <a:buNone/>
            </a:pPr>
            <a:r>
              <a:rPr lang="en-GB" sz="1050" b="0" i="0" dirty="0">
                <a:solidFill>
                  <a:srgbClr val="111113"/>
                </a:solidFill>
                <a:latin typeface="Google Sans Flex Medium"/>
                <a:ea typeface="Google Sans Flex Medium"/>
                <a:cs typeface="Google Sans Flex Medium"/>
                <a:sym typeface="Google Sans Flex Medium"/>
              </a:rPr>
              <a:t xml:space="preserve">&lt; $50</a:t>
            </a:r>
            <a:endParaRPr lang="en-GB" sz="1050" dirty="0">
              <a:latin typeface="Google Sans Flex Medium"/>
              <a:ea typeface="Google Sans Flex Medium"/>
              <a:cs typeface="Google Sans Flex Medium"/>
              <a:sym typeface="Google Sans Flex Medium"/>
            </a:endParaRPr>
          </a:p>
        </p:txBody>
      </p:sp>
      <p:cxnSp>
        <p:nvCxnSpPr>
          <p:cNvPr id="169" name="Pilot total rule 169"/>
          <p:cNvCxnSpPr/>
          <p:nvPr/>
        </p:nvCxnSpPr>
        <p:spPr>
          <a:xfrm>
            <a:off x="5431536" y="3136392"/>
            <a:ext cx="3355848" cy="0"/>
          </a:xfrm>
          <a:prstGeom prst="line">
            <a:avLst/>
          </a:prstGeom>
          <a:ln w="12700">
            <a:solidFill>
              <a:srgbClr val="111113"/>
            </a:solidFill>
          </a:ln>
        </p:spPr>
      </p:cxnSp>
      <p:sp>
        <p:nvSpPr>
          <p:cNvPr id="170" name="Pilot cell 170"/>
          <p:cNvSpPr txBox="1"/>
          <p:nvPr/>
        </p:nvSpPr>
        <p:spPr>
          <a:xfrm>
            <a:off x="5431536" y="3136392"/>
            <a:ext cx="2624328" cy="219456"/>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50" b="0" i="0" dirty="0">
                <a:solidFill>
                  <a:srgbClr val="111113"/>
                </a:solidFill>
                <a:latin typeface="Google Sans Flex SemiBold"/>
                <a:ea typeface="Google Sans Flex SemiBold"/>
                <a:cs typeface="Google Sans Flex SemiBold"/>
                <a:sym typeface="Google Sans Flex SemiBold"/>
              </a:rPr>
              <a:t xml:space="preserve">Total</a:t>
            </a:r>
            <a:endParaRPr lang="en-GB" sz="1050" dirty="0">
              <a:latin typeface="Google Sans Flex SemiBold"/>
              <a:ea typeface="Google Sans Flex SemiBold"/>
              <a:cs typeface="Google Sans Flex SemiBold"/>
              <a:sym typeface="Google Sans Flex SemiBold"/>
            </a:endParaRPr>
          </a:p>
        </p:txBody>
      </p:sp>
      <p:sp>
        <p:nvSpPr>
          <p:cNvPr id="171" name="Pilot value 171"/>
          <p:cNvSpPr txBox="1"/>
          <p:nvPr/>
        </p:nvSpPr>
        <p:spPr>
          <a:xfrm>
            <a:off x="8055864" y="3136392"/>
            <a:ext cx="731520" cy="219456"/>
          </a:xfrm>
          <a:prstGeom prst="rect">
            <a:avLst/>
          </a:prstGeom>
          <a:noFill/>
          <a:ln>
            <a:noFill/>
          </a:ln>
        </p:spPr>
        <p:txBody>
          <a:bodyPr wrap="square" lIns="0" tIns="0" rIns="0" bIns="0" anchor="ctr" rtlCol="0">
            <a:noAutofit/>
          </a:bodyPr>
          <a:lstStyle/>
          <a:p>
            <a:pPr marL="0" indent="0" algn="r" rtl="0">
              <a:lnSpc>
                <a:spcPct val="100000"/>
              </a:lnSpc>
              <a:spcBef>
                <a:spcPts val="0"/>
              </a:spcBef>
              <a:spcAft>
                <a:spcPts val="0"/>
              </a:spcAft>
              <a:buNone/>
            </a:pPr>
            <a:r>
              <a:rPr lang="en-GB" sz="1050" b="0" i="0" dirty="0">
                <a:solidFill>
                  <a:srgbClr val="111113"/>
                </a:solidFill>
                <a:latin typeface="Google Sans Flex SemiBold"/>
                <a:ea typeface="Google Sans Flex SemiBold"/>
                <a:cs typeface="Google Sans Flex SemiBold"/>
                <a:sym typeface="Google Sans Flex SemiBold"/>
              </a:rPr>
              <a:t xml:space="preserve">≈ $5,200</a:t>
            </a:r>
            <a:endParaRPr lang="en-GB" sz="1050" dirty="0">
              <a:latin typeface="Google Sans Flex SemiBold"/>
              <a:ea typeface="Google Sans Flex SemiBold"/>
              <a:cs typeface="Google Sans Flex SemiBold"/>
              <a:sym typeface="Google Sans Flex SemiBold"/>
            </a:endParaRPr>
          </a:p>
        </p:txBody>
      </p:sp>
      <p:sp>
        <p:nvSpPr>
          <p:cNvPr id="172" name="Tiers head 172"/>
          <p:cNvSpPr txBox="1"/>
          <p:nvPr/>
        </p:nvSpPr>
        <p:spPr>
          <a:xfrm>
            <a:off x="5431536" y="3465576"/>
            <a:ext cx="3355848" cy="219456"/>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200" b="0" i="0" dirty="0">
                <a:solidFill>
                  <a:srgbClr val="111113"/>
                </a:solidFill>
                <a:latin typeface="Google Sans Flex SemiBold"/>
                <a:ea typeface="Google Sans Flex SemiBold"/>
                <a:cs typeface="Google Sans Flex SemiBold"/>
                <a:sym typeface="Google Sans Flex SemiBold"/>
              </a:rPr>
              <a:t xml:space="preserve">Pricing tiers to test</a:t>
            </a:r>
            <a:r>
              <a:rPr lang="en-GB" sz="1000" b="0" i="0" dirty="0">
                <a:solidFill>
                  <a:srgbClr val="6E6E73"/>
                </a:solidFill>
                <a:latin typeface="Google Sans Flex"/>
                <a:ea typeface="Google Sans Flex"/>
                <a:cs typeface="Google Sans Flex"/>
                <a:sym typeface="Google Sans Flex"/>
              </a:rPr>
              <a:t xml:space="preserve">  prices set in pilots</a:t>
            </a:r>
            <a:endParaRPr lang="en-GB" sz="1200" dirty="0">
              <a:latin typeface="Google Sans Flex SemiBold"/>
              <a:ea typeface="Google Sans Flex SemiBold"/>
              <a:cs typeface="Google Sans Flex SemiBold"/>
              <a:sym typeface="Google Sans Flex SemiBold"/>
            </a:endParaRPr>
          </a:p>
        </p:txBody>
      </p:sp>
      <p:sp>
        <p:nvSpPr>
          <p:cNvPr id="173" name="Tier 173"/>
          <p:cNvSpPr/>
          <p:nvPr/>
        </p:nvSpPr>
        <p:spPr>
          <a:xfrm>
            <a:off x="5431536" y="3721608"/>
            <a:ext cx="3355848" cy="240106"/>
          </a:xfrm>
          <a:prstGeom prst="roundRect">
            <a:avLst>
              <a:gd name="adj" fmla="val 22849"/>
            </a:avLst>
          </a:prstGeom>
          <a:solidFill>
            <a:srgbClr val="F5F5F7"/>
          </a:solidFill>
          <a:ln>
            <a:noFill/>
          </a:ln>
        </p:spPr>
      </p:sp>
      <p:sp>
        <p:nvSpPr>
          <p:cNvPr id="174" name="Tier text 174"/>
          <p:cNvSpPr txBox="1"/>
          <p:nvPr/>
        </p:nvSpPr>
        <p:spPr>
          <a:xfrm>
            <a:off x="5522976" y="3758184"/>
            <a:ext cx="3172968" cy="166954"/>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050" b="0" i="0" dirty="0">
                <a:solidFill>
                  <a:srgbClr val="2747F5"/>
                </a:solidFill>
                <a:latin typeface="Google Sans Flex SemiBold"/>
                <a:ea typeface="Google Sans Flex SemiBold"/>
                <a:cs typeface="Google Sans Flex SemiBold"/>
                <a:sym typeface="Google Sans Flex SemiBold"/>
              </a:rPr>
              <a:t xml:space="preserve">Free  </a:t>
            </a:r>
            <a:r>
              <a:rPr lang="en-GB" sz="1050" b="0" i="0" dirty="0">
                <a:solidFill>
                  <a:srgbClr val="46464B"/>
                </a:solidFill>
                <a:latin typeface="Google Sans Flex"/>
                <a:ea typeface="Google Sans Flex"/>
                <a:cs typeface="Google Sans Flex"/>
                <a:sym typeface="Google Sans Flex"/>
              </a:rPr>
              <a:t xml:space="preserve">one home; samples, no account</a:t>
            </a:r>
            <a:endParaRPr lang="en-GB" sz="1050" dirty="0">
              <a:latin typeface="Google Sans Flex SemiBold"/>
              <a:ea typeface="Google Sans Flex SemiBold"/>
              <a:cs typeface="Google Sans Flex SemiBold"/>
              <a:sym typeface="Google Sans Flex SemiBold"/>
            </a:endParaRPr>
          </a:p>
        </p:txBody>
      </p:sp>
      <p:sp>
        <p:nvSpPr>
          <p:cNvPr id="175" name="Tier 175"/>
          <p:cNvSpPr/>
          <p:nvPr/>
        </p:nvSpPr>
        <p:spPr>
          <a:xfrm>
            <a:off x="5431536" y="4007434"/>
            <a:ext cx="3355848" cy="240106"/>
          </a:xfrm>
          <a:prstGeom prst="roundRect">
            <a:avLst>
              <a:gd name="adj" fmla="val 22849"/>
            </a:avLst>
          </a:prstGeom>
          <a:solidFill>
            <a:srgbClr val="F5F5F7"/>
          </a:solidFill>
          <a:ln>
            <a:noFill/>
          </a:ln>
        </p:spPr>
      </p:sp>
      <p:sp>
        <p:nvSpPr>
          <p:cNvPr id="176" name="Tier text 176"/>
          <p:cNvSpPr txBox="1"/>
          <p:nvPr/>
        </p:nvSpPr>
        <p:spPr>
          <a:xfrm>
            <a:off x="5522976" y="4044010"/>
            <a:ext cx="3172968" cy="166954"/>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050" b="0" i="0" dirty="0">
                <a:solidFill>
                  <a:srgbClr val="2747F5"/>
                </a:solidFill>
                <a:latin typeface="Google Sans Flex SemiBold"/>
                <a:ea typeface="Google Sans Flex SemiBold"/>
                <a:cs typeface="Google Sans Flex SemiBold"/>
                <a:sym typeface="Google Sans Flex SemiBold"/>
              </a:rPr>
              <a:t xml:space="preserve">Family  </a:t>
            </a:r>
            <a:r>
              <a:rPr lang="en-GB" sz="1050" b="0" i="0" dirty="0">
                <a:solidFill>
                  <a:srgbClr val="46464B"/>
                </a:solidFill>
                <a:latin typeface="Google Sans Flex"/>
                <a:ea typeface="Google Sans Flex"/>
                <a:cs typeface="Google Sans Flex"/>
                <a:sym typeface="Google Sans Flex"/>
              </a:rPr>
              <a:t xml:space="preserve">per home: revisions, client links, 1:100 set</a:t>
            </a:r>
            <a:endParaRPr lang="en-GB" sz="1050" dirty="0">
              <a:latin typeface="Google Sans Flex SemiBold"/>
              <a:ea typeface="Google Sans Flex SemiBold"/>
              <a:cs typeface="Google Sans Flex SemiBold"/>
              <a:sym typeface="Google Sans Flex SemiBold"/>
            </a:endParaRPr>
          </a:p>
        </p:txBody>
      </p:sp>
      <p:sp>
        <p:nvSpPr>
          <p:cNvPr id="177" name="Tier 177"/>
          <p:cNvSpPr/>
          <p:nvPr/>
        </p:nvSpPr>
        <p:spPr>
          <a:xfrm>
            <a:off x="5431536" y="4293260"/>
            <a:ext cx="3355848" cy="240106"/>
          </a:xfrm>
          <a:prstGeom prst="roundRect">
            <a:avLst>
              <a:gd name="adj" fmla="val 22849"/>
            </a:avLst>
          </a:prstGeom>
          <a:solidFill>
            <a:srgbClr val="F5F5F7"/>
          </a:solidFill>
          <a:ln>
            <a:noFill/>
          </a:ln>
        </p:spPr>
      </p:sp>
      <p:sp>
        <p:nvSpPr>
          <p:cNvPr id="178" name="Tier text 178"/>
          <p:cNvSpPr txBox="1"/>
          <p:nvPr/>
        </p:nvSpPr>
        <p:spPr>
          <a:xfrm>
            <a:off x="5522976" y="4329836"/>
            <a:ext cx="3172968" cy="166954"/>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050" b="0" i="0" dirty="0">
                <a:solidFill>
                  <a:srgbClr val="2747F5"/>
                </a:solidFill>
                <a:latin typeface="Google Sans Flex SemiBold"/>
                <a:ea typeface="Google Sans Flex SemiBold"/>
                <a:cs typeface="Google Sans Flex SemiBold"/>
                <a:sym typeface="Google Sans Flex SemiBold"/>
              </a:rPr>
              <a:t xml:space="preserve">Professional  </a:t>
            </a:r>
            <a:r>
              <a:rPr lang="en-GB" sz="1050" b="0" i="0" dirty="0">
                <a:solidFill>
                  <a:srgbClr val="46464B"/>
                </a:solidFill>
                <a:latin typeface="Google Sans Flex"/>
                <a:ea typeface="Google Sans Flex"/>
                <a:cs typeface="Google Sans Flex"/>
                <a:sym typeface="Google Sans Flex"/>
              </a:rPr>
              <a:t xml:space="preserve">architects and builders: team seats</a:t>
            </a:r>
            <a:endParaRPr lang="en-GB" sz="1050" dirty="0">
              <a:latin typeface="Google Sans Flex SemiBold"/>
              <a:ea typeface="Google Sans Flex SemiBold"/>
              <a:cs typeface="Google Sans Flex SemiBold"/>
              <a:sym typeface="Google Sans Flex SemiBold"/>
            </a:endParaRPr>
          </a:p>
        </p:txBody>
      </p:sp>
      <p:sp>
        <p:nvSpPr>
          <p:cNvPr id="179" name="Tier 179"/>
          <p:cNvSpPr/>
          <p:nvPr/>
        </p:nvSpPr>
        <p:spPr>
          <a:xfrm>
            <a:off x="5431536" y="4579087"/>
            <a:ext cx="3355848" cy="240106"/>
          </a:xfrm>
          <a:prstGeom prst="roundRect">
            <a:avLst>
              <a:gd name="adj" fmla="val 22849"/>
            </a:avLst>
          </a:prstGeom>
          <a:solidFill>
            <a:srgbClr val="F5F5F7"/>
          </a:solidFill>
          <a:ln>
            <a:noFill/>
          </a:ln>
        </p:spPr>
      </p:sp>
      <p:sp>
        <p:nvSpPr>
          <p:cNvPr id="180" name="Tier text 180"/>
          <p:cNvSpPr txBox="1"/>
          <p:nvPr/>
        </p:nvSpPr>
        <p:spPr>
          <a:xfrm>
            <a:off x="5522976" y="4615663"/>
            <a:ext cx="3172968" cy="166954"/>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050" b="0" i="0" dirty="0">
                <a:solidFill>
                  <a:srgbClr val="2747F5"/>
                </a:solidFill>
                <a:latin typeface="Google Sans Flex SemiBold"/>
                <a:ea typeface="Google Sans Flex SemiBold"/>
                <a:cs typeface="Google Sans Flex SemiBold"/>
                <a:sym typeface="Google Sans Flex SemiBold"/>
              </a:rPr>
              <a:t xml:space="preserve">Stamping partners  </a:t>
            </a:r>
            <a:r>
              <a:rPr lang="en-GB" sz="1050" b="0" i="0" dirty="0">
                <a:solidFill>
                  <a:srgbClr val="46464B"/>
                </a:solidFill>
                <a:latin typeface="Google Sans Flex"/>
                <a:ea typeface="Google Sans Flex"/>
                <a:cs typeface="Google Sans Flex"/>
                <a:sym typeface="Google Sans Flex"/>
              </a:rPr>
              <a:t xml:space="preserve">PCATP architects; referral fee</a:t>
            </a:r>
            <a:endParaRPr lang="en-GB" sz="1050" dirty="0">
              <a:latin typeface="Google Sans Flex SemiBold"/>
              <a:ea typeface="Google Sans Flex SemiBold"/>
              <a:cs typeface="Google Sans Flex SemiBold"/>
              <a:sym typeface="Google Sans Flex Semi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sp>
        <p:nvSpPr>
          <p:cNvPr id="136" name="Head chip 136"/>
          <p:cNvSpPr/>
          <p:nvPr/>
        </p:nvSpPr>
        <p:spPr>
          <a:xfrm>
            <a:off x="6534404" y="763524"/>
            <a:ext cx="2252980" cy="237744"/>
          </a:xfrm>
          <a:prstGeom prst="roundRect">
            <a:avLst>
              <a:gd name="adj" fmla="val 50000"/>
            </a:avLst>
          </a:prstGeom>
          <a:solidFill>
            <a:srgbClr val="E3F3EC"/>
          </a:solidFill>
          <a:ln>
            <a:noFill/>
          </a:ln>
        </p:spPr>
      </p:sp>
      <p:sp>
        <p:nvSpPr>
          <p:cNvPr id="137" name="Head chip dot 137"/>
          <p:cNvSpPr/>
          <p:nvPr/>
        </p:nvSpPr>
        <p:spPr>
          <a:xfrm>
            <a:off x="6625844" y="850392"/>
            <a:ext cx="64008" cy="64008"/>
          </a:xfrm>
          <a:prstGeom prst="ellipse">
            <a:avLst/>
          </a:prstGeom>
          <a:solidFill>
            <a:srgbClr val="0E7A55"/>
          </a:solidFill>
          <a:ln>
            <a:noFill/>
          </a:ln>
        </p:spPr>
      </p:sp>
      <p:sp>
        <p:nvSpPr>
          <p:cNvPr id="138" name="Head chip label 138"/>
          <p:cNvSpPr txBox="1"/>
          <p:nvPr/>
        </p:nvSpPr>
        <p:spPr>
          <a:xfrm>
            <a:off x="6726428" y="763524"/>
            <a:ext cx="1996948" cy="23774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00" b="0" i="0" dirty="0">
                <a:solidFill>
                  <a:srgbClr val="0E7A55"/>
                </a:solidFill>
                <a:latin typeface="Google Sans Flex Medium"/>
                <a:ea typeface="Google Sans Flex Medium"/>
                <a:cs typeface="Google Sans Flex Medium"/>
                <a:sym typeface="Google Sans Flex Medium"/>
              </a:rPr>
              <a:t xml:space="preserve">All captured from the live service</a:t>
            </a:r>
            <a:endParaRPr lang="en-GB" sz="1000" dirty="0">
              <a:latin typeface="Google Sans Flex Medium"/>
              <a:ea typeface="Google Sans Flex Medium"/>
              <a:cs typeface="Google Sans Flex Medium"/>
              <a:sym typeface="Google Sans Flex Medium"/>
            </a:endParaRPr>
          </a:p>
        </p:txBody>
      </p:sp>
      <p:pic>
        <p:nvPicPr>
          <p:cNvPr id="139" name="Hero 139" descr="1 kanal Spanish villa in 3D, live screen: 43/43 LDA, 10/10 livable"/>
          <p:cNvPicPr>
            <a:picLocks noChangeAspect="1"/>
          </p:cNvPicPr>
          <p:nvPr/>
        </p:nvPicPr>
        <p:blipFill>
          <a:blip r:embed="rId5"/>
          <a:stretch>
            <a:fillRect/>
          </a:stretch>
        </p:blipFill>
        <p:spPr>
          <a:xfrm>
            <a:off x="356616" y="1097280"/>
            <a:ext cx="4846320" cy="3028950"/>
          </a:xfrm>
          <a:prstGeom prst="roundRect">
            <a:avLst>
              <a:gd name="adj" fmla="val 2113"/>
            </a:avLst>
          </a:prstGeom>
          <a:noFill/>
          <a:ln w="9525">
            <a:solidFill>
              <a:srgbClr val="DADADF"/>
            </a:solidFill>
          </a:ln>
          <a:effectLst>
            <a:outerShdw blurRad="76200" dist="19050" dir="5400000" algn="t" rotWithShape="0">
              <a:srgbClr val="000000">
                <a:alpha val="14000"/>
              </a:srgbClr>
            </a:outerShdw>
          </a:effectLst>
        </p:spPr>
      </p:pic>
      <p:sp>
        <p:nvSpPr>
          <p:cNvPr id="140" name="Hero caption 140"/>
          <p:cNvSpPr txBox="1"/>
          <p:nvPr/>
        </p:nvSpPr>
        <p:spPr>
          <a:xfrm>
            <a:off x="356616" y="4190238"/>
            <a:ext cx="4846320" cy="566852"/>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150" b="0" i="0" dirty="0">
                <a:solidFill>
                  <a:srgbClr val="111113"/>
                </a:solidFill>
                <a:latin typeface="Google Sans Flex SemiBold"/>
                <a:ea typeface="Google Sans Flex SemiBold"/>
                <a:cs typeface="Google Sans Flex SemiBold"/>
                <a:sym typeface="Google Sans Flex SemiBold"/>
              </a:rPr>
              <a:t xml:space="preserve">The 1 kanal Spanish villa </a:t>
            </a:r>
            <a:r>
              <a:rPr lang="en-GB" sz="1150" b="0" i="0" dirty="0">
                <a:solidFill>
                  <a:srgbClr val="46464B"/>
                </a:solidFill>
                <a:latin typeface="Google Sans Flex"/>
                <a:ea typeface="Google Sans Flex"/>
                <a:cs typeface="Google Sans Flex"/>
                <a:sym typeface="Google Sans Flex"/>
              </a:rPr>
              <a:t xml:space="preserve">(43/43 LDA · 10/10 livable), written as 3D code by the AI architect (Gemini 4 Argon): tiled roofs, rooftop solar, a two-car porch. Neighbours turn see-through as the camera passes.</a:t>
            </a:r>
            <a:endParaRPr lang="en-GB" sz="1150" dirty="0">
              <a:latin typeface="Google Sans Flex SemiBold"/>
              <a:ea typeface="Google Sans Flex SemiBold"/>
              <a:cs typeface="Google Sans Flex SemiBold"/>
              <a:sym typeface="Google Sans Flex SemiBold"/>
            </a:endParaRPr>
          </a:p>
        </p:txBody>
      </p:sp>
      <p:pic>
        <p:nvPicPr>
          <p:cNvPr id="141" name="Render compare 141" descr="Render this view: the 3D view (left) and Gemini's photoreal render of the same camera (right)"/>
          <p:cNvPicPr>
            <a:picLocks noChangeAspect="1"/>
          </p:cNvPicPr>
          <p:nvPr/>
        </p:nvPicPr>
        <p:blipFill>
          <a:blip r:embed="rId6"/>
          <a:stretch>
            <a:fillRect/>
          </a:stretch>
        </p:blipFill>
        <p:spPr>
          <a:xfrm>
            <a:off x="5385816" y="1097280"/>
            <a:ext cx="3401568" cy="1810512"/>
          </a:xfrm>
          <a:prstGeom prst="roundRect">
            <a:avLst>
              <a:gd name="adj" fmla="val 3535"/>
            </a:avLst>
          </a:prstGeom>
          <a:noFill/>
          <a:ln w="9525">
            <a:solidFill>
              <a:srgbClr val="DADADF"/>
            </a:solidFill>
          </a:ln>
          <a:effectLst>
            <a:outerShdw blurRad="76200" dist="19050" dir="5400000" algn="t" rotWithShape="0">
              <a:srgbClr val="000000">
                <a:alpha val="14000"/>
              </a:srgbClr>
            </a:outerShdw>
          </a:effectLst>
        </p:spPr>
      </p:pic>
      <p:sp>
        <p:nvSpPr>
          <p:cNvPr id="142" name="Compare chip 142"/>
          <p:cNvSpPr/>
          <p:nvPr/>
        </p:nvSpPr>
        <p:spPr>
          <a:xfrm>
            <a:off x="5449824" y="2660904"/>
            <a:ext cx="546281" cy="182880"/>
          </a:xfrm>
          <a:prstGeom prst="roundRect">
            <a:avLst>
              <a:gd name="adj" fmla="val 50000"/>
            </a:avLst>
          </a:prstGeom>
          <a:solidFill>
            <a:srgbClr val="111113"/>
          </a:solidFill>
          <a:ln>
            <a:noFill/>
          </a:ln>
        </p:spPr>
      </p:sp>
      <p:sp>
        <p:nvSpPr>
          <p:cNvPr id="143" name="Compare chip label 143"/>
          <p:cNvSpPr txBox="1"/>
          <p:nvPr/>
        </p:nvSpPr>
        <p:spPr>
          <a:xfrm>
            <a:off x="5513832" y="2660904"/>
            <a:ext cx="445697"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850" b="0" i="0" dirty="0">
                <a:solidFill>
                  <a:srgbClr val="FFFFFF"/>
                </a:solidFill>
                <a:latin typeface="Google Sans Flex Medium"/>
                <a:ea typeface="Google Sans Flex Medium"/>
                <a:cs typeface="Google Sans Flex Medium"/>
                <a:sym typeface="Google Sans Flex Medium"/>
              </a:rPr>
              <a:t xml:space="preserve">3D view</a:t>
            </a:r>
            <a:endParaRPr lang="en-GB" sz="850" dirty="0">
              <a:latin typeface="Google Sans Flex Medium"/>
              <a:ea typeface="Google Sans Flex Medium"/>
              <a:cs typeface="Google Sans Flex Medium"/>
              <a:sym typeface="Google Sans Flex Medium"/>
            </a:endParaRPr>
          </a:p>
        </p:txBody>
      </p:sp>
      <p:sp>
        <p:nvSpPr>
          <p:cNvPr id="144" name="Compare chip 144"/>
          <p:cNvSpPr/>
          <p:nvPr/>
        </p:nvSpPr>
        <p:spPr>
          <a:xfrm>
            <a:off x="7845689" y="2660904"/>
            <a:ext cx="877687" cy="182880"/>
          </a:xfrm>
          <a:prstGeom prst="roundRect">
            <a:avLst>
              <a:gd name="adj" fmla="val 50000"/>
            </a:avLst>
          </a:prstGeom>
          <a:solidFill>
            <a:srgbClr val="2747F5"/>
          </a:solidFill>
          <a:ln>
            <a:noFill/>
          </a:ln>
        </p:spPr>
      </p:sp>
      <p:sp>
        <p:nvSpPr>
          <p:cNvPr id="145" name="Compare chip label 145"/>
          <p:cNvSpPr txBox="1"/>
          <p:nvPr/>
        </p:nvSpPr>
        <p:spPr>
          <a:xfrm>
            <a:off x="7909697" y="2660904"/>
            <a:ext cx="777103" cy="18288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850" b="0" i="0" dirty="0">
                <a:solidFill>
                  <a:srgbClr val="FFFFFF"/>
                </a:solidFill>
                <a:latin typeface="Google Sans Flex Medium"/>
                <a:ea typeface="Google Sans Flex Medium"/>
                <a:cs typeface="Google Sans Flex Medium"/>
                <a:sym typeface="Google Sans Flex Medium"/>
              </a:rPr>
              <a:t xml:space="preserve">Gemini render</a:t>
            </a:r>
            <a:endParaRPr lang="en-GB" sz="850" dirty="0">
              <a:latin typeface="Google Sans Flex Medium"/>
              <a:ea typeface="Google Sans Flex Medium"/>
              <a:cs typeface="Google Sans Flex Medium"/>
              <a:sym typeface="Google Sans Flex Medium"/>
            </a:endParaRPr>
          </a:p>
        </p:txBody>
      </p:sp>
      <p:sp>
        <p:nvSpPr>
          <p:cNvPr id="146" name="Render caption 146"/>
          <p:cNvSpPr txBox="1"/>
          <p:nvPr/>
        </p:nvSpPr>
        <p:spPr>
          <a:xfrm>
            <a:off x="5385816" y="2953512"/>
            <a:ext cx="3401568" cy="368097"/>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100" b="0" i="0" dirty="0">
                <a:solidFill>
                  <a:srgbClr val="111113"/>
                </a:solidFill>
                <a:latin typeface="Google Sans Flex SemiBold"/>
                <a:ea typeface="Google Sans Flex SemiBold"/>
                <a:cs typeface="Google Sans Flex SemiBold"/>
                <a:sym typeface="Google Sans Flex SemiBold"/>
              </a:rPr>
              <a:t xml:space="preserve">Render this view: </a:t>
            </a:r>
            <a:r>
              <a:rPr lang="en-GB" sz="1100" b="0" i="0" dirty="0">
                <a:solidFill>
                  <a:srgbClr val="46464B"/>
                </a:solidFill>
                <a:latin typeface="Google Sans Flex"/>
                <a:ea typeface="Google Sans Flex"/>
                <a:cs typeface="Google Sans Flex"/>
                <a:sym typeface="Google Sans Flex"/>
              </a:rPr>
              <a:t xml:space="preserve">Gemini turns any 3D view into a photo, same camera, in ~10 s.</a:t>
            </a:r>
            <a:endParaRPr lang="en-GB" sz="1100" dirty="0">
              <a:latin typeface="Google Sans Flex SemiBold"/>
              <a:ea typeface="Google Sans Flex SemiBold"/>
              <a:cs typeface="Google Sans Flex SemiBold"/>
              <a:sym typeface="Google Sans Flex SemiBold"/>
            </a:endParaRPr>
          </a:p>
        </p:txBody>
      </p:sp>
      <p:pic>
        <p:nvPicPr>
          <p:cNvPr id="147" name="Snapshot 147" descr="Walk mode: TV lounge (live screen)"/>
          <p:cNvPicPr>
            <a:picLocks noChangeAspect="1"/>
          </p:cNvPicPr>
          <p:nvPr/>
        </p:nvPicPr>
        <p:blipFill>
          <a:blip r:embed="rId7"/>
          <a:stretch>
            <a:fillRect/>
          </a:stretch>
        </p:blipFill>
        <p:spPr>
          <a:xfrm>
            <a:off x="5385816" y="3413049"/>
            <a:ext cx="1636776" cy="1124585"/>
          </a:xfrm>
          <a:prstGeom prst="roundRect">
            <a:avLst>
              <a:gd name="adj" fmla="val 5691"/>
            </a:avLst>
          </a:prstGeom>
          <a:noFill/>
          <a:ln w="9525">
            <a:solidFill>
              <a:srgbClr val="DADADF"/>
            </a:solidFill>
          </a:ln>
          <a:effectLst>
            <a:outerShdw blurRad="76200" dist="19050" dir="5400000" algn="t" rotWithShape="0">
              <a:srgbClr val="000000">
                <a:alpha val="14000"/>
              </a:srgbClr>
            </a:outerShdw>
          </a:effectLst>
        </p:spPr>
      </p:pic>
      <p:sp>
        <p:nvSpPr>
          <p:cNvPr id="148" name="Snapshot caption 148"/>
          <p:cNvSpPr txBox="1"/>
          <p:nvPr/>
        </p:nvSpPr>
        <p:spPr>
          <a:xfrm>
            <a:off x="5385816" y="4565066"/>
            <a:ext cx="1636776" cy="201168"/>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100" b="0" i="0" dirty="0">
                <a:solidFill>
                  <a:srgbClr val="111113"/>
                </a:solidFill>
                <a:latin typeface="Google Sans Flex Medium"/>
                <a:ea typeface="Google Sans Flex Medium"/>
                <a:cs typeface="Google Sans Flex Medium"/>
                <a:sym typeface="Google Sans Flex Medium"/>
              </a:rPr>
              <a:t xml:space="preserve">Walk mode: TV lounge</a:t>
            </a:r>
            <a:endParaRPr lang="en-GB" sz="1100" dirty="0">
              <a:latin typeface="Google Sans Flex Medium"/>
              <a:ea typeface="Google Sans Flex Medium"/>
              <a:cs typeface="Google Sans Flex Medium"/>
              <a:sym typeface="Google Sans Flex Medium"/>
            </a:endParaRPr>
          </a:p>
        </p:txBody>
      </p:sp>
      <p:pic>
        <p:nvPicPr>
          <p:cNvPr id="149" name="Snapshot 149" descr="1:100 print set (live screen)"/>
          <p:cNvPicPr>
            <a:picLocks noChangeAspect="1"/>
          </p:cNvPicPr>
          <p:nvPr/>
        </p:nvPicPr>
        <p:blipFill>
          <a:blip r:embed="rId8"/>
          <a:stretch>
            <a:fillRect/>
          </a:stretch>
        </p:blipFill>
        <p:spPr>
          <a:xfrm>
            <a:off x="7150608" y="3413049"/>
            <a:ext cx="1636776" cy="1124585"/>
          </a:xfrm>
          <a:prstGeom prst="roundRect">
            <a:avLst>
              <a:gd name="adj" fmla="val 5691"/>
            </a:avLst>
          </a:prstGeom>
          <a:noFill/>
          <a:ln w="9525">
            <a:solidFill>
              <a:srgbClr val="DADADF"/>
            </a:solidFill>
          </a:ln>
          <a:effectLst>
            <a:outerShdw blurRad="76200" dist="19050" dir="5400000" algn="t" rotWithShape="0">
              <a:srgbClr val="000000">
                <a:alpha val="14000"/>
              </a:srgbClr>
            </a:outerShdw>
          </a:effectLst>
        </p:spPr>
      </p:pic>
      <p:sp>
        <p:nvSpPr>
          <p:cNvPr id="150" name="Snapshot caption 150"/>
          <p:cNvSpPr txBox="1"/>
          <p:nvPr/>
        </p:nvSpPr>
        <p:spPr>
          <a:xfrm>
            <a:off x="7150608" y="4565066"/>
            <a:ext cx="1636776" cy="201168"/>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100" b="0" i="0" dirty="0">
                <a:solidFill>
                  <a:srgbClr val="111113"/>
                </a:solidFill>
                <a:latin typeface="Google Sans Flex Medium"/>
                <a:ea typeface="Google Sans Flex Medium"/>
                <a:cs typeface="Google Sans Flex Medium"/>
                <a:sym typeface="Google Sans Flex Medium"/>
              </a:rPr>
              <a:t xml:space="preserve">1:100 print set</a:t>
            </a:r>
            <a:endParaRPr lang="en-GB" sz="1100" dirty="0">
              <a:latin typeface="Google Sans Flex Medium"/>
              <a:ea typeface="Google Sans Flex Medium"/>
              <a:cs typeface="Google Sans Flex Medium"/>
              <a:sym typeface="Google Sans Flex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pic>
        <p:nvPicPr>
          <p:cNvPr id="144" name="Diagram 144" descr="Benchmarks from Cloud Run request logs, revisions 00007-00009, 17 Oct 2026: setup agent turn median 2.6 s (n 9); four concepts median 17 s (n 6); night versions median 18 s (n 6); Render this view 9-10 s (n 2); a revision median 71 s (n 4); full design plan to walkable 3D: 10 marla 4.6-5.2 min (n 2), 1 kanal median 8.2 min (6.4-10.1, n 6). End to end 5.3 min of AI time for a 10 marla home. Rules passed: 10 marla sample 37/37 LDA, 10/10 livable; 1 kanal villa 43/43 LDA, 10/10 livable; rule failures fell from a median of 8 on the first try to 0 delivered, fixed by the AI architect; fix loop on a 1 kanal brief 15 to 5 to 0, the AI architect fixing what the rules engine reports. About 200 issues found and fixed during development by 8 AI tester agents over 3 rounds, 123 API tests, 6-try backoff, 3 image models."/>
          <p:cNvPicPr>
            <a:picLocks noChangeAspect="1"/>
          </p:cNvPicPr>
          <p:nvPr/>
        </p:nvPicPr>
        <p:blipFill>
          <a:blip r:embed="rId5"/>
          <a:stretch>
            <a:fillRect/>
          </a:stretch>
        </p:blipFill>
        <p:spPr>
          <a:xfrm>
            <a:off x="356616" y="1098280"/>
            <a:ext cx="8430768" cy="382019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cxnSp>
        <p:nvCxnSpPr>
          <p:cNvPr id="152" name="Timeline 152"/>
          <p:cNvCxnSpPr/>
          <p:nvPr/>
        </p:nvCxnSpPr>
        <p:spPr>
          <a:xfrm>
            <a:off x="539496" y="1353312"/>
            <a:ext cx="7973568" cy="0"/>
          </a:xfrm>
          <a:prstGeom prst="line">
            <a:avLst/>
          </a:prstGeom>
          <a:ln w="15875">
            <a:solidFill>
              <a:srgbClr val="C9C9CF"/>
            </a:solidFill>
            <a:tailEnd type="triangle" w="med" len="med"/>
          </a:ln>
        </p:spPr>
      </p:cxnSp>
      <p:sp>
        <p:nvSpPr>
          <p:cNvPr id="153" name="Label bg 153"/>
          <p:cNvSpPr/>
          <p:nvPr/>
        </p:nvSpPr>
        <p:spPr>
          <a:xfrm>
            <a:off x="310896" y="1143000"/>
            <a:ext cx="1656918" cy="420624"/>
          </a:xfrm>
          <a:prstGeom prst="rect">
            <a:avLst/>
          </a:prstGeom>
          <a:solidFill>
            <a:srgbClr val="FFFFFF"/>
          </a:solidFill>
          <a:ln>
            <a:noFill/>
          </a:ln>
        </p:spPr>
      </p:sp>
      <p:sp>
        <p:nvSpPr>
          <p:cNvPr id="154" name="Stage icon circle 154"/>
          <p:cNvSpPr/>
          <p:nvPr/>
        </p:nvSpPr>
        <p:spPr>
          <a:xfrm>
            <a:off x="356616" y="1188720"/>
            <a:ext cx="329184" cy="329184"/>
          </a:xfrm>
          <a:prstGeom prst="ellipse">
            <a:avLst/>
          </a:prstGeom>
          <a:solidFill>
            <a:srgbClr val="2747F5"/>
          </a:solidFill>
          <a:ln>
            <a:noFill/>
          </a:ln>
        </p:spPr>
      </p:sp>
      <p:pic>
        <p:nvPicPr>
          <p:cNvPr id="155" name="Stage icon 155" descr=""/>
          <p:cNvPicPr>
            <a:picLocks noChangeAspect="1"/>
          </p:cNvPicPr>
          <p:nvPr/>
        </p:nvPicPr>
        <p:blipFill>
          <a:blip r:embed="rId5"/>
          <a:stretch>
            <a:fillRect/>
          </a:stretch>
        </p:blipFill>
        <p:spPr>
          <a:xfrm>
            <a:off x="429036" y="1261140"/>
            <a:ext cx="184343" cy="184343"/>
          </a:xfrm>
          <a:prstGeom prst="rect">
            <a:avLst/>
          </a:prstGeom>
          <a:noFill/>
          <a:ln>
            <a:noFill/>
          </a:ln>
        </p:spPr>
      </p:pic>
      <p:sp>
        <p:nvSpPr>
          <p:cNvPr id="156" name="Stage label 156"/>
          <p:cNvSpPr txBox="1"/>
          <p:nvPr/>
        </p:nvSpPr>
        <p:spPr>
          <a:xfrm>
            <a:off x="777240" y="1216152"/>
            <a:ext cx="1144854" cy="27432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600" b="0" i="0" dirty="0">
                <a:solidFill>
                  <a:srgbClr val="111113"/>
                </a:solidFill>
                <a:latin typeface="Google Sans Flex SemiBold"/>
                <a:ea typeface="Google Sans Flex SemiBold"/>
                <a:cs typeface="Google Sans Flex SemiBold"/>
                <a:sym typeface="Google Sans Flex SemiBold"/>
              </a:rPr>
              <a:t xml:space="preserve">Next</a:t>
            </a:r>
            <a:r>
              <a:rPr lang="en-GB" sz="1200" b="0" i="0" dirty="0">
                <a:solidFill>
                  <a:srgbClr val="6E6E73"/>
                </a:solidFill>
                <a:latin typeface="Google Sans Flex"/>
                <a:ea typeface="Google Sans Flex"/>
                <a:cs typeface="Google Sans Flex"/>
                <a:sym typeface="Google Sans Flex"/>
              </a:rPr>
              <a:t xml:space="preserve">  weeks</a:t>
            </a:r>
            <a:endParaRPr lang="en-GB" sz="1600" dirty="0">
              <a:latin typeface="Google Sans Flex SemiBold"/>
              <a:ea typeface="Google Sans Flex SemiBold"/>
              <a:cs typeface="Google Sans Flex SemiBold"/>
              <a:sym typeface="Google Sans Flex SemiBold"/>
            </a:endParaRPr>
          </a:p>
        </p:txBody>
      </p:sp>
      <p:sp>
        <p:nvSpPr>
          <p:cNvPr id="157" name="Stage items 157"/>
          <p:cNvSpPr txBox="1"/>
          <p:nvPr/>
        </p:nvSpPr>
        <p:spPr>
          <a:xfrm>
            <a:off x="356616" y="1719072"/>
            <a:ext cx="2609088" cy="1414018"/>
          </a:xfrm>
          <a:prstGeom prst="rect">
            <a:avLst/>
          </a:prstGeom>
          <a:noFill/>
          <a:ln>
            <a:noFill/>
          </a:ln>
        </p:spPr>
        <p:txBody>
          <a:bodyPr wrap="square" lIns="0" tIns="0" rIns="0" bIns="0" anchor="t" rtlCol="0">
            <a:noAutofit/>
          </a:bodyPr>
          <a:lstStyle/>
          <a:p>
            <a:pPr marL="155448" indent="-155448" algn="l" rtl="0">
              <a:lnSpc>
                <a:spcPct val="100000"/>
              </a:lnSpc>
              <a:spcBef>
                <a:spcPts val="0"/>
              </a:spcBef>
              <a:spcAft>
                <a:spcPts val="400"/>
              </a:spcAft>
              <a:buClr>
                <a:srgbClr val="2747F5"/>
              </a:buClr>
              <a:buSzPct val="100000"/>
              <a:buFont typeface="Google Sans Flex"/>
              <a:buChar char="•"/>
            </a:pPr>
            <a:r>
              <a:rPr lang="en-GB" sz="1250" b="0" i="0" dirty="0">
                <a:solidFill>
                  <a:srgbClr val="46464B"/>
                </a:solidFill>
                <a:latin typeface="Google Sans Flex"/>
                <a:ea typeface="Google Sans Flex"/>
                <a:cs typeface="Google Sans Flex"/>
                <a:sym typeface="Google Sans Flex"/>
              </a:rPr>
              <a:t xml:space="preserve">Drag rooms with an instant bylaw re-check</a:t>
            </a:r>
            <a:endParaRPr lang="en-GB" sz="1250" dirty="0">
              <a:latin typeface="Google Sans Flex"/>
              <a:ea typeface="Google Sans Flex"/>
              <a:cs typeface="Google Sans Flex"/>
              <a:sym typeface="Google Sans Flex"/>
            </a:endParaRPr>
          </a:p>
          <a:p>
            <a:pPr marL="155448" indent="-155448" algn="l" rtl="0">
              <a:lnSpc>
                <a:spcPct val="100000"/>
              </a:lnSpc>
              <a:spcBef>
                <a:spcPts val="0"/>
              </a:spcBef>
              <a:spcAft>
                <a:spcPts val="400"/>
              </a:spcAft>
              <a:buClr>
                <a:srgbClr val="2747F5"/>
              </a:buClr>
              <a:buSzPct val="100000"/>
              <a:buFont typeface="Google Sans Flex"/>
              <a:buChar char="•"/>
            </a:pPr>
            <a:r>
              <a:rPr lang="en-GB" sz="1250" b="0" i="0" dirty="0">
                <a:solidFill>
                  <a:srgbClr val="46464B"/>
                </a:solidFill>
                <a:latin typeface="Google Sans Flex"/>
                <a:ea typeface="Google Sans Flex"/>
                <a:cs typeface="Google Sans Flex"/>
                <a:sym typeface="Google Sans Flex"/>
              </a:rPr>
              <a:t xml:space="preserve">Google sign-in</a:t>
            </a:r>
            <a:endParaRPr lang="en-GB" sz="1250" dirty="0">
              <a:latin typeface="Google Sans Flex"/>
              <a:ea typeface="Google Sans Flex"/>
              <a:cs typeface="Google Sans Flex"/>
              <a:sym typeface="Google Sans Flex"/>
            </a:endParaRPr>
          </a:p>
          <a:p>
            <a:pPr marL="155448" indent="-155448" algn="l" rtl="0">
              <a:lnSpc>
                <a:spcPct val="100000"/>
              </a:lnSpc>
              <a:spcBef>
                <a:spcPts val="0"/>
              </a:spcBef>
              <a:spcAft>
                <a:spcPts val="400"/>
              </a:spcAft>
              <a:buClr>
                <a:srgbClr val="2747F5"/>
              </a:buClr>
              <a:buSzPct val="100000"/>
              <a:buFont typeface="Google Sans Flex"/>
              <a:buChar char="•"/>
            </a:pPr>
            <a:r>
              <a:rPr lang="en-GB" sz="1250" b="0" i="0" dirty="0">
                <a:solidFill>
                  <a:srgbClr val="46464B"/>
                </a:solidFill>
                <a:latin typeface="Google Sans Flex"/>
                <a:ea typeface="Google Sans Flex"/>
                <a:cs typeface="Google Sans Flex"/>
                <a:sym typeface="Google Sans Flex"/>
              </a:rPr>
              <a:t xml:space="preserve">Generated code in a sandboxed iframe</a:t>
            </a:r>
            <a:endParaRPr lang="en-GB" sz="1250" dirty="0">
              <a:latin typeface="Google Sans Flex"/>
              <a:ea typeface="Google Sans Flex"/>
              <a:cs typeface="Google Sans Flex"/>
              <a:sym typeface="Google Sans Flex"/>
            </a:endParaRPr>
          </a:p>
          <a:p>
            <a:pPr marL="155448" indent="-155448" algn="l" rtl="0">
              <a:lnSpc>
                <a:spcPct val="100000"/>
              </a:lnSpc>
              <a:spcBef>
                <a:spcPts val="0"/>
              </a:spcBef>
              <a:spcAft>
                <a:spcPts val="400"/>
              </a:spcAft>
              <a:buClr>
                <a:srgbClr val="2747F5"/>
              </a:buClr>
              <a:buSzPct val="100000"/>
              <a:buFont typeface="Google Sans Flex"/>
              <a:buChar char="•"/>
            </a:pPr>
            <a:r>
              <a:rPr lang="en-GB" sz="1250" b="0" i="0" dirty="0">
                <a:solidFill>
                  <a:srgbClr val="46464B"/>
                </a:solidFill>
                <a:latin typeface="Google Sans Flex"/>
                <a:ea typeface="Google Sans Flex"/>
                <a:cs typeface="Google Sans Flex"/>
                <a:sym typeface="Google Sans Flex"/>
              </a:rPr>
              <a:t xml:space="preserve">glTF export, token cost dashboard</a:t>
            </a:r>
            <a:endParaRPr lang="en-GB" sz="1250" dirty="0">
              <a:latin typeface="Google Sans Flex"/>
              <a:ea typeface="Google Sans Flex"/>
              <a:cs typeface="Google Sans Flex"/>
              <a:sym typeface="Google Sans Flex"/>
            </a:endParaRPr>
          </a:p>
        </p:txBody>
      </p:sp>
      <p:sp>
        <p:nvSpPr>
          <p:cNvPr id="158" name="Label bg 158"/>
          <p:cNvSpPr/>
          <p:nvPr/>
        </p:nvSpPr>
        <p:spPr>
          <a:xfrm>
            <a:off x="3176016" y="1143000"/>
            <a:ext cx="1804848" cy="420624"/>
          </a:xfrm>
          <a:prstGeom prst="rect">
            <a:avLst/>
          </a:prstGeom>
          <a:solidFill>
            <a:srgbClr val="FFFFFF"/>
          </a:solidFill>
          <a:ln>
            <a:noFill/>
          </a:ln>
        </p:spPr>
      </p:sp>
      <p:sp>
        <p:nvSpPr>
          <p:cNvPr id="159" name="Stage icon circle 159"/>
          <p:cNvSpPr/>
          <p:nvPr/>
        </p:nvSpPr>
        <p:spPr>
          <a:xfrm>
            <a:off x="3221736" y="1188720"/>
            <a:ext cx="329184" cy="329184"/>
          </a:xfrm>
          <a:prstGeom prst="ellipse">
            <a:avLst/>
          </a:prstGeom>
          <a:solidFill>
            <a:srgbClr val="111113"/>
          </a:solidFill>
          <a:ln>
            <a:noFill/>
          </a:ln>
        </p:spPr>
      </p:sp>
      <p:pic>
        <p:nvPicPr>
          <p:cNvPr id="160" name="Stage icon 160" descr=""/>
          <p:cNvPicPr>
            <a:picLocks noChangeAspect="1"/>
          </p:cNvPicPr>
          <p:nvPr/>
        </p:nvPicPr>
        <p:blipFill>
          <a:blip r:embed="rId6"/>
          <a:stretch>
            <a:fillRect/>
          </a:stretch>
        </p:blipFill>
        <p:spPr>
          <a:xfrm>
            <a:off x="3294156" y="1261140"/>
            <a:ext cx="184343" cy="184343"/>
          </a:xfrm>
          <a:prstGeom prst="rect">
            <a:avLst/>
          </a:prstGeom>
          <a:noFill/>
          <a:ln>
            <a:noFill/>
          </a:ln>
        </p:spPr>
      </p:pic>
      <p:sp>
        <p:nvSpPr>
          <p:cNvPr id="161" name="Stage label 161"/>
          <p:cNvSpPr txBox="1"/>
          <p:nvPr/>
        </p:nvSpPr>
        <p:spPr>
          <a:xfrm>
            <a:off x="3642360" y="1216152"/>
            <a:ext cx="1292784" cy="27432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600" b="0" i="0" dirty="0">
                <a:solidFill>
                  <a:srgbClr val="111113"/>
                </a:solidFill>
                <a:latin typeface="Google Sans Flex SemiBold"/>
                <a:ea typeface="Google Sans Flex SemiBold"/>
                <a:cs typeface="Google Sans Flex SemiBold"/>
                <a:sym typeface="Google Sans Flex SemiBold"/>
              </a:rPr>
              <a:t xml:space="preserve">Scale</a:t>
            </a:r>
            <a:r>
              <a:rPr lang="en-GB" sz="1200" b="0" i="0" dirty="0">
                <a:solidFill>
                  <a:srgbClr val="6E6E73"/>
                </a:solidFill>
                <a:latin typeface="Google Sans Flex"/>
                <a:ea typeface="Google Sans Flex"/>
                <a:cs typeface="Google Sans Flex"/>
                <a:sym typeface="Google Sans Flex"/>
              </a:rPr>
              <a:t xml:space="preserve">  months</a:t>
            </a:r>
            <a:endParaRPr lang="en-GB" sz="1600" dirty="0">
              <a:latin typeface="Google Sans Flex SemiBold"/>
              <a:ea typeface="Google Sans Flex SemiBold"/>
              <a:cs typeface="Google Sans Flex SemiBold"/>
              <a:sym typeface="Google Sans Flex SemiBold"/>
            </a:endParaRPr>
          </a:p>
        </p:txBody>
      </p:sp>
      <p:sp>
        <p:nvSpPr>
          <p:cNvPr id="162" name="Stage items 162"/>
          <p:cNvSpPr txBox="1"/>
          <p:nvPr/>
        </p:nvSpPr>
        <p:spPr>
          <a:xfrm>
            <a:off x="3221736" y="1719072"/>
            <a:ext cx="2609088" cy="1561973"/>
          </a:xfrm>
          <a:prstGeom prst="rect">
            <a:avLst/>
          </a:prstGeom>
          <a:noFill/>
          <a:ln>
            <a:noFill/>
          </a:ln>
        </p:spPr>
        <p:txBody>
          <a:bodyPr wrap="square" lIns="0" tIns="0" rIns="0" bIns="0" anchor="t" rtlCol="0">
            <a:noAutofit/>
          </a:bodyPr>
          <a:lstStyle/>
          <a:p>
            <a:pPr marL="155448" indent="-155448" algn="l" rtl="0">
              <a:lnSpc>
                <a:spcPct val="100000"/>
              </a:lnSpc>
              <a:spcBef>
                <a:spcPts val="0"/>
              </a:spcBef>
              <a:spcAft>
                <a:spcPts val="400"/>
              </a:spcAft>
              <a:buClr>
                <a:srgbClr val="2747F5"/>
              </a:buClr>
              <a:buSzPct val="100000"/>
              <a:buFont typeface="Google Sans Flex"/>
              <a:buChar char="•"/>
            </a:pPr>
            <a:r>
              <a:rPr lang="en-GB" sz="1250" b="0" i="0" dirty="0">
                <a:solidFill>
                  <a:srgbClr val="46464B"/>
                </a:solidFill>
                <a:latin typeface="Google Sans Flex"/>
                <a:ea typeface="Google Sans Flex"/>
                <a:cs typeface="Google Sans Flex"/>
                <a:sym typeface="Google Sans Flex"/>
              </a:rPr>
              <a:t xml:space="preserve">Full rule packs for DHA, Bahria, RDA, FDA, MDA and GDA, then authorities beyond Punjab</a:t>
            </a:r>
            <a:endParaRPr lang="en-GB" sz="1250" dirty="0">
              <a:latin typeface="Google Sans Flex"/>
              <a:ea typeface="Google Sans Flex"/>
              <a:cs typeface="Google Sans Flex"/>
              <a:sym typeface="Google Sans Flex"/>
            </a:endParaRPr>
          </a:p>
          <a:p>
            <a:pPr marL="155448" indent="-155448" algn="l" rtl="0">
              <a:lnSpc>
                <a:spcPct val="100000"/>
              </a:lnSpc>
              <a:spcBef>
                <a:spcPts val="0"/>
              </a:spcBef>
              <a:spcAft>
                <a:spcPts val="400"/>
              </a:spcAft>
              <a:buClr>
                <a:srgbClr val="2747F5"/>
              </a:buClr>
              <a:buSzPct val="100000"/>
              <a:buFont typeface="Google Sans Flex"/>
              <a:buChar char="•"/>
            </a:pPr>
            <a:r>
              <a:rPr lang="en-GB" sz="1250" b="0" i="0" dirty="0">
                <a:solidFill>
                  <a:srgbClr val="46464B"/>
                </a:solidFill>
                <a:latin typeface="Google Sans Flex"/>
                <a:ea typeface="Google Sans Flex"/>
                <a:cs typeface="Google Sans Flex"/>
                <a:sym typeface="Google Sans Flex"/>
              </a:rPr>
              <a:t xml:space="preserve">Pilots with PCATP architects and Lahore builders</a:t>
            </a:r>
            <a:endParaRPr lang="en-GB" sz="1250" dirty="0">
              <a:latin typeface="Google Sans Flex"/>
              <a:ea typeface="Google Sans Flex"/>
              <a:cs typeface="Google Sans Flex"/>
              <a:sym typeface="Google Sans Flex"/>
            </a:endParaRPr>
          </a:p>
          <a:p>
            <a:pPr marL="155448" indent="-155448" algn="l" rtl="0">
              <a:lnSpc>
                <a:spcPct val="100000"/>
              </a:lnSpc>
              <a:spcBef>
                <a:spcPts val="0"/>
              </a:spcBef>
              <a:spcAft>
                <a:spcPts val="400"/>
              </a:spcAft>
              <a:buClr>
                <a:srgbClr val="2747F5"/>
              </a:buClr>
              <a:buSzPct val="100000"/>
              <a:buFont typeface="Google Sans Flex"/>
              <a:buChar char="•"/>
            </a:pPr>
            <a:r>
              <a:rPr lang="en-GB" sz="1250" b="0" i="0" dirty="0">
                <a:solidFill>
                  <a:srgbClr val="46464B"/>
                </a:solidFill>
                <a:latin typeface="Google Sans Flex"/>
                <a:ea typeface="Google Sans Flex"/>
                <a:cs typeface="Google Sans Flex"/>
                <a:sym typeface="Google Sans Flex"/>
              </a:rPr>
              <a:t xml:space="preserve">Sets ready for online submission, starting with LDA’s</a:t>
            </a:r>
            <a:endParaRPr lang="en-GB" sz="1250" dirty="0">
              <a:latin typeface="Google Sans Flex"/>
              <a:ea typeface="Google Sans Flex"/>
              <a:cs typeface="Google Sans Flex"/>
              <a:sym typeface="Google Sans Flex"/>
            </a:endParaRPr>
          </a:p>
        </p:txBody>
      </p:sp>
      <p:sp>
        <p:nvSpPr>
          <p:cNvPr id="163" name="Label bg 163"/>
          <p:cNvSpPr/>
          <p:nvPr/>
        </p:nvSpPr>
        <p:spPr>
          <a:xfrm>
            <a:off x="6041136" y="1143000"/>
            <a:ext cx="1639240" cy="420624"/>
          </a:xfrm>
          <a:prstGeom prst="rect">
            <a:avLst/>
          </a:prstGeom>
          <a:solidFill>
            <a:srgbClr val="FFFFFF"/>
          </a:solidFill>
          <a:ln>
            <a:noFill/>
          </a:ln>
        </p:spPr>
      </p:sp>
      <p:sp>
        <p:nvSpPr>
          <p:cNvPr id="164" name="Stage icon circle 164"/>
          <p:cNvSpPr/>
          <p:nvPr/>
        </p:nvSpPr>
        <p:spPr>
          <a:xfrm>
            <a:off x="6086856" y="1188720"/>
            <a:ext cx="329184" cy="329184"/>
          </a:xfrm>
          <a:prstGeom prst="ellipse">
            <a:avLst/>
          </a:prstGeom>
          <a:solidFill>
            <a:srgbClr val="8E8E93"/>
          </a:solidFill>
          <a:ln>
            <a:noFill/>
          </a:ln>
        </p:spPr>
      </p:sp>
      <p:pic>
        <p:nvPicPr>
          <p:cNvPr id="165" name="Stage icon 165" descr=""/>
          <p:cNvPicPr>
            <a:picLocks noChangeAspect="1"/>
          </p:cNvPicPr>
          <p:nvPr/>
        </p:nvPicPr>
        <p:blipFill>
          <a:blip r:embed="rId7"/>
          <a:stretch>
            <a:fillRect/>
          </a:stretch>
        </p:blipFill>
        <p:spPr>
          <a:xfrm>
            <a:off x="6159276" y="1261140"/>
            <a:ext cx="184343" cy="184343"/>
          </a:xfrm>
          <a:prstGeom prst="rect">
            <a:avLst/>
          </a:prstGeom>
          <a:noFill/>
          <a:ln>
            <a:noFill/>
          </a:ln>
        </p:spPr>
      </p:pic>
      <p:sp>
        <p:nvSpPr>
          <p:cNvPr id="166" name="Stage label 166"/>
          <p:cNvSpPr txBox="1"/>
          <p:nvPr/>
        </p:nvSpPr>
        <p:spPr>
          <a:xfrm>
            <a:off x="6507480" y="1216152"/>
            <a:ext cx="1127176" cy="27432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600" b="0" i="0" dirty="0">
                <a:solidFill>
                  <a:srgbClr val="111113"/>
                </a:solidFill>
                <a:latin typeface="Google Sans Flex SemiBold"/>
                <a:ea typeface="Google Sans Flex SemiBold"/>
                <a:cs typeface="Google Sans Flex SemiBold"/>
                <a:sym typeface="Google Sans Flex SemiBold"/>
              </a:rPr>
              <a:t xml:space="preserve">Later</a:t>
            </a:r>
            <a:r>
              <a:rPr lang="en-GB" sz="1200" b="0" i="0" dirty="0">
                <a:solidFill>
                  <a:srgbClr val="6E6E73"/>
                </a:solidFill>
                <a:latin typeface="Google Sans Flex"/>
                <a:ea typeface="Google Sans Flex"/>
                <a:cs typeface="Google Sans Flex"/>
                <a:sym typeface="Google Sans Flex"/>
              </a:rPr>
              <a:t xml:space="preserve">  ideas</a:t>
            </a:r>
            <a:endParaRPr lang="en-GB" sz="1600" dirty="0">
              <a:latin typeface="Google Sans Flex SemiBold"/>
              <a:ea typeface="Google Sans Flex SemiBold"/>
              <a:cs typeface="Google Sans Flex SemiBold"/>
              <a:sym typeface="Google Sans Flex SemiBold"/>
            </a:endParaRPr>
          </a:p>
        </p:txBody>
      </p:sp>
      <p:sp>
        <p:nvSpPr>
          <p:cNvPr id="167" name="Stage items 167"/>
          <p:cNvSpPr txBox="1"/>
          <p:nvPr/>
        </p:nvSpPr>
        <p:spPr>
          <a:xfrm>
            <a:off x="6086856" y="1719072"/>
            <a:ext cx="2609088" cy="1408176"/>
          </a:xfrm>
          <a:prstGeom prst="rect">
            <a:avLst/>
          </a:prstGeom>
          <a:noFill/>
          <a:ln>
            <a:noFill/>
          </a:ln>
        </p:spPr>
        <p:txBody>
          <a:bodyPr wrap="square" lIns="0" tIns="0" rIns="0" bIns="0" anchor="t" rtlCol="0">
            <a:noAutofit/>
          </a:bodyPr>
          <a:lstStyle/>
          <a:p>
            <a:pPr marL="155448" indent="-155448" algn="l" rtl="0">
              <a:lnSpc>
                <a:spcPct val="100000"/>
              </a:lnSpc>
              <a:spcBef>
                <a:spcPts val="0"/>
              </a:spcBef>
              <a:spcAft>
                <a:spcPts val="400"/>
              </a:spcAft>
              <a:buClr>
                <a:srgbClr val="2747F5"/>
              </a:buClr>
              <a:buSzPct val="100000"/>
              <a:buFont typeface="Google Sans Flex"/>
              <a:buChar char="•"/>
            </a:pPr>
            <a:r>
              <a:rPr lang="en-GB" sz="1250" b="0" i="0" dirty="0">
                <a:solidFill>
                  <a:srgbClr val="6E6E73"/>
                </a:solidFill>
                <a:latin typeface="Google Sans Flex"/>
                <a:ea typeface="Google Sans Flex"/>
                <a:cs typeface="Google Sans Flex"/>
                <a:sym typeface="Google Sans Flex"/>
              </a:rPr>
              <a:t xml:space="preserve">An Urdu interface</a:t>
            </a:r>
            <a:endParaRPr lang="en-GB" sz="1250" dirty="0">
              <a:latin typeface="Google Sans Flex"/>
              <a:ea typeface="Google Sans Flex"/>
              <a:cs typeface="Google Sans Flex"/>
              <a:sym typeface="Google Sans Flex"/>
            </a:endParaRPr>
          </a:p>
          <a:p>
            <a:pPr marL="155448" indent="-155448" algn="l" rtl="0">
              <a:lnSpc>
                <a:spcPct val="100000"/>
              </a:lnSpc>
              <a:spcBef>
                <a:spcPts val="0"/>
              </a:spcBef>
              <a:spcAft>
                <a:spcPts val="400"/>
              </a:spcAft>
              <a:buClr>
                <a:srgbClr val="2747F5"/>
              </a:buClr>
              <a:buSzPct val="100000"/>
              <a:buFont typeface="Google Sans Flex"/>
              <a:buChar char="•"/>
            </a:pPr>
            <a:r>
              <a:rPr lang="en-GB" sz="1250" b="0" i="0" dirty="0">
                <a:solidFill>
                  <a:srgbClr val="6E6E73"/>
                </a:solidFill>
                <a:latin typeface="Google Sans Flex"/>
                <a:ea typeface="Google Sans Flex"/>
                <a:cs typeface="Google Sans Flex"/>
                <a:sym typeface="Google Sans Flex"/>
              </a:rPr>
              <a:t xml:space="preserve">Cost and material estimates</a:t>
            </a:r>
            <a:endParaRPr lang="en-GB" sz="1250" dirty="0">
              <a:latin typeface="Google Sans Flex"/>
              <a:ea typeface="Google Sans Flex"/>
              <a:cs typeface="Google Sans Flex"/>
              <a:sym typeface="Google Sans Flex"/>
            </a:endParaRPr>
          </a:p>
          <a:p>
            <a:pPr marL="155448" indent="-155448" algn="l" rtl="0">
              <a:lnSpc>
                <a:spcPct val="100000"/>
              </a:lnSpc>
              <a:spcBef>
                <a:spcPts val="0"/>
              </a:spcBef>
              <a:spcAft>
                <a:spcPts val="400"/>
              </a:spcAft>
              <a:buClr>
                <a:srgbClr val="2747F5"/>
              </a:buClr>
              <a:buSzPct val="100000"/>
              <a:buFont typeface="Google Sans Flex"/>
              <a:buChar char="•"/>
            </a:pPr>
            <a:r>
              <a:rPr lang="en-GB" sz="1250" b="0" i="0" dirty="0">
                <a:solidFill>
                  <a:srgbClr val="6E6E73"/>
                </a:solidFill>
                <a:latin typeface="Google Sans Flex"/>
                <a:ea typeface="Google Sans Flex"/>
                <a:cs typeface="Google Sans Flex"/>
                <a:sym typeface="Google Sans Flex"/>
              </a:rPr>
              <a:t xml:space="preserve">Structural and services drafts</a:t>
            </a:r>
            <a:endParaRPr lang="en-GB" sz="1250" dirty="0">
              <a:latin typeface="Google Sans Flex"/>
              <a:ea typeface="Google Sans Flex"/>
              <a:cs typeface="Google Sans Flex"/>
              <a:sym typeface="Google Sans Flex"/>
            </a:endParaRPr>
          </a:p>
          <a:p>
            <a:pPr marL="155448" indent="-155448" algn="l" rtl="0">
              <a:lnSpc>
                <a:spcPct val="100000"/>
              </a:lnSpc>
              <a:spcBef>
                <a:spcPts val="0"/>
              </a:spcBef>
              <a:spcAft>
                <a:spcPts val="400"/>
              </a:spcAft>
              <a:buClr>
                <a:srgbClr val="2747F5"/>
              </a:buClr>
              <a:buSzPct val="100000"/>
              <a:buFont typeface="Google Sans Flex"/>
              <a:buChar char="•"/>
            </a:pPr>
            <a:r>
              <a:rPr lang="en-GB" sz="1250" b="0" i="0" dirty="0">
                <a:solidFill>
                  <a:srgbClr val="6E6E73"/>
                </a:solidFill>
                <a:latin typeface="Google Sans Flex"/>
                <a:ea typeface="Google Sans Flex"/>
                <a:cs typeface="Google Sans Flex"/>
                <a:sym typeface="Google Sans Flex"/>
              </a:rPr>
              <a:t xml:space="preserve">Rule packs for cities outside Pakistan</a:t>
            </a:r>
            <a:endParaRPr lang="en-GB" sz="1250" dirty="0">
              <a:latin typeface="Google Sans Flex"/>
              <a:ea typeface="Google Sans Flex"/>
              <a:cs typeface="Google Sans Flex"/>
              <a:sym typeface="Google Sans Flex"/>
            </a:endParaRPr>
          </a:p>
        </p:txBody>
      </p:sp>
      <p:sp>
        <p:nvSpPr>
          <p:cNvPr id="168" name="Trust band 168"/>
          <p:cNvSpPr/>
          <p:nvPr/>
        </p:nvSpPr>
        <p:spPr>
          <a:xfrm>
            <a:off x="356616" y="3218688"/>
            <a:ext cx="8430768" cy="1700784"/>
          </a:xfrm>
          <a:prstGeom prst="roundRect">
            <a:avLst>
              <a:gd name="adj" fmla="val 5376"/>
            </a:avLst>
          </a:prstGeom>
          <a:solidFill>
            <a:srgbClr val="EDF0FF"/>
          </a:solidFill>
          <a:ln>
            <a:noFill/>
          </a:ln>
        </p:spPr>
      </p:sp>
      <p:pic>
        <p:nvPicPr>
          <p:cNvPr id="169" name="Shield icon 169" descr=""/>
          <p:cNvPicPr>
            <a:picLocks noChangeAspect="1"/>
          </p:cNvPicPr>
          <p:nvPr/>
        </p:nvPicPr>
        <p:blipFill>
          <a:blip r:embed="rId8"/>
          <a:stretch>
            <a:fillRect/>
          </a:stretch>
        </p:blipFill>
        <p:spPr>
          <a:xfrm>
            <a:off x="539496" y="3337560"/>
            <a:ext cx="256032" cy="256032"/>
          </a:xfrm>
          <a:prstGeom prst="rect">
            <a:avLst/>
          </a:prstGeom>
          <a:noFill/>
          <a:ln>
            <a:noFill/>
          </a:ln>
        </p:spPr>
      </p:pic>
      <p:sp>
        <p:nvSpPr>
          <p:cNvPr id="170" name="Trust title 170"/>
          <p:cNvSpPr txBox="1"/>
          <p:nvPr/>
        </p:nvSpPr>
        <p:spPr>
          <a:xfrm>
            <a:off x="868680" y="3328416"/>
            <a:ext cx="3657600" cy="27432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400" b="0" i="0" dirty="0">
                <a:solidFill>
                  <a:srgbClr val="111113"/>
                </a:solidFill>
                <a:latin typeface="Google Sans Flex SemiBold"/>
                <a:ea typeface="Google Sans Flex SemiBold"/>
                <a:cs typeface="Google Sans Flex SemiBold"/>
                <a:sym typeface="Google Sans Flex SemiBold"/>
              </a:rPr>
              <a:t xml:space="preserve">Trust and responsibility</a:t>
            </a:r>
            <a:endParaRPr lang="en-GB" sz="1400" dirty="0">
              <a:latin typeface="Google Sans Flex SemiBold"/>
              <a:ea typeface="Google Sans Flex SemiBold"/>
              <a:cs typeface="Google Sans Flex SemiBold"/>
              <a:sym typeface="Google Sans Flex SemiBold"/>
            </a:endParaRPr>
          </a:p>
        </p:txBody>
      </p:sp>
      <p:sp>
        <p:nvSpPr>
          <p:cNvPr id="171" name="Trust point 171"/>
          <p:cNvSpPr txBox="1"/>
          <p:nvPr/>
        </p:nvSpPr>
        <p:spPr>
          <a:xfrm>
            <a:off x="539496" y="3648456"/>
            <a:ext cx="3895344" cy="543001"/>
          </a:xfrm>
          <a:prstGeom prst="rect">
            <a:avLst/>
          </a:prstGeom>
          <a:noFill/>
          <a:ln>
            <a:noFill/>
          </a:ln>
        </p:spPr>
        <p:txBody>
          <a:bodyPr wrap="square" lIns="0" tIns="0" rIns="0" bIns="0" anchor="t" rtlCol="0">
            <a:noAutofit/>
          </a:bodyPr>
          <a:lstStyle/>
          <a:p>
            <a:pPr marL="155448" indent="-155448" algn="l" rtl="0">
              <a:lnSpc>
                <a:spcPct val="100000"/>
              </a:lnSpc>
              <a:spcBef>
                <a:spcPts val="0"/>
              </a:spcBef>
              <a:spcAft>
                <a:spcPts val="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Pre-check only: </a:t>
            </a:r>
            <a:r>
              <a:rPr lang="en-GB" sz="1100" b="0" i="0" dirty="0">
                <a:solidFill>
                  <a:srgbClr val="46464B"/>
                </a:solidFill>
                <a:latin typeface="Google Sans Flex"/>
                <a:ea typeface="Google Sans Flex"/>
                <a:cs typeface="Google Sans Flex"/>
                <a:sym typeface="Google Sans Flex"/>
              </a:rPr>
              <a:t xml:space="preserve">a PCATP-registered architect (Pakistan Council of Architects and Town Planners) stamps every plan.</a:t>
            </a:r>
            <a:endParaRPr lang="en-GB" sz="1100" dirty="0">
              <a:latin typeface="Google Sans Flex SemiBold"/>
              <a:ea typeface="Google Sans Flex SemiBold"/>
              <a:cs typeface="Google Sans Flex SemiBold"/>
              <a:sym typeface="Google Sans Flex SemiBold"/>
            </a:endParaRPr>
          </a:p>
        </p:txBody>
      </p:sp>
      <p:sp>
        <p:nvSpPr>
          <p:cNvPr id="172" name="Trust point 172"/>
          <p:cNvSpPr txBox="1"/>
          <p:nvPr/>
        </p:nvSpPr>
        <p:spPr>
          <a:xfrm>
            <a:off x="4709160" y="3648456"/>
            <a:ext cx="3895344" cy="543001"/>
          </a:xfrm>
          <a:prstGeom prst="rect">
            <a:avLst/>
          </a:prstGeom>
          <a:noFill/>
          <a:ln>
            <a:noFill/>
          </a:ln>
        </p:spPr>
        <p:txBody>
          <a:bodyPr wrap="square" lIns="0" tIns="0" rIns="0" bIns="0" anchor="t" rtlCol="0">
            <a:noAutofit/>
          </a:bodyPr>
          <a:lstStyle/>
          <a:p>
            <a:pPr marL="155448" indent="-155448" algn="l" rtl="0">
              <a:lnSpc>
                <a:spcPct val="100000"/>
              </a:lnSpc>
              <a:spcBef>
                <a:spcPts val="0"/>
              </a:spcBef>
              <a:spcAft>
                <a:spcPts val="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Deterministic rules: </a:t>
            </a:r>
            <a:r>
              <a:rPr lang="en-GB" sz="1100" b="0" i="0" dirty="0">
                <a:solidFill>
                  <a:srgbClr val="46464B"/>
                </a:solidFill>
                <a:latin typeface="Google Sans Flex"/>
                <a:ea typeface="Google Sans Flex"/>
                <a:cs typeface="Google Sans Flex"/>
                <a:sym typeface="Google Sans Flex"/>
              </a:rPr>
              <a:t xml:space="preserve">each authority’s official bylaws, written as code and tested; the prototype uses LDA’s 2026 regulations.</a:t>
            </a:r>
            <a:endParaRPr lang="en-GB" sz="1100" dirty="0">
              <a:latin typeface="Google Sans Flex SemiBold"/>
              <a:ea typeface="Google Sans Flex SemiBold"/>
              <a:cs typeface="Google Sans Flex SemiBold"/>
              <a:sym typeface="Google Sans Flex SemiBold"/>
            </a:endParaRPr>
          </a:p>
        </p:txBody>
      </p:sp>
      <p:sp>
        <p:nvSpPr>
          <p:cNvPr id="173" name="Trust point 173"/>
          <p:cNvSpPr txBox="1"/>
          <p:nvPr/>
        </p:nvSpPr>
        <p:spPr>
          <a:xfrm>
            <a:off x="539496" y="4237177"/>
            <a:ext cx="3895344" cy="543001"/>
          </a:xfrm>
          <a:prstGeom prst="rect">
            <a:avLst/>
          </a:prstGeom>
          <a:noFill/>
          <a:ln>
            <a:noFill/>
          </a:ln>
        </p:spPr>
        <p:txBody>
          <a:bodyPr wrap="square" lIns="0" tIns="0" rIns="0" bIns="0" anchor="t" rtlCol="0">
            <a:noAutofit/>
          </a:bodyPr>
          <a:lstStyle/>
          <a:p>
            <a:pPr marL="155448" indent="-155448" algn="l" rtl="0">
              <a:lnSpc>
                <a:spcPct val="100000"/>
              </a:lnSpc>
              <a:spcBef>
                <a:spcPts val="0"/>
              </a:spcBef>
              <a:spcAft>
                <a:spcPts val="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Safe code: </a:t>
            </a:r>
            <a:r>
              <a:rPr lang="en-GB" sz="1100" b="0" i="0" dirty="0">
                <a:solidFill>
                  <a:srgbClr val="46464B"/>
                </a:solidFill>
                <a:latin typeface="Google Sans Flex"/>
                <a:ea typeface="Google Sans Flex"/>
                <a:cs typeface="Google Sans Flex"/>
                <a:sym typeface="Google Sans Flex"/>
              </a:rPr>
              <a:t xml:space="preserve">Gemini’s design.js is screened for 21 banned patterns (network, eval, DOM, storage) and runs only in the viewer’s browser.</a:t>
            </a:r>
            <a:endParaRPr lang="en-GB" sz="1100" dirty="0">
              <a:latin typeface="Google Sans Flex SemiBold"/>
              <a:ea typeface="Google Sans Flex SemiBold"/>
              <a:cs typeface="Google Sans Flex SemiBold"/>
              <a:sym typeface="Google Sans Flex SemiBold"/>
            </a:endParaRPr>
          </a:p>
        </p:txBody>
      </p:sp>
      <p:sp>
        <p:nvSpPr>
          <p:cNvPr id="174" name="Trust point 174"/>
          <p:cNvSpPr txBox="1"/>
          <p:nvPr/>
        </p:nvSpPr>
        <p:spPr>
          <a:xfrm>
            <a:off x="4709160" y="4237177"/>
            <a:ext cx="3895344" cy="368097"/>
          </a:xfrm>
          <a:prstGeom prst="rect">
            <a:avLst/>
          </a:prstGeom>
          <a:noFill/>
          <a:ln>
            <a:noFill/>
          </a:ln>
        </p:spPr>
        <p:txBody>
          <a:bodyPr wrap="square" lIns="0" tIns="0" rIns="0" bIns="0" anchor="t" rtlCol="0">
            <a:noAutofit/>
          </a:bodyPr>
          <a:lstStyle/>
          <a:p>
            <a:pPr marL="155448" indent="-155448" algn="l" rtl="0">
              <a:lnSpc>
                <a:spcPct val="100000"/>
              </a:lnSpc>
              <a:spcBef>
                <a:spcPts val="0"/>
              </a:spcBef>
              <a:spcAft>
                <a:spcPts val="0"/>
              </a:spcAft>
              <a:buClr>
                <a:srgbClr val="2747F5"/>
              </a:buClr>
              <a:buSzPct val="100000"/>
              <a:buFont typeface="Google Sans Flex"/>
              <a:buChar char="•"/>
            </a:pPr>
            <a:r>
              <a:rPr lang="en-GB" sz="1100" b="0" i="0" dirty="0">
                <a:solidFill>
                  <a:srgbClr val="111113"/>
                </a:solidFill>
                <a:latin typeface="Google Sans Flex SemiBold"/>
                <a:ea typeface="Google Sans Flex SemiBold"/>
                <a:cs typeface="Google Sans Flex SemiBold"/>
                <a:sym typeface="Google Sans Flex SemiBold"/>
              </a:rPr>
              <a:t xml:space="preserve">People decide: </a:t>
            </a:r>
            <a:r>
              <a:rPr lang="en-GB" sz="1100" b="0" i="0" dirty="0">
                <a:solidFill>
                  <a:srgbClr val="46464B"/>
                </a:solidFill>
                <a:latin typeface="Google Sans Flex"/>
                <a:ea typeface="Google Sans Flex"/>
                <a:cs typeface="Google Sans Flex"/>
                <a:sym typeface="Google Sans Flex"/>
              </a:rPr>
              <a:t xml:space="preserve">the owner picks which comments become changes.</a:t>
            </a:r>
            <a:endParaRPr lang="en-GB" sz="1100" dirty="0">
              <a:latin typeface="Google Sans Flex SemiBold"/>
              <a:ea typeface="Google Sans Flex SemiBold"/>
              <a:cs typeface="Google Sans Flex SemiBold"/>
              <a:sym typeface="Google Sans Flex Semi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4983480" cy="246888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endParaRPr sz="1100">
              <a:latin typeface="Google Sans Flex Medium"/>
              <a:ea typeface="Google Sans Flex Medium"/>
              <a:cs typeface="Google Sans Flex Medium"/>
              <a:sym typeface="Google Sans Flex Medium"/>
            </a:endParaRPr>
          </a:p>
          <a:p>
            <a:pPr indent="-201168" lvl="0" marL="201168" rtl="0" algn="l">
              <a:spcBef>
                <a:spcPts val="0"/>
              </a:spcBef>
              <a:spcAft>
                <a:spcPts val="1100"/>
              </a:spcAft>
              <a:buClr>
                <a:srgbClr val="2747F5"/>
              </a:buClr>
              <a:buSzPct val="100000"/>
              <a:buFont typeface="Google Sans Flex"/>
              <a:buChar char="•"/>
            </a:pPr>
            <a:r>
              <a:rPr lang="en-GB" sz="1400">
                <a:latin typeface="Google Sans Flex Medium"/>
                <a:ea typeface="Google Sans Flex Medium"/>
                <a:cs typeface="Google Sans Flex Medium"/>
                <a:sym typeface="Google Sans Flex Medium"/>
              </a:rPr>
              <a:t>GitHub Public Repository</a:t>
            </a:r>
            <a:br>
              <a:rPr lang="en-GB" sz="1400">
                <a:latin typeface="Google Sans Flex Medium"/>
                <a:ea typeface="Google Sans Flex Medium"/>
                <a:cs typeface="Google Sans Flex Medium"/>
                <a:sym typeface="Google Sans Flex Medium"/>
              </a:rPr>
            </a:br>
            <a:r>
              <a:rPr lang="en-GB" sz="1400">
                <a:solidFill>
                  <a:srgbClr val="2747F5"/>
                </a:solidFill>
                <a:latin typeface="Google Sans Flex"/>
                <a:ea typeface="Google Sans Flex"/>
                <a:cs typeface="Google Sans Flex"/>
                <a:sym typeface="Google Sans Flex"/>
                <a:hlinkClick r:id="rId5"/>
              </a:rPr>
              <a:t>github.com/abdm693/hack2skill-hackathon</a:t>
            </a:r>
            <a:endParaRPr sz="1400">
              <a:latin typeface="Google Sans Flex Medium"/>
              <a:ea typeface="Google Sans Flex Medium"/>
              <a:cs typeface="Google Sans Flex Medium"/>
              <a:sym typeface="Google Sans Flex Medium"/>
            </a:endParaRPr>
          </a:p>
          <a:p>
            <a:pPr indent="-201168" lvl="0" marL="201168" rtl="0" algn="l">
              <a:spcBef>
                <a:spcPts val="0"/>
              </a:spcBef>
              <a:spcAft>
                <a:spcPts val="1100"/>
              </a:spcAft>
              <a:buClr>
                <a:srgbClr val="2747F5"/>
              </a:buClr>
              <a:buSzPct val="100000"/>
              <a:buFont typeface="Google Sans Flex"/>
              <a:buChar char="•"/>
            </a:pPr>
            <a:r>
              <a:rPr lang="en-GB" sz="1400">
                <a:latin typeface="Google Sans Flex Medium"/>
                <a:ea typeface="Google Sans Flex Medium"/>
                <a:cs typeface="Google Sans Flex Medium"/>
                <a:sym typeface="Google Sans Flex Medium"/>
              </a:rPr>
              <a:t>Demo Video Link (3:57)</a:t>
            </a:r>
            <a:br>
              <a:rPr lang="en-GB" sz="1400">
                <a:latin typeface="Google Sans Flex Medium"/>
                <a:ea typeface="Google Sans Flex Medium"/>
                <a:cs typeface="Google Sans Flex Medium"/>
                <a:sym typeface="Google Sans Flex Medium"/>
              </a:rPr>
            </a:br>
            <a:r>
              <a:rPr lang="en-GB" sz="1400">
                <a:solidFill>
                  <a:srgbClr val="2747F5"/>
                </a:solidFill>
                <a:latin typeface="Google Sans Flex"/>
                <a:ea typeface="Google Sans Flex"/>
                <a:cs typeface="Google Sans Flex"/>
                <a:sym typeface="Google Sans Flex"/>
                <a:hlinkClick r:id="rId11"/>
              </a:rPr>
              <a:t>https://drive.google.com/file/d/1xmdn7qxZRsblvwNLezveUji1tdc8WjBB/view?usp=sharing</a:t>
            </a:r>
            <a:endParaRPr sz="1400">
              <a:latin typeface="Google Sans Flex Medium"/>
              <a:ea typeface="Google Sans Flex Medium"/>
              <a:cs typeface="Google Sans Flex Medium"/>
              <a:sym typeface="Google Sans Flex Medium"/>
            </a:endParaRPr>
          </a:p>
          <a:p>
            <a:pPr indent="-201168" lvl="0" marL="201168" rtl="0" algn="l">
              <a:spcBef>
                <a:spcPts val="0"/>
              </a:spcBef>
              <a:spcAft>
                <a:spcPts val="1100"/>
              </a:spcAft>
              <a:buClr>
                <a:srgbClr val="2747F5"/>
              </a:buClr>
              <a:buSzPct val="100000"/>
              <a:buFont typeface="Google Sans Flex"/>
              <a:buChar char="•"/>
            </a:pPr>
            <a:r>
              <a:rPr lang="en-GB" sz="1400">
                <a:latin typeface="Google Sans Flex Medium"/>
                <a:ea typeface="Google Sans Flex Medium"/>
                <a:cs typeface="Google Sans Flex Medium"/>
                <a:sym typeface="Google Sans Flex Medium"/>
              </a:rPr>
              <a:t>Final Product Link</a:t>
            </a:r>
            <a:br>
              <a:rPr lang="en-GB" sz="1400">
                <a:latin typeface="Google Sans Flex Medium"/>
                <a:ea typeface="Google Sans Flex Medium"/>
                <a:cs typeface="Google Sans Flex Medium"/>
                <a:sym typeface="Google Sans Flex Medium"/>
              </a:rPr>
            </a:br>
            <a:r>
              <a:rPr lang="en-GB" sz="1400">
                <a:solidFill>
                  <a:srgbClr val="2747F5"/>
                </a:solidFill>
                <a:latin typeface="Google Sans Flex"/>
                <a:ea typeface="Google Sans Flex"/>
                <a:cs typeface="Google Sans Flex"/>
                <a:sym typeface="Google Sans Flex"/>
                <a:hlinkClick r:id="rId6"/>
              </a:rPr>
              <a:t>naqsha-242926648187.us-central1.run.app</a:t>
            </a:r>
            <a:endParaRPr sz="1400">
              <a:latin typeface="Google Sans Flex Medium"/>
              <a:ea typeface="Google Sans Flex Medium"/>
              <a:cs typeface="Google Sans Flex Medium"/>
              <a:sym typeface="Google Sans Flex Medium"/>
            </a:endParaRPr>
          </a:p>
        </p:txBody>
      </p:sp>
      <p:sp>
        <p:nvSpPr>
          <p:cNvPr id="160" name="Try card 160">
            <a:hlinkClick r:id="rId7"/>
          </p:cNvPr>
          <p:cNvSpPr/>
          <p:nvPr/>
        </p:nvSpPr>
        <p:spPr>
          <a:xfrm>
            <a:off x="356616" y="3200400"/>
            <a:ext cx="4800600" cy="457200"/>
          </a:xfrm>
          <a:prstGeom prst="roundRect">
            <a:avLst>
              <a:gd name="adj" fmla="val 20000"/>
            </a:avLst>
          </a:prstGeom>
          <a:solidFill>
            <a:srgbClr val="EDF0FF"/>
          </a:solidFill>
          <a:ln>
            <a:noFill/>
          </a:ln>
        </p:spPr>
      </p:sp>
      <p:sp>
        <p:nvSpPr>
          <p:cNvPr id="161" name="Try text 161"/>
          <p:cNvSpPr txBox="1"/>
          <p:nvPr/>
        </p:nvSpPr>
        <p:spPr>
          <a:xfrm>
            <a:off x="557784" y="3200400"/>
            <a:ext cx="4526280" cy="457200"/>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400" b="0" i="0" dirty="0">
                <a:solidFill>
                  <a:srgbClr val="2747F5"/>
                </a:solidFill>
                <a:latin typeface="Google Sans Flex SemiBold"/>
                <a:ea typeface="Google Sans Flex SemiBold"/>
                <a:cs typeface="Google Sans Flex SemiBold"/>
                <a:sym typeface="Google Sans Flex SemiBold"/>
              </a:rPr>
              <a:t xml:space="preserve">Try it in a minute: </a:t>
            </a:r>
            <a:r>
              <a:rPr lang="en-GB" sz="1400" b="0" i="0" dirty="0">
                <a:solidFill>
                  <a:srgbClr val="111113"/>
                </a:solidFill>
                <a:latin typeface="Google Sans Flex"/>
                <a:ea typeface="Google Sans Flex"/>
                <a:cs typeface="Google Sans Flex"/>
                <a:sym typeface="Google Sans Flex"/>
              </a:rPr>
              <a:t xml:space="preserve">open a sample home, no account.</a:t>
            </a:r>
            <a:endParaRPr lang="en-GB" sz="1400" dirty="0">
              <a:latin typeface="Google Sans Flex SemiBold"/>
              <a:ea typeface="Google Sans Flex SemiBold"/>
              <a:cs typeface="Google Sans Flex SemiBold"/>
              <a:sym typeface="Google Sans Flex SemiBold"/>
            </a:endParaRPr>
          </a:p>
        </p:txBody>
      </p:sp>
      <p:sp>
        <p:nvSpPr>
          <p:cNvPr id="162" name="Repo guide 162"/>
          <p:cNvSpPr txBox="1"/>
          <p:nvPr/>
        </p:nvSpPr>
        <p:spPr>
          <a:xfrm>
            <a:off x="356616" y="3803904"/>
            <a:ext cx="4800600" cy="368097"/>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100" b="0" i="0" dirty="0">
                <a:solidFill>
                  <a:srgbClr val="111113"/>
                </a:solidFill>
                <a:latin typeface="Google Sans Flex SemiBold"/>
                <a:ea typeface="Google Sans Flex SemiBold"/>
                <a:cs typeface="Google Sans Flex SemiBold"/>
                <a:sym typeface="Google Sans Flex SemiBold"/>
              </a:rPr>
              <a:t xml:space="preserve">Repo guide  </a:t>
            </a:r>
            <a:r>
              <a:rPr lang="en-GB" sz="1100" b="0" i="0" dirty="0">
                <a:solidFill>
                  <a:srgbClr val="6E6E73"/>
                </a:solidFill>
                <a:latin typeface="Google Sans Flex"/>
                <a:ea typeface="Google Sans Flex"/>
                <a:cs typeface="Google Sans Flex"/>
                <a:sym typeface="Google Sans Flex"/>
              </a:rPr>
              <a:t xml:space="preserve">README (run and deploy) · docs/ARCHITECTURE.md · contracts/ (plan schema, House SDK, API) · api/tests (123 tests)</a:t>
            </a:r>
            <a:endParaRPr lang="en-GB" sz="1100" dirty="0">
              <a:latin typeface="Google Sans Flex SemiBold"/>
              <a:ea typeface="Google Sans Flex SemiBold"/>
              <a:cs typeface="Google Sans Flex SemiBold"/>
              <a:sym typeface="Google Sans Flex SemiBold"/>
            </a:endParaRPr>
          </a:p>
        </p:txBody>
      </p:sp>
      <p:sp>
        <p:nvSpPr>
          <p:cNvPr id="163" name="Video note 163"/>
          <p:cNvSpPr txBox="1"/>
          <p:nvPr/>
        </p:nvSpPr>
        <p:spPr>
          <a:xfrm>
            <a:off x="356616" y="4261104"/>
            <a:ext cx="4800600" cy="193192"/>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100" b="0" i="0" dirty="0">
                <a:solidFill>
                  <a:srgbClr val="111113"/>
                </a:solidFill>
                <a:latin typeface="Google Sans Flex SemiBold"/>
                <a:ea typeface="Google Sans Flex SemiBold"/>
                <a:cs typeface="Google Sans Flex SemiBold"/>
                <a:sym typeface="Google Sans Flex SemiBold"/>
              </a:rPr>
              <a:t xml:space="preserve">Video  </a:t>
            </a:r>
            <a:r>
              <a:rPr lang="en-GB" sz="1100" b="0" i="0" dirty="0">
                <a:solidFill>
                  <a:srgbClr val="6E6E73"/>
                </a:solidFill>
                <a:latin typeface="Google Sans Flex"/>
                <a:ea typeface="Google Sans Flex"/>
                <a:cs typeface="Google Sans Flex"/>
                <a:sym typeface="Google Sans Flex"/>
              </a:rPr>
              <a:t xml:space="preserve">a 4-minute walkthrough of the live app.</a:t>
            </a:r>
            <a:endParaRPr lang="en-GB" sz="1100" dirty="0">
              <a:latin typeface="Google Sans Flex SemiBold"/>
              <a:ea typeface="Google Sans Flex SemiBold"/>
              <a:cs typeface="Google Sans Flex SemiBold"/>
              <a:sym typeface="Google Sans Flex SemiBold"/>
            </a:endParaRPr>
          </a:p>
        </p:txBody>
      </p:sp>
      <p:pic>
        <p:nvPicPr>
          <p:cNvPr id="164" name="Landing screen 164" descr="Naqsha landing page, live: Walk through your home before the first brick"/>
          <p:cNvPicPr>
            <a:picLocks noChangeAspect="1"/>
          </p:cNvPicPr>
          <p:nvPr/>
        </p:nvPicPr>
        <p:blipFill>
          <a:blip r:embed="rId8"/>
          <a:stretch>
            <a:fillRect/>
          </a:stretch>
        </p:blipFill>
        <p:spPr>
          <a:xfrm>
            <a:off x="5440680" y="1097280"/>
            <a:ext cx="3346704" cy="2091690"/>
          </a:xfrm>
          <a:prstGeom prst="roundRect">
            <a:avLst>
              <a:gd name="adj" fmla="val 3060"/>
            </a:avLst>
          </a:prstGeom>
          <a:noFill/>
          <a:ln w="9525">
            <a:solidFill>
              <a:srgbClr val="DADADF"/>
            </a:solidFill>
          </a:ln>
          <a:effectLst>
            <a:outerShdw blurRad="76200" dist="19050" dir="5400000" algn="t" rotWithShape="0">
              <a:srgbClr val="000000">
                <a:alpha val="14000"/>
              </a:srgbClr>
            </a:outerShdw>
          </a:effectLst>
        </p:spPr>
      </p:pic>
      <p:sp>
        <p:nvSpPr>
          <p:cNvPr id="165" name="Live chip 165"/>
          <p:cNvSpPr/>
          <p:nvPr/>
        </p:nvSpPr>
        <p:spPr>
          <a:xfrm>
            <a:off x="5513832" y="2923794"/>
            <a:ext cx="694084" cy="192024"/>
          </a:xfrm>
          <a:prstGeom prst="roundRect">
            <a:avLst>
              <a:gd name="adj" fmla="val 50000"/>
            </a:avLst>
          </a:prstGeom>
          <a:solidFill>
            <a:srgbClr val="FFFFFF"/>
          </a:solidFill>
          <a:ln w="9525">
            <a:solidFill>
              <a:srgbClr val="E4E4E7"/>
            </a:solidFill>
          </a:ln>
        </p:spPr>
      </p:sp>
      <p:sp>
        <p:nvSpPr>
          <p:cNvPr id="166" name="Live chip dot 166"/>
          <p:cNvSpPr/>
          <p:nvPr/>
        </p:nvSpPr>
        <p:spPr>
          <a:xfrm>
            <a:off x="5586984" y="2987802"/>
            <a:ext cx="64008" cy="64008"/>
          </a:xfrm>
          <a:prstGeom prst="ellipse">
            <a:avLst/>
          </a:prstGeom>
          <a:solidFill>
            <a:srgbClr val="0E7A55"/>
          </a:solidFill>
          <a:ln>
            <a:noFill/>
          </a:ln>
        </p:spPr>
      </p:sp>
      <p:sp>
        <p:nvSpPr>
          <p:cNvPr id="167" name="Live chip label 167"/>
          <p:cNvSpPr txBox="1"/>
          <p:nvPr/>
        </p:nvSpPr>
        <p:spPr>
          <a:xfrm>
            <a:off x="5687568" y="2923794"/>
            <a:ext cx="474628" cy="19202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850" b="0" i="0" dirty="0">
                <a:solidFill>
                  <a:srgbClr val="111113"/>
                </a:solidFill>
                <a:latin typeface="Google Sans Flex Medium"/>
                <a:ea typeface="Google Sans Flex Medium"/>
                <a:cs typeface="Google Sans Flex Medium"/>
                <a:sym typeface="Google Sans Flex Medium"/>
              </a:rPr>
              <a:t xml:space="preserve">Live app</a:t>
            </a:r>
            <a:endParaRPr lang="en-GB" sz="850" dirty="0">
              <a:latin typeface="Google Sans Flex Medium"/>
              <a:ea typeface="Google Sans Flex Medium"/>
              <a:cs typeface="Google Sans Flex Medium"/>
              <a:sym typeface="Google Sans Flex Medium"/>
            </a:endParaRPr>
          </a:p>
        </p:txBody>
      </p:sp>
      <p:sp>
        <p:nvSpPr>
          <p:cNvPr id="168" name="QR frame 168"/>
          <p:cNvSpPr/>
          <p:nvPr/>
        </p:nvSpPr>
        <p:spPr>
          <a:xfrm>
            <a:off x="5440680" y="3390138"/>
            <a:ext cx="1529334" cy="1529334"/>
          </a:xfrm>
          <a:prstGeom prst="roundRect">
            <a:avLst>
              <a:gd name="adj" fmla="val 4783"/>
            </a:avLst>
          </a:prstGeom>
          <a:solidFill>
            <a:srgbClr val="FFFFFF"/>
          </a:solidFill>
          <a:ln w="9525">
            <a:solidFill>
              <a:srgbClr val="E4E4E7"/>
            </a:solidFill>
          </a:ln>
        </p:spPr>
      </p:sp>
      <p:pic>
        <p:nvPicPr>
          <p:cNvPr id="169" name="QR code 169" descr="QR code for the live app">
            <a:hlinkClick r:id="rId10"/>
          </p:cNvPr>
          <p:cNvPicPr>
            <a:picLocks noChangeAspect="1"/>
          </p:cNvPicPr>
          <p:nvPr/>
        </p:nvPicPr>
        <p:blipFill>
          <a:blip r:embed="rId9"/>
          <a:stretch>
            <a:fillRect/>
          </a:stretch>
        </p:blipFill>
        <p:spPr>
          <a:xfrm>
            <a:off x="5495544" y="3445002"/>
            <a:ext cx="1419606" cy="1419606"/>
          </a:xfrm>
          <a:prstGeom prst="rect">
            <a:avLst/>
          </a:prstGeom>
          <a:noFill/>
          <a:ln>
            <a:noFill/>
          </a:ln>
        </p:spPr>
      </p:pic>
      <p:sp>
        <p:nvSpPr>
          <p:cNvPr id="170" name="QR caption 170"/>
          <p:cNvSpPr txBox="1"/>
          <p:nvPr/>
        </p:nvSpPr>
        <p:spPr>
          <a:xfrm>
            <a:off x="7152894" y="3481578"/>
            <a:ext cx="1634490" cy="1346454"/>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400"/>
              </a:spcAft>
              <a:buNone/>
            </a:pPr>
            <a:r>
              <a:rPr lang="en-GB" sz="1400" b="0" i="0" dirty="0">
                <a:solidFill>
                  <a:srgbClr val="111113"/>
                </a:solidFill>
                <a:latin typeface="Google Sans Flex SemiBold"/>
                <a:ea typeface="Google Sans Flex SemiBold"/>
                <a:cs typeface="Google Sans Flex SemiBold"/>
                <a:sym typeface="Google Sans Flex SemiBold"/>
              </a:rPr>
              <a:t xml:space="preserve">Scan to open the live app</a:t>
            </a:r>
            <a:endParaRPr lang="en-GB" sz="1400" dirty="0">
              <a:latin typeface="Google Sans Flex SemiBold"/>
              <a:ea typeface="Google Sans Flex SemiBold"/>
              <a:cs typeface="Google Sans Flex SemiBold"/>
              <a:sym typeface="Google Sans Flex SemiBold"/>
            </a:endParaRPr>
          </a:p>
          <a:p>
            <a:pPr marL="0" indent="0" algn="l" rtl="0">
              <a:lnSpc>
                <a:spcPct val="100000"/>
              </a:lnSpc>
              <a:spcBef>
                <a:spcPts val="0"/>
              </a:spcBef>
              <a:spcAft>
                <a:spcPts val="0"/>
              </a:spcAft>
              <a:buNone/>
            </a:pPr>
            <a:r>
              <a:rPr lang="en-GB" sz="1100" b="0" i="0" dirty="0">
                <a:solidFill>
                  <a:srgbClr val="6E6E73"/>
                </a:solidFill>
                <a:latin typeface="Google Sans Flex"/>
                <a:ea typeface="Google Sans Flex"/>
                <a:cs typeface="Google Sans Flex"/>
                <a:sym typeface="Google Sans Flex"/>
              </a:rPr>
              <a:t xml:space="preserve">Cloud Run · us-central1</a:t>
            </a:r>
            <a:endParaRPr lang="en-GB" sz="1100" dirty="0">
              <a:latin typeface="Google Sans Flex"/>
              <a:ea typeface="Google Sans Flex"/>
              <a:cs typeface="Google Sans Flex"/>
              <a:sym typeface="Google Sans Flex"/>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Heading 16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Track and industry impact</a:t>
            </a:r>
            <a:endParaRPr sz="1600">
              <a:latin typeface="Google Sans Flex Medium"/>
              <a:ea typeface="Google Sans Flex Medium"/>
              <a:cs typeface="Google Sans Flex Medium"/>
              <a:sym typeface="Google Sans Flex Medium"/>
            </a:endParaRPr>
          </a:p>
        </p:txBody>
      </p:sp>
      <p:sp>
        <p:nvSpPr>
          <p:cNvPr id="168" name="Head chip 168"/>
          <p:cNvSpPr/>
          <p:nvPr/>
        </p:nvSpPr>
        <p:spPr>
          <a:xfrm>
            <a:off x="5180457" y="763524"/>
            <a:ext cx="3606927" cy="237744"/>
          </a:xfrm>
          <a:prstGeom prst="roundRect">
            <a:avLst>
              <a:gd name="adj" fmla="val 50000"/>
            </a:avLst>
          </a:prstGeom>
          <a:solidFill>
            <a:srgbClr val="2747F5"/>
          </a:solidFill>
          <a:ln>
            <a:noFill/>
          </a:ln>
        </p:spPr>
      </p:sp>
      <p:sp>
        <p:nvSpPr>
          <p:cNvPr id="169" name="Head chip label 169"/>
          <p:cNvSpPr txBox="1"/>
          <p:nvPr/>
        </p:nvSpPr>
        <p:spPr>
          <a:xfrm>
            <a:off x="5271897" y="763524"/>
            <a:ext cx="3451479" cy="23774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00" b="0" i="0" dirty="0">
                <a:solidFill>
                  <a:srgbClr val="FFFFFF"/>
                </a:solidFill>
                <a:latin typeface="Google Sans Flex Medium"/>
                <a:ea typeface="Google Sans Flex Medium"/>
                <a:cs typeface="Google Sans Flex Medium"/>
                <a:sym typeface="Google Sans Flex Medium"/>
              </a:rPr>
              <a:t xml:space="preserve">Track · Theme 5 · Future of Work &amp; Enterprise Productivity</a:t>
            </a:r>
            <a:endParaRPr lang="en-GB" sz="1000" dirty="0">
              <a:latin typeface="Google Sans Flex Medium"/>
              <a:ea typeface="Google Sans Flex Medium"/>
              <a:cs typeface="Google Sans Flex Medium"/>
              <a:sym typeface="Google Sans Flex Medium"/>
            </a:endParaRPr>
          </a:p>
        </p:txBody>
      </p:sp>
      <p:sp>
        <p:nvSpPr>
          <p:cNvPr id="170" name="Headline 170"/>
          <p:cNvSpPr txBox="1"/>
          <p:nvPr/>
        </p:nvSpPr>
        <p:spPr>
          <a:xfrm>
            <a:off x="356616" y="1060704"/>
            <a:ext cx="8430768" cy="304495"/>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800" b="0" i="0" dirty="0">
                <a:solidFill>
                  <a:srgbClr val="111113"/>
                </a:solidFill>
                <a:latin typeface="Google Sans Flex SemiBold"/>
                <a:ea typeface="Google Sans Flex SemiBold"/>
                <a:cs typeface="Google Sans Flex SemiBold"/>
                <a:sym typeface="Google Sans Flex SemiBold"/>
              </a:rPr>
              <a:t xml:space="preserve">Future of Work in AEC: weeks of redrawing become one agentic session</a:t>
            </a:r>
            <a:endParaRPr lang="en-GB" sz="1800" dirty="0">
              <a:latin typeface="Google Sans Flex SemiBold"/>
              <a:ea typeface="Google Sans Flex SemiBold"/>
              <a:cs typeface="Google Sans Flex SemiBold"/>
              <a:sym typeface="Google Sans Flex SemiBold"/>
            </a:endParaRPr>
          </a:p>
        </p:txBody>
      </p:sp>
      <p:sp>
        <p:nvSpPr>
          <p:cNvPr id="171" name="Industry chip 171"/>
          <p:cNvSpPr/>
          <p:nvPr/>
        </p:nvSpPr>
        <p:spPr>
          <a:xfrm>
            <a:off x="356616" y="1417320"/>
            <a:ext cx="4988624" cy="237744"/>
          </a:xfrm>
          <a:prstGeom prst="roundRect">
            <a:avLst>
              <a:gd name="adj" fmla="val 50000"/>
            </a:avLst>
          </a:prstGeom>
          <a:solidFill>
            <a:srgbClr val="111113"/>
          </a:solidFill>
          <a:ln>
            <a:noFill/>
          </a:ln>
        </p:spPr>
      </p:sp>
      <p:sp>
        <p:nvSpPr>
          <p:cNvPr id="172" name="Industry chip label 172"/>
          <p:cNvSpPr txBox="1"/>
          <p:nvPr/>
        </p:nvSpPr>
        <p:spPr>
          <a:xfrm>
            <a:off x="448056" y="1417320"/>
            <a:ext cx="4833176" cy="23774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00" b="0" i="0" dirty="0">
                <a:solidFill>
                  <a:srgbClr val="FFFFFF"/>
                </a:solidFill>
                <a:latin typeface="Google Sans Flex Medium"/>
                <a:ea typeface="Google Sans Flex Medium"/>
                <a:cs typeface="Google Sans Flex Medium"/>
                <a:sym typeface="Google Sans Flex Medium"/>
              </a:rPr>
              <a:t xml:space="preserve">Industry · Architecture, Engineering &amp; Construction (AEC) + residential real estate</a:t>
            </a:r>
            <a:endParaRPr lang="en-GB" sz="1000" dirty="0">
              <a:latin typeface="Google Sans Flex Medium"/>
              <a:ea typeface="Google Sans Flex Medium"/>
              <a:cs typeface="Google Sans Flex Medium"/>
              <a:sym typeface="Google Sans Flex Medium"/>
            </a:endParaRPr>
          </a:p>
        </p:txBody>
      </p:sp>
      <p:sp>
        <p:nvSpPr>
          <p:cNvPr id="173" name="Region chip 173"/>
          <p:cNvSpPr/>
          <p:nvPr/>
        </p:nvSpPr>
        <p:spPr>
          <a:xfrm>
            <a:off x="5418392" y="1417320"/>
            <a:ext cx="3078924" cy="237744"/>
          </a:xfrm>
          <a:prstGeom prst="roundRect">
            <a:avLst>
              <a:gd name="adj" fmla="val 50000"/>
            </a:avLst>
          </a:prstGeom>
          <a:solidFill>
            <a:srgbClr val="EEEEF0"/>
          </a:solidFill>
          <a:ln>
            <a:noFill/>
          </a:ln>
        </p:spPr>
      </p:sp>
      <p:sp>
        <p:nvSpPr>
          <p:cNvPr id="174" name="Region chip label 174"/>
          <p:cNvSpPr txBox="1"/>
          <p:nvPr/>
        </p:nvSpPr>
        <p:spPr>
          <a:xfrm>
            <a:off x="5509832" y="1417320"/>
            <a:ext cx="2923476" cy="237744"/>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1000" b="0" i="0" dirty="0">
                <a:solidFill>
                  <a:srgbClr val="46464B"/>
                </a:solidFill>
                <a:latin typeface="Google Sans Flex Medium"/>
                <a:ea typeface="Google Sans Flex Medium"/>
                <a:cs typeface="Google Sans Flex Medium"/>
                <a:sym typeface="Google Sans Flex Medium"/>
              </a:rPr>
              <a:t xml:space="preserve">Pakistan first, then worldwide · Lahore prototype</a:t>
            </a:r>
            <a:endParaRPr lang="en-GB" sz="1000" dirty="0">
              <a:latin typeface="Google Sans Flex Medium"/>
              <a:ea typeface="Google Sans Flex Medium"/>
              <a:cs typeface="Google Sans Flex Medium"/>
              <a:sym typeface="Google Sans Flex Medium"/>
            </a:endParaRPr>
          </a:p>
        </p:txBody>
      </p:sp>
      <p:sp>
        <p:nvSpPr>
          <p:cNvPr id="175" name="Stat card 175"/>
          <p:cNvSpPr/>
          <p:nvPr/>
        </p:nvSpPr>
        <p:spPr>
          <a:xfrm>
            <a:off x="356616" y="1755648"/>
            <a:ext cx="2025396" cy="768096"/>
          </a:xfrm>
          <a:prstGeom prst="roundRect">
            <a:avLst>
              <a:gd name="adj" fmla="val 9523"/>
            </a:avLst>
          </a:prstGeom>
          <a:solidFill>
            <a:srgbClr val="EDF0FF"/>
          </a:solidFill>
          <a:ln>
            <a:noFill/>
          </a:ln>
        </p:spPr>
      </p:sp>
      <p:sp>
        <p:nvSpPr>
          <p:cNvPr id="176" name="Stat overline 176"/>
          <p:cNvSpPr txBox="1"/>
          <p:nvPr/>
        </p:nvSpPr>
        <p:spPr>
          <a:xfrm>
            <a:off x="466344" y="1810512"/>
            <a:ext cx="1805940" cy="146304"/>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800" b="0" i="0" dirty="0">
                <a:solidFill>
                  <a:srgbClr val="2747F5"/>
                </a:solidFill>
                <a:latin typeface="Google Sans Flex SemiBold"/>
                <a:ea typeface="Google Sans Flex SemiBold"/>
                <a:cs typeface="Google Sans Flex SemiBold"/>
                <a:sym typeface="Google Sans Flex SemiBold"/>
              </a:rPr>
              <a:t xml:space="preserve">SPEED</a:t>
            </a:r>
            <a:endParaRPr lang="en-GB" sz="800" dirty="0">
              <a:latin typeface="Google Sans Flex SemiBold"/>
              <a:ea typeface="Google Sans Flex SemiBold"/>
              <a:cs typeface="Google Sans Flex SemiBold"/>
              <a:sym typeface="Google Sans Flex SemiBold"/>
            </a:endParaRPr>
          </a:p>
        </p:txBody>
      </p:sp>
      <p:sp>
        <p:nvSpPr>
          <p:cNvPr id="177" name="Stat 177"/>
          <p:cNvSpPr txBox="1"/>
          <p:nvPr/>
        </p:nvSpPr>
        <p:spPr>
          <a:xfrm>
            <a:off x="466344" y="1938528"/>
            <a:ext cx="1805940" cy="274320"/>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700" b="0" i="0" dirty="0">
                <a:solidFill>
                  <a:srgbClr val="2747F5"/>
                </a:solidFill>
                <a:latin typeface="Google Sans Flex SemiBold"/>
                <a:ea typeface="Google Sans Flex SemiBold"/>
                <a:cs typeface="Google Sans Flex SemiBold"/>
                <a:sym typeface="Google Sans Flex SemiBold"/>
              </a:rPr>
              <a:t xml:space="preserve">~5–6 min</a:t>
            </a:r>
            <a:endParaRPr lang="en-GB" sz="1700" dirty="0">
              <a:latin typeface="Google Sans Flex SemiBold"/>
              <a:ea typeface="Google Sans Flex SemiBold"/>
              <a:cs typeface="Google Sans Flex SemiBold"/>
              <a:sym typeface="Google Sans Flex SemiBold"/>
            </a:endParaRPr>
          </a:p>
        </p:txBody>
      </p:sp>
      <p:sp>
        <p:nvSpPr>
          <p:cNvPr id="178" name="Stat label 178"/>
          <p:cNvSpPr txBox="1"/>
          <p:nvPr/>
        </p:nvSpPr>
        <p:spPr>
          <a:xfrm>
            <a:off x="466344" y="2212848"/>
            <a:ext cx="1805940" cy="274320"/>
          </a:xfrm>
          <a:prstGeom prst="rect">
            <a:avLst/>
          </a:prstGeom>
          <a:noFill/>
          <a:ln>
            <a:noFill/>
          </a:ln>
        </p:spPr>
        <p:txBody>
          <a:bodyPr wrap="square" lIns="0" tIns="0" rIns="0" bIns="0" anchor="t" rtlCol="0">
            <a:noAutofit/>
          </a:bodyPr>
          <a:lstStyle/>
          <a:p>
            <a:pPr marL="0" indent="0" algn="l" rtl="0">
              <a:lnSpc>
                <a:spcPct val="92000"/>
              </a:lnSpc>
              <a:spcBef>
                <a:spcPts val="0"/>
              </a:spcBef>
              <a:spcAft>
                <a:spcPts val="0"/>
              </a:spcAft>
              <a:buNone/>
            </a:pPr>
            <a:r>
              <a:rPr lang="en-GB" sz="900" b="0" i="0" dirty="0">
                <a:solidFill>
                  <a:srgbClr val="46464B"/>
                </a:solidFill>
                <a:latin typeface="Google Sans Flex"/>
                <a:ea typeface="Google Sans Flex"/>
                <a:cs typeface="Google Sans Flex"/>
                <a:sym typeface="Google Sans Flex"/>
              </a:rPr>
              <a:t xml:space="preserve">of AI time, first message to a walkable, bylaw-checked home</a:t>
            </a:r>
            <a:endParaRPr lang="en-GB" sz="900" dirty="0">
              <a:latin typeface="Google Sans Flex"/>
              <a:ea typeface="Google Sans Flex"/>
              <a:cs typeface="Google Sans Flex"/>
              <a:sym typeface="Google Sans Flex"/>
            </a:endParaRPr>
          </a:p>
        </p:txBody>
      </p:sp>
      <p:sp>
        <p:nvSpPr>
          <p:cNvPr id="179" name="Stat card 179"/>
          <p:cNvSpPr/>
          <p:nvPr/>
        </p:nvSpPr>
        <p:spPr>
          <a:xfrm>
            <a:off x="2491740" y="1755648"/>
            <a:ext cx="2025396" cy="768096"/>
          </a:xfrm>
          <a:prstGeom prst="roundRect">
            <a:avLst>
              <a:gd name="adj" fmla="val 9523"/>
            </a:avLst>
          </a:prstGeom>
          <a:solidFill>
            <a:srgbClr val="F5F5F7"/>
          </a:solidFill>
          <a:ln>
            <a:noFill/>
          </a:ln>
        </p:spPr>
      </p:sp>
      <p:sp>
        <p:nvSpPr>
          <p:cNvPr id="180" name="Stat overline 180"/>
          <p:cNvSpPr txBox="1"/>
          <p:nvPr/>
        </p:nvSpPr>
        <p:spPr>
          <a:xfrm>
            <a:off x="2601468" y="1810512"/>
            <a:ext cx="1805940" cy="146304"/>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800" b="0" i="0" dirty="0">
                <a:solidFill>
                  <a:srgbClr val="6E6E73"/>
                </a:solidFill>
                <a:latin typeface="Google Sans Flex SemiBold"/>
                <a:ea typeface="Google Sans Flex SemiBold"/>
                <a:cs typeface="Google Sans Flex SemiBold"/>
                <a:sym typeface="Google Sans Flex SemiBold"/>
              </a:rPr>
              <a:t xml:space="preserve">COST TODAY</a:t>
            </a:r>
            <a:endParaRPr lang="en-GB" sz="800" dirty="0">
              <a:latin typeface="Google Sans Flex SemiBold"/>
              <a:ea typeface="Google Sans Flex SemiBold"/>
              <a:cs typeface="Google Sans Flex SemiBold"/>
              <a:sym typeface="Google Sans Flex SemiBold"/>
            </a:endParaRPr>
          </a:p>
        </p:txBody>
      </p:sp>
      <p:sp>
        <p:nvSpPr>
          <p:cNvPr id="181" name="Stat 181"/>
          <p:cNvSpPr txBox="1"/>
          <p:nvPr/>
        </p:nvSpPr>
        <p:spPr>
          <a:xfrm>
            <a:off x="2601468" y="1938528"/>
            <a:ext cx="1805940" cy="274320"/>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700" b="0" i="0" dirty="0">
                <a:solidFill>
                  <a:srgbClr val="111113"/>
                </a:solidFill>
                <a:latin typeface="Google Sans Flex SemiBold"/>
                <a:ea typeface="Google Sans Flex SemiBold"/>
                <a:cs typeface="Google Sans Flex SemiBold"/>
                <a:sym typeface="Google Sans Flex SemiBold"/>
              </a:rPr>
              <a:t xml:space="preserve">Rs 41,430</a:t>
            </a:r>
            <a:endParaRPr lang="en-GB" sz="1700" dirty="0">
              <a:latin typeface="Google Sans Flex SemiBold"/>
              <a:ea typeface="Google Sans Flex SemiBold"/>
              <a:cs typeface="Google Sans Flex SemiBold"/>
              <a:sym typeface="Google Sans Flex SemiBold"/>
            </a:endParaRPr>
          </a:p>
        </p:txBody>
      </p:sp>
      <p:sp>
        <p:nvSpPr>
          <p:cNvPr id="182" name="Stat label 182"/>
          <p:cNvSpPr txBox="1"/>
          <p:nvPr/>
        </p:nvSpPr>
        <p:spPr>
          <a:xfrm>
            <a:off x="2601468" y="2212848"/>
            <a:ext cx="1805940" cy="274320"/>
          </a:xfrm>
          <a:prstGeom prst="rect">
            <a:avLst/>
          </a:prstGeom>
          <a:noFill/>
          <a:ln>
            <a:noFill/>
          </a:ln>
        </p:spPr>
        <p:txBody>
          <a:bodyPr wrap="square" lIns="0" tIns="0" rIns="0" bIns="0" anchor="t" rtlCol="0">
            <a:noAutofit/>
          </a:bodyPr>
          <a:lstStyle/>
          <a:p>
            <a:pPr marL="0" indent="0" algn="l" rtl="0">
              <a:lnSpc>
                <a:spcPct val="92000"/>
              </a:lnSpc>
              <a:spcBef>
                <a:spcPts val="0"/>
              </a:spcBef>
              <a:spcAft>
                <a:spcPts val="0"/>
              </a:spcAft>
              <a:buNone/>
            </a:pPr>
            <a:r>
              <a:rPr lang="en-GB" sz="900" b="0" i="0" dirty="0">
                <a:solidFill>
                  <a:srgbClr val="46464B"/>
                </a:solidFill>
                <a:latin typeface="Google Sans Flex"/>
                <a:ea typeface="Google Sans Flex"/>
                <a:cs typeface="Google Sans Flex"/>
                <a:sym typeface="Google Sans Flex"/>
              </a:rPr>
              <a:t xml:space="preserve">fee paid again when a 10 marla plan is refused in Lahore</a:t>
            </a:r>
            <a:endParaRPr lang="en-GB" sz="900" dirty="0">
              <a:latin typeface="Google Sans Flex"/>
              <a:ea typeface="Google Sans Flex"/>
              <a:cs typeface="Google Sans Flex"/>
              <a:sym typeface="Google Sans Flex"/>
            </a:endParaRPr>
          </a:p>
        </p:txBody>
      </p:sp>
      <p:sp>
        <p:nvSpPr>
          <p:cNvPr id="183" name="Stat card 183"/>
          <p:cNvSpPr/>
          <p:nvPr/>
        </p:nvSpPr>
        <p:spPr>
          <a:xfrm>
            <a:off x="4626864" y="1755648"/>
            <a:ext cx="2025396" cy="768096"/>
          </a:xfrm>
          <a:prstGeom prst="roundRect">
            <a:avLst>
              <a:gd name="adj" fmla="val 9523"/>
            </a:avLst>
          </a:prstGeom>
          <a:solidFill>
            <a:srgbClr val="EDF0FF"/>
          </a:solidFill>
          <a:ln>
            <a:noFill/>
          </a:ln>
        </p:spPr>
      </p:sp>
      <p:sp>
        <p:nvSpPr>
          <p:cNvPr id="184" name="Stat overline 184"/>
          <p:cNvSpPr txBox="1"/>
          <p:nvPr/>
        </p:nvSpPr>
        <p:spPr>
          <a:xfrm>
            <a:off x="4736592" y="1810512"/>
            <a:ext cx="1805940" cy="146304"/>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800" b="0" i="0" dirty="0">
                <a:solidFill>
                  <a:srgbClr val="2747F5"/>
                </a:solidFill>
                <a:latin typeface="Google Sans Flex SemiBold"/>
                <a:ea typeface="Google Sans Flex SemiBold"/>
                <a:cs typeface="Google Sans Flex SemiBold"/>
                <a:sym typeface="Google Sans Flex SemiBold"/>
              </a:rPr>
              <a:t xml:space="preserve">ITERATION</a:t>
            </a:r>
            <a:endParaRPr lang="en-GB" sz="800" dirty="0">
              <a:latin typeface="Google Sans Flex SemiBold"/>
              <a:ea typeface="Google Sans Flex SemiBold"/>
              <a:cs typeface="Google Sans Flex SemiBold"/>
              <a:sym typeface="Google Sans Flex SemiBold"/>
            </a:endParaRPr>
          </a:p>
        </p:txBody>
      </p:sp>
      <p:sp>
        <p:nvSpPr>
          <p:cNvPr id="185" name="Stat 185"/>
          <p:cNvSpPr txBox="1"/>
          <p:nvPr/>
        </p:nvSpPr>
        <p:spPr>
          <a:xfrm>
            <a:off x="4736592" y="1938528"/>
            <a:ext cx="1805940" cy="274320"/>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700" b="0" i="0" dirty="0">
                <a:solidFill>
                  <a:srgbClr val="2747F5"/>
                </a:solidFill>
                <a:latin typeface="Google Sans Flex SemiBold"/>
                <a:ea typeface="Google Sans Flex SemiBold"/>
                <a:cs typeface="Google Sans Flex SemiBold"/>
                <a:sym typeface="Google Sans Flex SemiBold"/>
              </a:rPr>
              <a:t xml:space="preserve">~70 s</a:t>
            </a:r>
            <a:endParaRPr lang="en-GB" sz="1700" dirty="0">
              <a:latin typeface="Google Sans Flex SemiBold"/>
              <a:ea typeface="Google Sans Flex SemiBold"/>
              <a:cs typeface="Google Sans Flex SemiBold"/>
              <a:sym typeface="Google Sans Flex SemiBold"/>
            </a:endParaRPr>
          </a:p>
        </p:txBody>
      </p:sp>
      <p:sp>
        <p:nvSpPr>
          <p:cNvPr id="186" name="Stat label 186"/>
          <p:cNvSpPr txBox="1"/>
          <p:nvPr/>
        </p:nvSpPr>
        <p:spPr>
          <a:xfrm>
            <a:off x="4736592" y="2212848"/>
            <a:ext cx="1805940" cy="274320"/>
          </a:xfrm>
          <a:prstGeom prst="rect">
            <a:avLst/>
          </a:prstGeom>
          <a:noFill/>
          <a:ln>
            <a:noFill/>
          </a:ln>
        </p:spPr>
        <p:txBody>
          <a:bodyPr wrap="square" lIns="0" tIns="0" rIns="0" bIns="0" anchor="t" rtlCol="0">
            <a:noAutofit/>
          </a:bodyPr>
          <a:lstStyle/>
          <a:p>
            <a:pPr marL="0" indent="0" algn="l" rtl="0">
              <a:lnSpc>
                <a:spcPct val="92000"/>
              </a:lnSpc>
              <a:spcBef>
                <a:spcPts val="0"/>
              </a:spcBef>
              <a:spcAft>
                <a:spcPts val="0"/>
              </a:spcAft>
              <a:buNone/>
            </a:pPr>
            <a:r>
              <a:rPr lang="en-GB" sz="900" b="0" i="0" dirty="0">
                <a:solidFill>
                  <a:srgbClr val="46464B"/>
                </a:solidFill>
                <a:latin typeface="Google Sans Flex"/>
                <a:ea typeface="Google Sans Flex"/>
                <a:cs typeface="Google Sans Flex"/>
                <a:sym typeface="Google Sans Flex"/>
              </a:rPr>
              <a:t xml:space="preserve">median, from comments to a checked version, with reasons</a:t>
            </a:r>
            <a:endParaRPr lang="en-GB" sz="900" dirty="0">
              <a:latin typeface="Google Sans Flex"/>
              <a:ea typeface="Google Sans Flex"/>
              <a:cs typeface="Google Sans Flex"/>
              <a:sym typeface="Google Sans Flex"/>
            </a:endParaRPr>
          </a:p>
        </p:txBody>
      </p:sp>
      <p:sp>
        <p:nvSpPr>
          <p:cNvPr id="187" name="Stat card 187"/>
          <p:cNvSpPr/>
          <p:nvPr/>
        </p:nvSpPr>
        <p:spPr>
          <a:xfrm>
            <a:off x="6761988" y="1755648"/>
            <a:ext cx="2025396" cy="768096"/>
          </a:xfrm>
          <a:prstGeom prst="roundRect">
            <a:avLst>
              <a:gd name="adj" fmla="val 9523"/>
            </a:avLst>
          </a:prstGeom>
          <a:solidFill>
            <a:srgbClr val="F5F5F7"/>
          </a:solidFill>
          <a:ln>
            <a:noFill/>
          </a:ln>
        </p:spPr>
      </p:sp>
      <p:sp>
        <p:nvSpPr>
          <p:cNvPr id="188" name="Stat overline 188"/>
          <p:cNvSpPr txBox="1"/>
          <p:nvPr/>
        </p:nvSpPr>
        <p:spPr>
          <a:xfrm>
            <a:off x="6871716" y="1810512"/>
            <a:ext cx="1805940" cy="146304"/>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800" b="0" i="0" dirty="0">
                <a:solidFill>
                  <a:srgbClr val="6E6E73"/>
                </a:solidFill>
                <a:latin typeface="Google Sans Flex SemiBold"/>
                <a:ea typeface="Google Sans Flex SemiBold"/>
                <a:cs typeface="Google Sans Flex SemiBold"/>
                <a:sym typeface="Google Sans Flex SemiBold"/>
              </a:rPr>
              <a:t xml:space="preserve">MARKET</a:t>
            </a:r>
            <a:endParaRPr lang="en-GB" sz="800" dirty="0">
              <a:latin typeface="Google Sans Flex SemiBold"/>
              <a:ea typeface="Google Sans Flex SemiBold"/>
              <a:cs typeface="Google Sans Flex SemiBold"/>
              <a:sym typeface="Google Sans Flex SemiBold"/>
            </a:endParaRPr>
          </a:p>
        </p:txBody>
      </p:sp>
      <p:sp>
        <p:nvSpPr>
          <p:cNvPr id="189" name="Stat 189"/>
          <p:cNvSpPr txBox="1"/>
          <p:nvPr/>
        </p:nvSpPr>
        <p:spPr>
          <a:xfrm>
            <a:off x="6871716" y="1938528"/>
            <a:ext cx="1805940" cy="274320"/>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700" b="0" i="0" dirty="0">
                <a:solidFill>
                  <a:srgbClr val="111113"/>
                </a:solidFill>
                <a:latin typeface="Google Sans Flex SemiBold"/>
                <a:ea typeface="Google Sans Flex SemiBold"/>
                <a:cs typeface="Google Sans Flex SemiBold"/>
                <a:sym typeface="Google Sans Flex SemiBold"/>
              </a:rPr>
              <a:t xml:space="preserve">≈10 M</a:t>
            </a:r>
            <a:endParaRPr lang="en-GB" sz="1700" dirty="0">
              <a:latin typeface="Google Sans Flex SemiBold"/>
              <a:ea typeface="Google Sans Flex SemiBold"/>
              <a:cs typeface="Google Sans Flex SemiBold"/>
              <a:sym typeface="Google Sans Flex SemiBold"/>
            </a:endParaRPr>
          </a:p>
        </p:txBody>
      </p:sp>
      <p:sp>
        <p:nvSpPr>
          <p:cNvPr id="190" name="Stat label 190"/>
          <p:cNvSpPr txBox="1"/>
          <p:nvPr/>
        </p:nvSpPr>
        <p:spPr>
          <a:xfrm>
            <a:off x="6871716" y="2212848"/>
            <a:ext cx="1805940" cy="274320"/>
          </a:xfrm>
          <a:prstGeom prst="rect">
            <a:avLst/>
          </a:prstGeom>
          <a:noFill/>
          <a:ln>
            <a:noFill/>
          </a:ln>
        </p:spPr>
        <p:txBody>
          <a:bodyPr wrap="square" lIns="0" tIns="0" rIns="0" bIns="0" anchor="t" rtlCol="0">
            <a:noAutofit/>
          </a:bodyPr>
          <a:lstStyle/>
          <a:p>
            <a:pPr marL="0" indent="0" algn="l" rtl="0">
              <a:lnSpc>
                <a:spcPct val="92000"/>
              </a:lnSpc>
              <a:spcBef>
                <a:spcPts val="0"/>
              </a:spcBef>
              <a:spcAft>
                <a:spcPts val="0"/>
              </a:spcAft>
              <a:buNone/>
            </a:pPr>
            <a:r>
              <a:rPr lang="en-GB" sz="900" b="0" i="0" dirty="0">
                <a:solidFill>
                  <a:srgbClr val="46464B"/>
                </a:solidFill>
                <a:latin typeface="Google Sans Flex"/>
                <a:ea typeface="Google Sans Flex"/>
                <a:cs typeface="Google Sans Flex"/>
                <a:sym typeface="Google Sans Flex"/>
              </a:rPr>
              <a:t xml:space="preserve">homes short in Pakistan; first city, Lahore, has 13.0 M people</a:t>
            </a:r>
            <a:endParaRPr lang="en-GB" sz="900" dirty="0">
              <a:latin typeface="Google Sans Flex"/>
              <a:ea typeface="Google Sans Flex"/>
              <a:cs typeface="Google Sans Flex"/>
              <a:sym typeface="Google Sans Flex"/>
            </a:endParaRPr>
          </a:p>
        </p:txBody>
      </p:sp>
      <p:pic>
        <p:nvPicPr>
          <p:cNvPr id="191" name="Personas 191" descr="How each role works today and with Naqsha: family (owner), architect or builder (team), client (share link), PCATP architect (partner)"/>
          <p:cNvPicPr>
            <a:picLocks noChangeAspect="1"/>
          </p:cNvPicPr>
          <p:nvPr/>
        </p:nvPicPr>
        <p:blipFill>
          <a:blip r:embed="rId5"/>
          <a:stretch>
            <a:fillRect/>
          </a:stretch>
        </p:blipFill>
        <p:spPr>
          <a:xfrm>
            <a:off x="356616" y="2615184"/>
            <a:ext cx="8430768" cy="1910096"/>
          </a:xfrm>
          <a:prstGeom prst="rect">
            <a:avLst/>
          </a:prstGeom>
          <a:noFill/>
          <a:ln>
            <a:noFill/>
          </a:ln>
        </p:spPr>
      </p:pic>
      <p:sp>
        <p:nvSpPr>
          <p:cNvPr id="192" name="Footer 192"/>
          <p:cNvSpPr txBox="1"/>
          <p:nvPr/>
        </p:nvSpPr>
        <p:spPr>
          <a:xfrm>
            <a:off x="356616" y="4561856"/>
            <a:ext cx="8430768" cy="272694"/>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800" b="0" i="0" dirty="0">
                <a:solidFill>
                  <a:srgbClr val="46464B"/>
                </a:solidFill>
                <a:latin typeface="Google Sans Flex SemiBold"/>
                <a:ea typeface="Google Sans Flex SemiBold"/>
                <a:cs typeface="Google Sans Flex SemiBold"/>
                <a:sym typeface="Google Sans Flex SemiBold"/>
              </a:rPr>
              <a:t xml:space="preserve">Terms: </a:t>
            </a:r>
            <a:r>
              <a:rPr lang="en-GB" sz="800" b="0" i="0" dirty="0">
                <a:solidFill>
                  <a:srgbClr val="6E6E73"/>
                </a:solidFill>
                <a:latin typeface="Google Sans Flex"/>
                <a:ea typeface="Google Sans Flex"/>
                <a:cs typeface="Google Sans Flex"/>
                <a:sym typeface="Google Sans Flex"/>
              </a:rPr>
              <a:t xml:space="preserve">LDA = Lahore Development Authority · PCATP = Pakistan Council of Architects and Town Planners · 10 marla ≈ 2,250 sq ft (209 m²) · 1 kanal ≈ 4,500 sq ft (418 m²) · Rs 280 ≈ US$1</a:t>
            </a:r>
            <a:endParaRPr lang="en-GB" sz="800" dirty="0">
              <a:latin typeface="Google Sans Flex SemiBold"/>
              <a:ea typeface="Google Sans Flex SemiBold"/>
              <a:cs typeface="Google Sans Flex SemiBold"/>
              <a:sym typeface="Google Sans Flex SemiBold"/>
            </a:endParaRPr>
          </a:p>
          <a:p>
            <a:pPr marL="0" indent="0" algn="l" rtl="0">
              <a:lnSpc>
                <a:spcPct val="100000"/>
              </a:lnSpc>
              <a:spcBef>
                <a:spcPts val="0"/>
              </a:spcBef>
              <a:spcAft>
                <a:spcPts val="0"/>
              </a:spcAft>
              <a:buNone/>
            </a:pPr>
            <a:r>
              <a:rPr lang="en-GB" sz="800" b="0" i="0" dirty="0">
                <a:solidFill>
                  <a:srgbClr val="46464B"/>
                </a:solidFill>
                <a:latin typeface="Google Sans Flex SemiBold"/>
                <a:ea typeface="Google Sans Flex SemiBold"/>
                <a:cs typeface="Google Sans Flex SemiBold"/>
                <a:sym typeface="Google Sans Flex SemiBold"/>
              </a:rPr>
              <a:t xml:space="preserve">Sources: </a:t>
            </a:r>
            <a:r>
              <a:rPr lang="en-GB" sz="800" b="0" i="0" dirty="0">
                <a:solidFill>
                  <a:srgbClr val="6E6E73"/>
                </a:solidFill>
                <a:latin typeface="Google Sans Flex"/>
                <a:ea typeface="Google Sans Flex"/>
                <a:cs typeface="Google Sans Flex"/>
                <a:sym typeface="Google Sans Flex"/>
              </a:rPr>
              <a:t xml:space="preserve">fee: LDA Building &amp; Zoning Regulations (09-02-2026), App. C, Rs 15/sq ft × 2,762 sq ft covered · Lahore district: Census 2023 (PBS) · housing shortfall: World Bank estimate</a:t>
            </a:r>
            <a:endParaRPr lang="en-GB" sz="800" dirty="0">
              <a:latin typeface="Google Sans Flex SemiBold"/>
              <a:ea typeface="Google Sans Flex SemiBold"/>
              <a:cs typeface="Google Sans Flex SemiBold"/>
              <a:sym typeface="Google Sans Flex SemiBo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
        <p:nvSpPr>
          <p:cNvPr id="173" name="Brand 173"/>
          <p:cNvSpPr txBox="1"/>
          <p:nvPr/>
        </p:nvSpPr>
        <p:spPr>
          <a:xfrm>
            <a:off x="4782312" y="2157984"/>
            <a:ext cx="3840480" cy="384048"/>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2000" b="0" i="0" dirty="0">
                <a:solidFill>
                  <a:srgbClr val="FFFFFF"/>
                </a:solidFill>
                <a:latin typeface="Google Sans Flex SemiBold"/>
                <a:ea typeface="Google Sans Flex SemiBold"/>
                <a:cs typeface="Google Sans Flex SemiBold"/>
                <a:sym typeface="Google Sans Flex SemiBold"/>
              </a:rPr>
              <a:t xml:space="preserve">Naqsha  </a:t>
            </a:r>
            <a:r>
              <a:rPr lang="ur-PK" sz="1800" b="0" i="0" dirty="0">
                <a:solidFill>
                  <a:srgbClr val="FFFFFF"/>
                </a:solidFill>
                <a:latin typeface="Noto Nastaliq Urdu"/>
                <a:ea typeface="Noto Nastaliq Urdu"/>
                <a:cs typeface="Noto Nastaliq Urdu"/>
                <a:sym typeface="Noto Nastaliq Urdu"/>
              </a:rPr>
              <a:t xml:space="preserve">نقشہ</a:t>
            </a:r>
            <a:endParaRPr lang="en-GB" sz="2000" dirty="0">
              <a:latin typeface="Google Sans Flex SemiBold"/>
              <a:ea typeface="Google Sans Flex SemiBold"/>
              <a:cs typeface="Google Sans Flex SemiBold"/>
              <a:sym typeface="Google Sans Flex SemiBold"/>
            </a:endParaRPr>
          </a:p>
        </p:txBody>
      </p:sp>
      <p:sp>
        <p:nvSpPr>
          <p:cNvPr id="174" name="Tagline 174"/>
          <p:cNvSpPr txBox="1"/>
          <p:nvPr/>
        </p:nvSpPr>
        <p:spPr>
          <a:xfrm>
            <a:off x="4782312" y="2532888"/>
            <a:ext cx="3931920" cy="228600"/>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300" b="0" i="0" dirty="0">
                <a:solidFill>
                  <a:srgbClr val="D4D4D8"/>
                </a:solidFill>
                <a:latin typeface="Google Sans Flex"/>
                <a:ea typeface="Google Sans Flex"/>
                <a:cs typeface="Google Sans Flex"/>
                <a:sym typeface="Google Sans Flex"/>
              </a:rPr>
              <a:t xml:space="preserve">Walk through your home before the first brick.</a:t>
            </a:r>
            <a:endParaRPr lang="en-GB" sz="1300" dirty="0">
              <a:latin typeface="Google Sans Flex"/>
              <a:ea typeface="Google Sans Flex"/>
              <a:cs typeface="Google Sans Flex"/>
              <a:sym typeface="Google Sans Flex"/>
            </a:endParaRPr>
          </a:p>
        </p:txBody>
      </p:sp>
      <p:sp>
        <p:nvSpPr>
          <p:cNvPr id="175" name="Team 175"/>
          <p:cNvSpPr txBox="1"/>
          <p:nvPr/>
        </p:nvSpPr>
        <p:spPr>
          <a:xfrm>
            <a:off x="4782312" y="2770632"/>
            <a:ext cx="3931920" cy="201168"/>
          </a:xfrm>
          <a:prstGeom prst="rect">
            <a:avLst/>
          </a:prstGeom>
          <a:noFill/>
          <a:ln>
            <a:noFill/>
          </a:ln>
        </p:spPr>
        <p:txBody>
          <a:bodyPr wrap="square" lIns="0" tIns="0" rIns="0" bIns="0" anchor="t" rtlCol="0">
            <a:noAutofit/>
          </a:bodyPr>
          <a:lstStyle/>
          <a:p>
            <a:pPr marL="0" indent="0" algn="l" rtl="0">
              <a:lnSpc>
                <a:spcPct val="100000"/>
              </a:lnSpc>
              <a:spcBef>
                <a:spcPts val="0"/>
              </a:spcBef>
              <a:spcAft>
                <a:spcPts val="0"/>
              </a:spcAft>
              <a:buNone/>
            </a:pPr>
            <a:r>
              <a:rPr lang="en-GB" sz="1100" b="0" i="0" dirty="0">
                <a:solidFill>
                  <a:srgbClr val="FFFFFF"/>
                </a:solidFill>
                <a:latin typeface="Google Sans Flex SemiBold"/>
                <a:ea typeface="Google Sans Flex SemiBold"/>
                <a:cs typeface="Google Sans Flex SemiBold"/>
                <a:sym typeface="Google Sans Flex SemiBold"/>
              </a:rPr>
              <a:t xml:space="preserve">Pivot Analytix</a:t>
            </a:r>
            <a:r>
              <a:rPr lang="en-GB" sz="1100" b="0" i="0" dirty="0">
                <a:solidFill>
                  <a:srgbClr val="A1A1AA"/>
                </a:solidFill>
                <a:latin typeface="Google Sans Flex"/>
                <a:ea typeface="Google Sans Flex"/>
                <a:cs typeface="Google Sans Flex"/>
                <a:sym typeface="Google Sans Flex"/>
              </a:rPr>
              <a:t xml:space="preserve"> · AI Builder Cup 2026</a:t>
            </a:r>
            <a:endParaRPr lang="en-GB" sz="1100" dirty="0">
              <a:latin typeface="Google Sans Flex SemiBold"/>
              <a:ea typeface="Google Sans Flex SemiBold"/>
              <a:cs typeface="Google Sans Flex SemiBold"/>
              <a:sym typeface="Google Sans Flex SemiBold"/>
            </a:endParaRPr>
          </a:p>
        </p:txBody>
      </p:sp>
      <p:sp>
        <p:nvSpPr>
          <p:cNvPr id="176" name="Link pill 176"/>
          <p:cNvSpPr/>
          <p:nvPr/>
        </p:nvSpPr>
        <p:spPr>
          <a:xfrm>
            <a:off x="4782312" y="3017520"/>
            <a:ext cx="2917165" cy="187452"/>
          </a:xfrm>
          <a:prstGeom prst="roundRect">
            <a:avLst>
              <a:gd name="adj" fmla="val 48780"/>
            </a:avLst>
          </a:prstGeom>
          <a:solidFill>
            <a:srgbClr val="EDF0FF"/>
          </a:solidFill>
          <a:ln>
            <a:noFill/>
          </a:ln>
        </p:spPr>
      </p:sp>
      <p:sp>
        <p:nvSpPr>
          <p:cNvPr id="177" name="Link 177"/>
          <p:cNvSpPr txBox="1"/>
          <p:nvPr/>
        </p:nvSpPr>
        <p:spPr>
          <a:xfrm>
            <a:off x="4873752" y="3017520"/>
            <a:ext cx="2825725" cy="187452"/>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00" b="0" i="0" dirty="0">
                <a:solidFill>
                  <a:srgbClr val="111113"/>
                </a:solidFill>
                <a:latin typeface="Google Sans Flex SemiBold"/>
                <a:ea typeface="Google Sans Flex SemiBold"/>
                <a:cs typeface="Google Sans Flex SemiBold"/>
                <a:sym typeface="Google Sans Flex SemiBold"/>
              </a:rPr>
              <a:t xml:space="preserve">Live app  </a:t>
            </a:r>
            <a:r>
              <a:rPr lang="en-GB" sz="900" b="0" i="0" dirty="0">
                <a:solidFill>
                  <a:srgbClr val="2747F5"/>
                </a:solidFill>
                <a:latin typeface="Google Sans Flex Medium"/>
                <a:ea typeface="Google Sans Flex Medium"/>
                <a:cs typeface="Google Sans Flex Medium"/>
                <a:sym typeface="Google Sans Flex Medium"/>
                <a:hlinkClick r:id="rId5"/>
              </a:rPr>
              <a:t xml:space="preserve">naqsha-242926648187.us-central1.run.app</a:t>
            </a:r>
            <a:endParaRPr lang="en-GB" sz="900" dirty="0">
              <a:latin typeface="Google Sans Flex SemiBold"/>
              <a:ea typeface="Google Sans Flex SemiBold"/>
              <a:cs typeface="Google Sans Flex SemiBold"/>
              <a:sym typeface="Google Sans Flex SemiBold"/>
            </a:endParaRPr>
          </a:p>
        </p:txBody>
      </p:sp>
      <p:sp>
        <p:nvSpPr>
          <p:cNvPr id="178" name="Link pill 178"/>
          <p:cNvSpPr/>
          <p:nvPr/>
        </p:nvSpPr>
        <p:spPr>
          <a:xfrm>
            <a:off x="4782312" y="3246120"/>
            <a:ext cx="2840526" cy="187452"/>
          </a:xfrm>
          <a:prstGeom prst="roundRect">
            <a:avLst>
              <a:gd name="adj" fmla="val 48780"/>
            </a:avLst>
          </a:prstGeom>
          <a:solidFill>
            <a:srgbClr val="EDF0FF"/>
          </a:solidFill>
          <a:ln>
            <a:noFill/>
          </a:ln>
        </p:spPr>
      </p:sp>
      <p:sp>
        <p:nvSpPr>
          <p:cNvPr id="179" name="Link 179"/>
          <p:cNvSpPr txBox="1"/>
          <p:nvPr/>
        </p:nvSpPr>
        <p:spPr>
          <a:xfrm>
            <a:off x="4873752" y="3246120"/>
            <a:ext cx="2749086" cy="187452"/>
          </a:xfrm>
          <a:prstGeom prst="rect">
            <a:avLst/>
          </a:prstGeom>
          <a:noFill/>
          <a:ln>
            <a:noFill/>
          </a:ln>
        </p:spPr>
        <p:txBody>
          <a:bodyPr wrap="square" lIns="0" tIns="0" rIns="0" bIns="0" anchor="ctr" rtlCol="0">
            <a:noAutofit/>
          </a:bodyPr>
          <a:lstStyle/>
          <a:p>
            <a:pPr marL="0" indent="0" algn="l" rtl="0">
              <a:lnSpc>
                <a:spcPct val="100000"/>
              </a:lnSpc>
              <a:spcBef>
                <a:spcPts val="0"/>
              </a:spcBef>
              <a:spcAft>
                <a:spcPts val="0"/>
              </a:spcAft>
              <a:buNone/>
            </a:pPr>
            <a:r>
              <a:rPr lang="en-GB" sz="900" b="0" i="0" dirty="0">
                <a:solidFill>
                  <a:srgbClr val="111113"/>
                </a:solidFill>
                <a:latin typeface="Google Sans Flex SemiBold"/>
                <a:ea typeface="Google Sans Flex SemiBold"/>
                <a:cs typeface="Google Sans Flex SemiBold"/>
                <a:sym typeface="Google Sans Flex SemiBold"/>
              </a:rPr>
              <a:t xml:space="preserve">Code  </a:t>
            </a:r>
            <a:r>
              <a:rPr lang="en-GB" sz="900" b="0" i="0" dirty="0">
                <a:solidFill>
                  <a:srgbClr val="2747F5"/>
                </a:solidFill>
                <a:latin typeface="Google Sans Flex Medium"/>
                <a:ea typeface="Google Sans Flex Medium"/>
                <a:cs typeface="Google Sans Flex Medium"/>
                <a:sym typeface="Google Sans Flex Medium"/>
                <a:hlinkClick r:id="rId6"/>
              </a:rPr>
              <a:t xml:space="preserve">github.com/abdm693/hack2skill-hackathon</a:t>
            </a:r>
            <a:endParaRPr lang="en-GB" sz="900" dirty="0">
              <a:latin typeface="Google Sans Flex SemiBold"/>
              <a:ea typeface="Google Sans Flex SemiBold"/>
              <a:cs typeface="Google Sans Flex SemiBold"/>
              <a:sym typeface="Google Sans Flex SemiBo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2747F5"/>
      </a:hlink>
      <a:folHlink>
        <a:srgbClr val="2747F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Naqsha · AI Builder Cup 2026 submission</dc:title>
  <dc:creator>Pivot Analytix</dc:creator>
</cp:coreProperties>
</file>